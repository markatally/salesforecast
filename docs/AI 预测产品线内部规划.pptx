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8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1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0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83464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2959560" y="425721"/>
            <a:ext cx="17683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666B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urier New" pitchFamily="34" charset="-120"/>
              </a:rPr>
              <a:t>2026.07-202</a:t>
            </a:r>
            <a:r>
              <a:rPr lang="en-US" altLang="zh-CN" sz="1400" dirty="0">
                <a:solidFill>
                  <a:srgbClr val="666B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urier New" pitchFamily="34" charset="-120"/>
              </a:rPr>
              <a:t>6</a:t>
            </a:r>
            <a:r>
              <a:rPr lang="en-US" sz="1400" dirty="0">
                <a:solidFill>
                  <a:srgbClr val="666B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urier New" pitchFamily="34" charset="-120"/>
              </a:rPr>
              <a:t>.</a:t>
            </a:r>
            <a:r>
              <a:rPr lang="en-US" altLang="zh-CN" sz="1400" dirty="0">
                <a:solidFill>
                  <a:srgbClr val="666B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urier New" pitchFamily="34" charset="-120"/>
              </a:rPr>
              <a:t>12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311030"/>
            <a:ext cx="2677015" cy="417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AI </a:t>
            </a:r>
            <a:r>
              <a:rPr lang="en-US" sz="2400" b="1" dirty="0" err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-120"/>
              </a:rPr>
              <a:t>预测产品线规划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2064" y="124532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20938" y="1819372"/>
            <a:ext cx="3331464" cy="54937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58368" y="154707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SaaS </a:t>
            </a:r>
            <a:endParaRPr lang="en-US" sz="1800" b="1" dirty="0"/>
          </a:p>
        </p:txBody>
      </p:sp>
      <p:pic>
        <p:nvPicPr>
          <p:cNvPr id="16" name="Icon Person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938" y="2077696"/>
            <a:ext cx="210672" cy="19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 15"/>
          <p:cNvSpPr/>
          <p:nvPr/>
        </p:nvSpPr>
        <p:spPr>
          <a:xfrm>
            <a:off x="1020756" y="2125574"/>
            <a:ext cx="2713062" cy="14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zh-CN" alt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愿意同步数据、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需要在线持续预测、字段口径清晰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0938" y="2416236"/>
            <a:ext cx="3302368" cy="0"/>
          </a:xfrm>
          <a:prstGeom prst="line">
            <a:avLst/>
          </a:prstGeom>
          <a:noFill/>
          <a:ln w="3810">
            <a:solidFill>
              <a:srgbClr val="CFD3D8"/>
            </a:solidFill>
            <a:prstDash val="solid"/>
          </a:ln>
        </p:spPr>
        <p:txBody>
          <a:bodyPr/>
          <a:lstStyle/>
          <a:p>
            <a:endParaRPr lang="en-CN" sz="900"/>
          </a:p>
        </p:txBody>
      </p:sp>
      <p:sp>
        <p:nvSpPr>
          <p:cNvPr id="20" name="Text 18"/>
          <p:cNvSpPr/>
          <p:nvPr/>
        </p:nvSpPr>
        <p:spPr>
          <a:xfrm>
            <a:off x="1020756" y="2524023"/>
            <a:ext cx="2902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快速上线、纯流量数据预测</a:t>
            </a:r>
            <a:r>
              <a:rPr lang="zh-CN" alt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、在线托管无需本地服务器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938" y="2791140"/>
            <a:ext cx="3302368" cy="0"/>
          </a:xfrm>
          <a:prstGeom prst="line">
            <a:avLst/>
          </a:prstGeom>
          <a:noFill/>
          <a:ln w="3810">
            <a:solidFill>
              <a:srgbClr val="CFD3D8"/>
            </a:solidFill>
            <a:prstDash val="solid"/>
          </a:ln>
        </p:spPr>
        <p:txBody>
          <a:bodyPr/>
          <a:lstStyle/>
          <a:p>
            <a:endParaRPr lang="en-CN" sz="900"/>
          </a:p>
        </p:txBody>
      </p:sp>
      <p:sp>
        <p:nvSpPr>
          <p:cNvPr id="23" name="Text 21"/>
          <p:cNvSpPr/>
          <p:nvPr/>
        </p:nvSpPr>
        <p:spPr>
          <a:xfrm>
            <a:off x="1020756" y="2898927"/>
            <a:ext cx="2902550" cy="172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多租户后台、预测看板、在线推理、在线授权、在线实验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28744" y="1820986"/>
            <a:ext cx="3234799" cy="45719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4472444" y="1547078"/>
            <a:ext cx="8654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本地化</a:t>
            </a:r>
            <a:endParaRPr lang="en-US" sz="1800" b="1" dirty="0"/>
          </a:p>
        </p:txBody>
      </p:sp>
      <p:pic>
        <p:nvPicPr>
          <p:cNvPr id="30" name="Icon Person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3744" y="2078778"/>
            <a:ext cx="210672" cy="19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 29"/>
          <p:cNvSpPr/>
          <p:nvPr/>
        </p:nvSpPr>
        <p:spPr>
          <a:xfrm>
            <a:off x="4829748" y="2118851"/>
            <a:ext cx="2902550" cy="17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数据严格不出内网</a:t>
            </a:r>
            <a:r>
              <a:rPr lang="zh-CN" alt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定制化程度高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28744" y="2417318"/>
            <a:ext cx="3234799" cy="0"/>
          </a:xfrm>
          <a:prstGeom prst="line">
            <a:avLst/>
          </a:prstGeom>
          <a:noFill/>
          <a:ln w="3810">
            <a:solidFill>
              <a:srgbClr val="CFD3D8"/>
            </a:solidFill>
            <a:prstDash val="solid"/>
          </a:ln>
        </p:spPr>
        <p:txBody>
          <a:bodyPr/>
          <a:lstStyle/>
          <a:p>
            <a:endParaRPr lang="en-CN" sz="900"/>
          </a:p>
        </p:txBody>
      </p:sp>
      <p:sp>
        <p:nvSpPr>
          <p:cNvPr id="34" name="Text 32"/>
          <p:cNvSpPr/>
          <p:nvPr/>
        </p:nvSpPr>
        <p:spPr>
          <a:xfrm>
            <a:off x="4829748" y="2502967"/>
            <a:ext cx="2902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端到端本地化部署、高运维</a:t>
            </a:r>
            <a:r>
              <a:rPr lang="zh-CN" alt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安全交付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28744" y="2792222"/>
            <a:ext cx="3234799" cy="0"/>
          </a:xfrm>
          <a:prstGeom prst="line">
            <a:avLst/>
          </a:prstGeom>
          <a:noFill/>
          <a:ln w="3810">
            <a:solidFill>
              <a:srgbClr val="CFD3D8"/>
            </a:solidFill>
            <a:prstDash val="solid"/>
          </a:ln>
        </p:spPr>
        <p:txBody>
          <a:bodyPr/>
          <a:lstStyle/>
          <a:p>
            <a:endParaRPr lang="en-CN" sz="900"/>
          </a:p>
        </p:txBody>
      </p:sp>
      <p:sp>
        <p:nvSpPr>
          <p:cNvPr id="37" name="Text 35"/>
          <p:cNvSpPr/>
          <p:nvPr/>
        </p:nvSpPr>
        <p:spPr>
          <a:xfrm>
            <a:off x="4829748" y="2890784"/>
            <a:ext cx="2902550" cy="182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CLI安装包、本地授权、本地推理</a:t>
            </a:r>
            <a:r>
              <a:rPr 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API、模型脱敏加密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24764" y="1820987"/>
            <a:ext cx="3552124" cy="46496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8199120" y="154707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Agent </a:t>
            </a:r>
            <a:endParaRPr lang="en-US" sz="1800" b="1" dirty="0"/>
          </a:p>
        </p:txBody>
      </p:sp>
      <p:pic>
        <p:nvPicPr>
          <p:cNvPr id="44" name="Icon Person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9120" y="2075307"/>
            <a:ext cx="209147" cy="19656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43"/>
          <p:cNvSpPr/>
          <p:nvPr/>
        </p:nvSpPr>
        <p:spPr>
          <a:xfrm>
            <a:off x="8522424" y="2115184"/>
            <a:ext cx="2351369" cy="19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预算有限</a:t>
            </a:r>
            <a:r>
              <a:rPr lang="zh-CN" alt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低门槛验证效果</a:t>
            </a:r>
            <a:r>
              <a:rPr lang="zh-CN" alt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历史数据完整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154121" y="2413848"/>
            <a:ext cx="3522767" cy="0"/>
          </a:xfrm>
          <a:prstGeom prst="line">
            <a:avLst/>
          </a:prstGeom>
          <a:noFill/>
          <a:ln w="3810">
            <a:solidFill>
              <a:srgbClr val="CFD3D8"/>
            </a:solidFill>
            <a:prstDash val="solid"/>
          </a:ln>
        </p:spPr>
        <p:txBody>
          <a:bodyPr/>
          <a:lstStyle/>
          <a:p>
            <a:endParaRPr lang="en-CN" sz="900"/>
          </a:p>
        </p:txBody>
      </p:sp>
      <p:sp>
        <p:nvSpPr>
          <p:cNvPr id="48" name="Text 46"/>
          <p:cNvSpPr/>
          <p:nvPr/>
        </p:nvSpPr>
        <p:spPr>
          <a:xfrm>
            <a:off x="8522424" y="2512329"/>
            <a:ext cx="2902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开箱即用、场景标准</a:t>
            </a:r>
            <a:r>
              <a:rPr lang="zh-CN" alt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配置化快速建模与训练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154121" y="2788752"/>
            <a:ext cx="3522767" cy="0"/>
          </a:xfrm>
          <a:prstGeom prst="line">
            <a:avLst/>
          </a:prstGeom>
          <a:noFill/>
          <a:ln w="3810">
            <a:solidFill>
              <a:srgbClr val="CFD3D8"/>
            </a:solidFill>
            <a:prstDash val="solid"/>
          </a:ln>
        </p:spPr>
        <p:txBody>
          <a:bodyPr/>
          <a:lstStyle/>
          <a:p>
            <a:endParaRPr lang="en-CN" sz="900"/>
          </a:p>
        </p:txBody>
      </p:sp>
      <p:sp>
        <p:nvSpPr>
          <p:cNvPr id="51" name="Text 49"/>
          <p:cNvSpPr/>
          <p:nvPr/>
        </p:nvSpPr>
        <p:spPr>
          <a:xfrm>
            <a:off x="8522424" y="2889702"/>
            <a:ext cx="3154464" cy="163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CLI 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安装包</a:t>
            </a:r>
            <a:r>
              <a:rPr lang="zh-CN" alt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、多模式授权、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AutoML、流程编排</a:t>
            </a:r>
            <a:r>
              <a:rPr lang="zh-CN" altLang="en-US" sz="900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</a:t>
            </a:r>
            <a:r>
              <a:rPr lang="en-US" sz="900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模型融合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2064" y="4618030"/>
            <a:ext cx="11164824" cy="0"/>
          </a:xfrm>
          <a:prstGeom prst="line">
            <a:avLst/>
          </a:prstGeom>
          <a:noFill/>
          <a:ln w="6985">
            <a:solidFill>
              <a:srgbClr val="111318"/>
            </a:solidFill>
            <a:prstDash val="solid"/>
          </a:ln>
        </p:spPr>
        <p:txBody>
          <a:bodyPr/>
          <a:lstStyle/>
          <a:p>
            <a:endParaRPr lang="en-CN" b="1"/>
          </a:p>
        </p:txBody>
      </p:sp>
      <p:sp>
        <p:nvSpPr>
          <p:cNvPr id="57" name="Shape 55"/>
          <p:cNvSpPr/>
          <p:nvPr/>
        </p:nvSpPr>
        <p:spPr>
          <a:xfrm>
            <a:off x="621792" y="4586026"/>
            <a:ext cx="64008" cy="64008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621791" y="4339152"/>
            <a:ext cx="896109" cy="201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zh-CN" sz="1500" b="1">
                <a:solidFill>
                  <a:srgbClr val="0047FF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2026-</a:t>
            </a:r>
            <a:r>
              <a:rPr lang="en-US" sz="1500" b="1">
                <a:solidFill>
                  <a:srgbClr val="0047FF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07</a:t>
            </a:r>
            <a:endParaRPr lang="en-US" sz="1500" b="1"/>
          </a:p>
        </p:txBody>
      </p:sp>
      <p:sp>
        <p:nvSpPr>
          <p:cNvPr id="60" name="Text 58"/>
          <p:cNvSpPr/>
          <p:nvPr/>
        </p:nvSpPr>
        <p:spPr>
          <a:xfrm>
            <a:off x="621792" y="4750983"/>
            <a:ext cx="1375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b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数据与项目底座</a:t>
            </a:r>
            <a:endParaRPr lang="en-US" sz="970"/>
          </a:p>
        </p:txBody>
      </p:sp>
      <p:sp>
        <p:nvSpPr>
          <p:cNvPr id="61" name="Text 59"/>
          <p:cNvSpPr/>
          <p:nvPr/>
        </p:nvSpPr>
        <p:spPr>
          <a:xfrm>
            <a:off x="621792" y="5107599"/>
            <a:ext cx="13755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数据接入、数据集管理、项目管理、数据合同与基础审计</a:t>
            </a:r>
            <a:endParaRPr lang="en-US" sz="710" dirty="0"/>
          </a:p>
        </p:txBody>
      </p:sp>
      <p:sp>
        <p:nvSpPr>
          <p:cNvPr id="65" name="Shape 63"/>
          <p:cNvSpPr/>
          <p:nvPr/>
        </p:nvSpPr>
        <p:spPr>
          <a:xfrm>
            <a:off x="2216767" y="4586026"/>
            <a:ext cx="64008" cy="64008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2216767" y="4339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0047FF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08</a:t>
            </a:r>
            <a:endParaRPr lang="en-US" sz="1500" b="1"/>
          </a:p>
        </p:txBody>
      </p:sp>
      <p:sp>
        <p:nvSpPr>
          <p:cNvPr id="68" name="Text 66"/>
          <p:cNvSpPr/>
          <p:nvPr/>
        </p:nvSpPr>
        <p:spPr>
          <a:xfrm>
            <a:off x="2216767" y="4750983"/>
            <a:ext cx="1375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b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特征工程与训练</a:t>
            </a:r>
            <a:endParaRPr lang="en-US" sz="970"/>
          </a:p>
        </p:txBody>
      </p:sp>
      <p:sp>
        <p:nvSpPr>
          <p:cNvPr id="69" name="Text 67"/>
          <p:cNvSpPr/>
          <p:nvPr/>
        </p:nvSpPr>
        <p:spPr>
          <a:xfrm>
            <a:off x="2216767" y="5107599"/>
            <a:ext cx="13755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算子管理、特征工程、在线训练、实验框架</a:t>
            </a:r>
            <a:endParaRPr lang="en-US" sz="710" dirty="0"/>
          </a:p>
        </p:txBody>
      </p:sp>
      <p:sp>
        <p:nvSpPr>
          <p:cNvPr id="73" name="Shape 71"/>
          <p:cNvSpPr/>
          <p:nvPr/>
        </p:nvSpPr>
        <p:spPr>
          <a:xfrm>
            <a:off x="3811742" y="4586026"/>
            <a:ext cx="64008" cy="64008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3811742" y="4339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0047FF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09</a:t>
            </a:r>
            <a:endParaRPr lang="en-US" sz="1500" b="1"/>
          </a:p>
        </p:txBody>
      </p:sp>
      <p:sp>
        <p:nvSpPr>
          <p:cNvPr id="76" name="Text 74"/>
          <p:cNvSpPr/>
          <p:nvPr/>
        </p:nvSpPr>
        <p:spPr>
          <a:xfrm>
            <a:off x="3811742" y="4750983"/>
            <a:ext cx="1375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b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评估与服务闭环</a:t>
            </a:r>
            <a:endParaRPr lang="en-US" sz="970"/>
          </a:p>
        </p:txBody>
      </p:sp>
      <p:sp>
        <p:nvSpPr>
          <p:cNvPr id="77" name="Text 75"/>
          <p:cNvSpPr/>
          <p:nvPr/>
        </p:nvSpPr>
        <p:spPr>
          <a:xfrm>
            <a:off x="3811742" y="5107599"/>
            <a:ext cx="13755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实验管理、模型评估、模型发布、在线特征、推理服务、日志追踪</a:t>
            </a:r>
            <a:endParaRPr lang="en-US" sz="710" dirty="0"/>
          </a:p>
        </p:txBody>
      </p:sp>
      <p:sp>
        <p:nvSpPr>
          <p:cNvPr id="81" name="Shape 79"/>
          <p:cNvSpPr/>
          <p:nvPr/>
        </p:nvSpPr>
        <p:spPr>
          <a:xfrm>
            <a:off x="5406717" y="4586026"/>
            <a:ext cx="64008" cy="64008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2" name="Text 80"/>
          <p:cNvSpPr/>
          <p:nvPr/>
        </p:nvSpPr>
        <p:spPr>
          <a:xfrm>
            <a:off x="5406717" y="4339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0047FF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10</a:t>
            </a:r>
            <a:endParaRPr lang="en-US" sz="1500" b="1"/>
          </a:p>
        </p:txBody>
      </p:sp>
      <p:sp>
        <p:nvSpPr>
          <p:cNvPr id="84" name="Text 82"/>
          <p:cNvSpPr/>
          <p:nvPr/>
        </p:nvSpPr>
        <p:spPr>
          <a:xfrm>
            <a:off x="5406717" y="4750983"/>
            <a:ext cx="1375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SaaS</a:t>
            </a:r>
            <a:r>
              <a:rPr lang="zh-CN" altLang="en-US" sz="970" b="1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sz="970" b="1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在线服务</a:t>
            </a:r>
            <a:endParaRPr lang="en-US" sz="970" dirty="0"/>
          </a:p>
        </p:txBody>
      </p:sp>
      <p:sp>
        <p:nvSpPr>
          <p:cNvPr id="85" name="Text 83"/>
          <p:cNvSpPr/>
          <p:nvPr/>
        </p:nvSpPr>
        <p:spPr>
          <a:xfrm>
            <a:off x="5406717" y="5107601"/>
            <a:ext cx="1375519" cy="522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多租户、项目配置</a:t>
            </a:r>
            <a:r>
              <a:rPr lang="zh-CN" alt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</a:t>
            </a: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在线授权、预测看板</a:t>
            </a:r>
            <a:r>
              <a:rPr lang="zh-CN" alt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</a:t>
            </a: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推理接口、运营算法后台</a:t>
            </a:r>
            <a:endParaRPr lang="en-US" sz="710" dirty="0"/>
          </a:p>
        </p:txBody>
      </p:sp>
      <p:sp>
        <p:nvSpPr>
          <p:cNvPr id="87" name="Text 85"/>
          <p:cNvSpPr/>
          <p:nvPr/>
        </p:nvSpPr>
        <p:spPr>
          <a:xfrm>
            <a:off x="6507917" y="4757182"/>
            <a:ext cx="337382" cy="1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047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urier New" pitchFamily="34" charset="-120"/>
              </a:rPr>
              <a:t>SaaS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7001691" y="4586026"/>
            <a:ext cx="64008" cy="64008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0" name="Text 88"/>
          <p:cNvSpPr/>
          <p:nvPr/>
        </p:nvSpPr>
        <p:spPr>
          <a:xfrm>
            <a:off x="7001691" y="4339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0047FF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11</a:t>
            </a:r>
            <a:endParaRPr lang="en-US" sz="1500" b="1"/>
          </a:p>
        </p:txBody>
      </p:sp>
      <p:sp>
        <p:nvSpPr>
          <p:cNvPr id="92" name="Text 90"/>
          <p:cNvSpPr/>
          <p:nvPr/>
        </p:nvSpPr>
        <p:spPr>
          <a:xfrm>
            <a:off x="7001691" y="4750983"/>
            <a:ext cx="1375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b="1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本地化部署交付</a:t>
            </a:r>
            <a:endParaRPr lang="en-US" sz="970" dirty="0"/>
          </a:p>
        </p:txBody>
      </p:sp>
      <p:sp>
        <p:nvSpPr>
          <p:cNvPr id="93" name="Text 91"/>
          <p:cNvSpPr/>
          <p:nvPr/>
        </p:nvSpPr>
        <p:spPr>
          <a:xfrm>
            <a:off x="7001691" y="5107599"/>
            <a:ext cx="13755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本地配置、CLI</a:t>
            </a:r>
            <a:r>
              <a:rPr 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安装包、本地数据接入、安全加密、模型脱敏交付</a:t>
            </a:r>
            <a:endParaRPr lang="en-US" sz="710" dirty="0"/>
          </a:p>
        </p:txBody>
      </p:sp>
      <p:sp>
        <p:nvSpPr>
          <p:cNvPr id="97" name="Shape 95"/>
          <p:cNvSpPr/>
          <p:nvPr/>
        </p:nvSpPr>
        <p:spPr>
          <a:xfrm>
            <a:off x="8596666" y="4586026"/>
            <a:ext cx="64008" cy="64008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8" name="Text 96"/>
          <p:cNvSpPr/>
          <p:nvPr/>
        </p:nvSpPr>
        <p:spPr>
          <a:xfrm>
            <a:off x="8596666" y="4339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0047FF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12</a:t>
            </a:r>
            <a:endParaRPr lang="en-US" sz="1500" b="1"/>
          </a:p>
        </p:txBody>
      </p:sp>
      <p:sp>
        <p:nvSpPr>
          <p:cNvPr id="100" name="Text 98"/>
          <p:cNvSpPr/>
          <p:nvPr/>
        </p:nvSpPr>
        <p:spPr>
          <a:xfrm>
            <a:off x="8596666" y="4750983"/>
            <a:ext cx="1375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Agent </a:t>
            </a:r>
            <a:r>
              <a:rPr lang="en-US" sz="970" b="1" dirty="0" err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自动化</a:t>
            </a:r>
            <a:endParaRPr lang="en-US" sz="970" dirty="0"/>
          </a:p>
        </p:txBody>
      </p:sp>
      <p:sp>
        <p:nvSpPr>
          <p:cNvPr id="101" name="Text 99"/>
          <p:cNvSpPr/>
          <p:nvPr/>
        </p:nvSpPr>
        <p:spPr>
          <a:xfrm>
            <a:off x="8596666" y="5107599"/>
            <a:ext cx="13755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AutoML、预训练模型库、流程编排、多模型融合、自动配置模板</a:t>
            </a:r>
            <a:r>
              <a:rPr lang="zh-CN" alt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</a:t>
            </a:r>
            <a:r>
              <a:rPr lang="en-US" altLang="zh-CN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C</a:t>
            </a:r>
            <a:r>
              <a:rPr 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LI</a:t>
            </a:r>
            <a:r>
              <a:rPr lang="zh-CN" alt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altLang="zh-CN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+</a:t>
            </a:r>
            <a:r>
              <a:rPr lang="zh-CN" alt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altLang="zh-CN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License </a:t>
            </a:r>
            <a:r>
              <a:rPr lang="zh-CN" alt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适配</a:t>
            </a:r>
            <a:endParaRPr lang="en-US" sz="710" dirty="0"/>
          </a:p>
        </p:txBody>
      </p:sp>
      <p:sp>
        <p:nvSpPr>
          <p:cNvPr id="103" name="Text 101"/>
          <p:cNvSpPr/>
          <p:nvPr/>
        </p:nvSpPr>
        <p:spPr>
          <a:xfrm>
            <a:off x="9697866" y="4760002"/>
            <a:ext cx="318734" cy="137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047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urier New" pitchFamily="34" charset="-120"/>
              </a:rPr>
              <a:t>Agent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10191641" y="4586026"/>
            <a:ext cx="64008" cy="64008"/>
          </a:xfrm>
          <a:prstGeom prst="rect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6" name="Text 104"/>
          <p:cNvSpPr/>
          <p:nvPr/>
        </p:nvSpPr>
        <p:spPr>
          <a:xfrm>
            <a:off x="10191640" y="4339152"/>
            <a:ext cx="57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US" sz="1500" b="1">
                <a:solidFill>
                  <a:srgbClr val="0047FF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2</a:t>
            </a:r>
            <a:r>
              <a:rPr lang="en-US" altLang="zh-CN" sz="1500" b="1">
                <a:solidFill>
                  <a:srgbClr val="0047FF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027+</a:t>
            </a:r>
            <a:endParaRPr lang="en-US" sz="1500" b="1"/>
          </a:p>
        </p:txBody>
      </p:sp>
      <p:sp>
        <p:nvSpPr>
          <p:cNvPr id="108" name="Text 106"/>
          <p:cNvSpPr/>
          <p:nvPr/>
        </p:nvSpPr>
        <p:spPr>
          <a:xfrm>
            <a:off x="10191641" y="4750983"/>
            <a:ext cx="1375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b="1">
                <a:solidFill>
                  <a:srgbClr val="111318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可观测运维增强</a:t>
            </a:r>
            <a:endParaRPr lang="en-US" sz="970"/>
          </a:p>
        </p:txBody>
      </p:sp>
      <p:sp>
        <p:nvSpPr>
          <p:cNvPr id="109" name="Text 107"/>
          <p:cNvSpPr/>
          <p:nvPr/>
        </p:nvSpPr>
        <p:spPr>
          <a:xfrm>
            <a:off x="10191641" y="5107599"/>
            <a:ext cx="13755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成本计量、监控告警、漂移检测、重训策略、SLA</a:t>
            </a:r>
            <a:r>
              <a:rPr 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 </a:t>
            </a:r>
            <a:r>
              <a:rPr lang="en-US" sz="710" dirty="0" err="1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与运维</a:t>
            </a:r>
            <a:r>
              <a:rPr lang="zh-CN" altLang="en-US" sz="710" dirty="0">
                <a:solidFill>
                  <a:srgbClr val="666B73"/>
                </a:solidFill>
                <a:latin typeface="Arial" pitchFamily="34" charset="0"/>
                <a:ea typeface="Microsoft YaHei" panose="020B0503020204020204" pitchFamily="34" charset="-122"/>
                <a:cs typeface="Arial" pitchFamily="34" charset="-120"/>
              </a:rPr>
              <a:t>、功能持续优化</a:t>
            </a:r>
            <a:endParaRPr lang="en-US" sz="710" dirty="0"/>
          </a:p>
        </p:txBody>
      </p:sp>
      <p:sp>
        <p:nvSpPr>
          <p:cNvPr id="114" name="Text 112"/>
          <p:cNvSpPr/>
          <p:nvPr/>
        </p:nvSpPr>
        <p:spPr>
          <a:xfrm>
            <a:off x="11201400" y="6656832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b="1">
                <a:solidFill>
                  <a:srgbClr val="111318"/>
                </a:solidFill>
                <a:latin typeface="Courier New" pitchFamily="34" charset="0"/>
                <a:ea typeface="Microsoft YaHei" panose="020B0503020204020204" pitchFamily="34" charset="-122"/>
                <a:cs typeface="Courier New" pitchFamily="34" charset="-120"/>
              </a:rPr>
              <a:t>01 / 01</a:t>
            </a:r>
            <a:endParaRPr lang="en-US" sz="540"/>
          </a:p>
        </p:txBody>
      </p:sp>
      <p:sp>
        <p:nvSpPr>
          <p:cNvPr id="115" name="Text 85">
            <a:extLst>
              <a:ext uri="{FF2B5EF4-FFF2-40B4-BE49-F238E27FC236}">
                <a16:creationId xmlns:a16="http://schemas.microsoft.com/office/drawing/2014/main" id="{685F5F2B-7AF6-BF8A-365D-DACE708DAB23}"/>
              </a:ext>
            </a:extLst>
          </p:cNvPr>
          <p:cNvSpPr/>
          <p:nvPr/>
        </p:nvSpPr>
        <p:spPr>
          <a:xfrm>
            <a:off x="8071065" y="4751142"/>
            <a:ext cx="393231" cy="1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>
                <a:solidFill>
                  <a:srgbClr val="0047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urier New" pitchFamily="34" charset="-120"/>
              </a:rPr>
              <a:t>Local</a:t>
            </a:r>
            <a:endParaRPr lang="en-US" sz="8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6" name="Text 101">
            <a:extLst>
              <a:ext uri="{FF2B5EF4-FFF2-40B4-BE49-F238E27FC236}">
                <a16:creationId xmlns:a16="http://schemas.microsoft.com/office/drawing/2014/main" id="{06F5DD16-8058-8E78-10C4-2926DA410D76}"/>
              </a:ext>
            </a:extLst>
          </p:cNvPr>
          <p:cNvSpPr/>
          <p:nvPr/>
        </p:nvSpPr>
        <p:spPr>
          <a:xfrm>
            <a:off x="11358154" y="4757368"/>
            <a:ext cx="318734" cy="137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47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urier New" pitchFamily="34" charset="-120"/>
              </a:rPr>
              <a:t>All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Graphic 5" descr="Tools with solid fill">
            <a:extLst>
              <a:ext uri="{FF2B5EF4-FFF2-40B4-BE49-F238E27FC236}">
                <a16:creationId xmlns:a16="http://schemas.microsoft.com/office/drawing/2014/main" id="{D5426605-2338-27BA-FD4C-6705DD58C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938" y="2856822"/>
            <a:ext cx="209144" cy="196564"/>
          </a:xfrm>
          <a:prstGeom prst="rect">
            <a:avLst/>
          </a:prstGeom>
        </p:spPr>
      </p:pic>
      <p:pic>
        <p:nvPicPr>
          <p:cNvPr id="7" name="Graphic 6" descr="Tools with solid fill">
            <a:extLst>
              <a:ext uri="{FF2B5EF4-FFF2-40B4-BE49-F238E27FC236}">
                <a16:creationId xmlns:a16="http://schemas.microsoft.com/office/drawing/2014/main" id="{04329266-0C83-BAEC-DEDB-9EDA8EFE1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3744" y="2849749"/>
            <a:ext cx="209144" cy="196564"/>
          </a:xfrm>
          <a:prstGeom prst="rect">
            <a:avLst/>
          </a:prstGeom>
        </p:spPr>
      </p:pic>
      <p:pic>
        <p:nvPicPr>
          <p:cNvPr id="8" name="Graphic 7" descr="Tools with solid fill">
            <a:extLst>
              <a:ext uri="{FF2B5EF4-FFF2-40B4-BE49-F238E27FC236}">
                <a16:creationId xmlns:a16="http://schemas.microsoft.com/office/drawing/2014/main" id="{C03B1A1E-4272-BF60-1872-F0C416D6F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9121" y="2853540"/>
            <a:ext cx="209144" cy="19656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532C1D1-E551-6DB1-9E4E-9F80AE1BD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502" y="2481918"/>
            <a:ext cx="210672" cy="198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CFD1C5-1C15-F890-C685-D428C1DA85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2308" y="2490636"/>
            <a:ext cx="210672" cy="198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70E2A90-FDC8-9505-D584-0D9C11388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7685" y="2476233"/>
            <a:ext cx="210672" cy="198000"/>
          </a:xfrm>
          <a:prstGeom prst="rect">
            <a:avLst/>
          </a:prstGeom>
        </p:spPr>
      </p:pic>
      <p:sp>
        <p:nvSpPr>
          <p:cNvPr id="25" name="Shape 33">
            <a:extLst>
              <a:ext uri="{FF2B5EF4-FFF2-40B4-BE49-F238E27FC236}">
                <a16:creationId xmlns:a16="http://schemas.microsoft.com/office/drawing/2014/main" id="{096FC78B-9DCD-4747-64B5-037E001C8FDF}"/>
              </a:ext>
            </a:extLst>
          </p:cNvPr>
          <p:cNvSpPr/>
          <p:nvPr/>
        </p:nvSpPr>
        <p:spPr>
          <a:xfrm>
            <a:off x="512064" y="3645377"/>
            <a:ext cx="11339510" cy="0"/>
          </a:xfrm>
          <a:prstGeom prst="line">
            <a:avLst/>
          </a:prstGeom>
          <a:noFill/>
          <a:ln w="3810">
            <a:solidFill>
              <a:srgbClr val="CFD3D8"/>
            </a:solidFill>
            <a:prstDash val="solid"/>
          </a:ln>
        </p:spPr>
        <p:txBody>
          <a:bodyPr/>
          <a:lstStyle/>
          <a:p>
            <a:endParaRPr lang="en-CN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170</Words>
  <Application>Microsoft Macintosh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预测产品线规划 · 部门工作规划</dc:title>
  <dc:subject>AI Forecast Product Line Department Work Plan</dc:subject>
  <dc:creator>Codex</dc:creator>
  <cp:lastModifiedBy>Mark Guo</cp:lastModifiedBy>
  <cp:revision>8</cp:revision>
  <dcterms:created xsi:type="dcterms:W3CDTF">2026-06-29T07:55:01Z</dcterms:created>
  <dcterms:modified xsi:type="dcterms:W3CDTF">2026-06-29T14:01:31Z</dcterms:modified>
</cp:coreProperties>
</file>