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6" r:id="rId2"/>
  </p:sldMasterIdLst>
  <p:notesMasterIdLst>
    <p:notesMasterId r:id="rId9"/>
  </p:notesMasterIdLst>
  <p:sldIdLst>
    <p:sldId id="259" r:id="rId3"/>
    <p:sldId id="2147479705" r:id="rId4"/>
    <p:sldId id="2147479706" r:id="rId5"/>
    <p:sldId id="2147479707" r:id="rId6"/>
    <p:sldId id="2147479708" r:id="rId7"/>
    <p:sldId id="258" r:id="rId8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3995"/>
    <a:srgbClr val="3B568D"/>
    <a:srgbClr val="2755D6"/>
    <a:srgbClr val="0030A0"/>
    <a:srgbClr val="6479A5"/>
    <a:srgbClr val="FFD7D7"/>
    <a:srgbClr val="002268"/>
    <a:srgbClr val="001D5F"/>
    <a:srgbClr val="042C7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00" autoAdjust="0"/>
    <p:restoredTop sz="90427" autoAdjust="0"/>
  </p:normalViewPr>
  <p:slideViewPr>
    <p:cSldViewPr snapToGrid="0">
      <p:cViewPr varScale="1">
        <p:scale>
          <a:sx n="75" d="100"/>
          <a:sy n="75" d="100"/>
        </p:scale>
        <p:origin x="42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68" d="100"/>
        <a:sy n="168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tags" Target="tags/tag1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84737436940502"/>
          <c:y val="9.6304980696106324E-2"/>
          <c:w val="0.86014917457848383"/>
          <c:h val="0.65120489140575721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盒</c:v>
                </c:pt>
              </c:strCache>
            </c:strRef>
          </c:tx>
          <c:spPr>
            <a:ln w="28575" cap="rnd">
              <a:solidFill>
                <a:srgbClr val="5D8EFF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rgbClr val="00319F"/>
              </a:solidFill>
              <a:ln w="28575">
                <a:noFill/>
              </a:ln>
              <a:effectLst/>
            </c:spPr>
          </c:marker>
          <c:dPt>
            <c:idx val="1"/>
            <c:marker>
              <c:symbol val="circle"/>
              <c:size val="6"/>
              <c:spPr>
                <a:solidFill>
                  <a:srgbClr val="00319F"/>
                </a:solidFill>
                <a:ln w="28575">
                  <a:noFill/>
                </a:ln>
                <a:effectLst/>
              </c:spPr>
            </c:marker>
            <c:bubble3D val="0"/>
            <c:spPr>
              <a:ln w="28575" cap="rnd">
                <a:solidFill>
                  <a:srgbClr val="5D8EFF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2E05-4857-A59B-A3EFEB2D2C70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rgbClr val="00319F"/>
                </a:solidFill>
                <a:ln w="28575">
                  <a:noFill/>
                </a:ln>
                <a:effectLst/>
              </c:spPr>
            </c:marker>
            <c:bubble3D val="0"/>
            <c:spPr>
              <a:ln w="28575" cap="rnd">
                <a:solidFill>
                  <a:srgbClr val="5D8EFF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2E05-4857-A59B-A3EFEB2D2C70}"/>
              </c:ext>
            </c:extLst>
          </c:dPt>
          <c:dLbls>
            <c:delete val="1"/>
          </c:dLbls>
          <c:cat>
            <c:numRef>
              <c:f>Sheet1!$A$2:$A$7</c:f>
              <c:numCache>
                <c:formatCode>mmm\-yy</c:formatCode>
                <c:ptCount val="6"/>
                <c:pt idx="0">
                  <c:v>45931</c:v>
                </c:pt>
                <c:pt idx="1">
                  <c:v>45962</c:v>
                </c:pt>
                <c:pt idx="2">
                  <c:v>45992</c:v>
                </c:pt>
                <c:pt idx="3">
                  <c:v>46023</c:v>
                </c:pt>
                <c:pt idx="4">
                  <c:v>46054</c:v>
                </c:pt>
                <c:pt idx="5">
                  <c:v>46082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36833</c:v>
                </c:pt>
                <c:pt idx="1">
                  <c:v>43266</c:v>
                </c:pt>
                <c:pt idx="2">
                  <c:v>34505</c:v>
                </c:pt>
                <c:pt idx="3">
                  <c:v>52800</c:v>
                </c:pt>
                <c:pt idx="4">
                  <c:v>27896</c:v>
                </c:pt>
                <c:pt idx="5">
                  <c:v>45134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4-2E05-4857-A59B-A3EFEB2D2C70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74092863"/>
        <c:axId val="2080601984"/>
      </c:lineChart>
      <c:dateAx>
        <c:axId val="74092863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rgbClr val="00319F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pPr>
            <a:endParaRPr lang="zh-CN"/>
          </a:p>
        </c:txPr>
        <c:crossAx val="2080601984"/>
        <c:crosses val="autoZero"/>
        <c:auto val="1"/>
        <c:lblOffset val="100"/>
        <c:baseTimeUnit val="months"/>
      </c:dateAx>
      <c:valAx>
        <c:axId val="20806019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00319F">
                  <a:alpha val="23000"/>
                </a:srgb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rgbClr val="00319F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pPr>
            <a:endParaRPr lang="zh-CN"/>
          </a:p>
        </c:txPr>
        <c:crossAx val="74092863"/>
        <c:crossesAt val="1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800" b="0" i="0">
          <a:solidFill>
            <a:srgbClr val="BB3023"/>
          </a:solidFill>
          <a:latin typeface="Alibaba PuHuiTi Medium" pitchFamily="18" charset="-122"/>
          <a:ea typeface="Alibaba PuHuiTi Medium" pitchFamily="18" charset="-122"/>
          <a:cs typeface="Alibaba PuHuiTi Medium" pitchFamily="18" charset="-122"/>
        </a:defRPr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84737436940502"/>
          <c:y val="9.6304980696106324E-2"/>
          <c:w val="0.86014917457848383"/>
          <c:h val="0.65120489140575721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盒</c:v>
                </c:pt>
              </c:strCache>
            </c:strRef>
          </c:tx>
          <c:spPr>
            <a:ln w="28575" cap="rnd">
              <a:solidFill>
                <a:srgbClr val="00319F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rgbClr val="5D8EFF"/>
              </a:solidFill>
              <a:ln w="28575">
                <a:noFill/>
              </a:ln>
              <a:effectLst/>
            </c:spPr>
          </c:marker>
          <c:dPt>
            <c:idx val="1"/>
            <c:marker>
              <c:symbol val="circle"/>
              <c:size val="6"/>
              <c:spPr>
                <a:solidFill>
                  <a:srgbClr val="5D8EFF"/>
                </a:solidFill>
                <a:ln w="28575">
                  <a:noFill/>
                </a:ln>
                <a:effectLst/>
              </c:spPr>
            </c:marker>
            <c:bubble3D val="0"/>
            <c:spPr>
              <a:ln w="28575" cap="rnd">
                <a:solidFill>
                  <a:srgbClr val="00319F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14F0-4E71-A77E-53FB576DAC21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rgbClr val="5D8EFF"/>
                </a:solidFill>
                <a:ln w="28575">
                  <a:noFill/>
                </a:ln>
                <a:effectLst/>
              </c:spPr>
            </c:marker>
            <c:bubble3D val="0"/>
            <c:spPr>
              <a:ln w="28575" cap="rnd">
                <a:solidFill>
                  <a:srgbClr val="00319F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14F0-4E71-A77E-53FB576DAC21}"/>
              </c:ext>
            </c:extLst>
          </c:dPt>
          <c:dLbls>
            <c:delete val="1"/>
          </c:dLbls>
          <c:cat>
            <c:numRef>
              <c:f>Sheet1!$A$2:$A$7</c:f>
              <c:numCache>
                <c:formatCode>mmm\-yy</c:formatCode>
                <c:ptCount val="6"/>
                <c:pt idx="0">
                  <c:v>45931</c:v>
                </c:pt>
                <c:pt idx="1">
                  <c:v>45962</c:v>
                </c:pt>
                <c:pt idx="2">
                  <c:v>45992</c:v>
                </c:pt>
                <c:pt idx="3">
                  <c:v>46023</c:v>
                </c:pt>
                <c:pt idx="4">
                  <c:v>46054</c:v>
                </c:pt>
                <c:pt idx="5">
                  <c:v>46082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35067.5</c:v>
                </c:pt>
                <c:pt idx="1">
                  <c:v>46759.5</c:v>
                </c:pt>
                <c:pt idx="2">
                  <c:v>34421.5</c:v>
                </c:pt>
                <c:pt idx="3">
                  <c:v>48503</c:v>
                </c:pt>
                <c:pt idx="4">
                  <c:v>30990.5</c:v>
                </c:pt>
                <c:pt idx="5">
                  <c:v>40149.5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4-14F0-4E71-A77E-53FB576DAC21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74092863"/>
        <c:axId val="2080601984"/>
      </c:lineChart>
      <c:dateAx>
        <c:axId val="74092863"/>
        <c:scaling>
          <c:orientation val="minMax"/>
        </c:scaling>
        <c:delete val="1"/>
        <c:axPos val="b"/>
        <c:numFmt formatCode="mmm\-yy" sourceLinked="1"/>
        <c:majorTickMark val="out"/>
        <c:minorTickMark val="none"/>
        <c:tickLblPos val="nextTo"/>
        <c:crossAx val="2080601984"/>
        <c:crosses val="autoZero"/>
        <c:auto val="1"/>
        <c:lblOffset val="100"/>
        <c:baseTimeUnit val="months"/>
      </c:dateAx>
      <c:valAx>
        <c:axId val="208060198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74092863"/>
        <c:crossesAt val="1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800" b="0" i="0">
          <a:solidFill>
            <a:srgbClr val="BB3023"/>
          </a:solidFill>
          <a:latin typeface="Alibaba PuHuiTi Medium" pitchFamily="18" charset="-122"/>
          <a:ea typeface="Alibaba PuHuiTi Medium" pitchFamily="18" charset="-122"/>
          <a:cs typeface="Alibaba PuHuiTi Medium" pitchFamily="18" charset="-122"/>
        </a:defRPr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C91E6F-157B-449A-9008-26B5F762666D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B22701-19FE-48E0-818B-EBEC76228A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8292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</a:pPr>
            <a:endParaRPr lang="en-US" altLang="zh-CN" sz="12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B920623-32C6-4A3D-98FE-5F5917C84946}" type="slidenum">
              <a:rPr lang="zh-CN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58807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AC133-F269-6B48-7C07-5A9A4E495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82D15F5-8410-D7F6-64ED-B8FA0BBF64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578E831-85F7-DB60-0892-77442431D0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557622-5271-B5B8-F7BB-02EBACE778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25B216-325B-4B47-9E6D-2D96543D0B7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760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36A31-2CB9-5C38-4CD0-B032EE0F8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887B397-A526-68B1-27E0-6874A24EB8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2E7F04B-042D-3B41-BE7A-8ECA4252A7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6C37E82-DB24-2850-8C86-EDD478512B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25B216-325B-4B47-9E6D-2D96543D0B7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01136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DA534-6123-7FAB-FBB6-454A03759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7F1C7CF-7C56-E3B8-98CB-504BE8749B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A0F8D08-F443-9737-51A9-D34B5C075A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27769CB-36D4-FFB6-198D-FB355AFE1B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25B216-325B-4B47-9E6D-2D96543D0B7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78331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B7B91-37F7-30F7-37A7-E8A145000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3139661-DBA7-C396-BA8F-C07A11B3F7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9A89C55-0F50-DC94-8F8B-B2C1CB0E62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836E46D-E995-DDFB-155C-BDA3E07074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25B216-325B-4B47-9E6D-2D96543D0B7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3424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用于</a:t>
            </a:r>
            <a:r>
              <a:rPr lang="en-US" altLang="zh-CN" dirty="0"/>
              <a:t>PPT</a:t>
            </a:r>
            <a:r>
              <a:rPr lang="zh-CN" altLang="en-US" dirty="0"/>
              <a:t>模板封底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B22701-19FE-48E0-818B-EBEC76228A4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7573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NULL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png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2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5.jpe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封面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矩形 5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176D">
                  <a:alpha val="1000"/>
                </a:srgbClr>
              </a:gs>
              <a:gs pos="100000">
                <a:srgbClr val="00176D">
                  <a:alpha val="47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9401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组合 46"/>
          <p:cNvGrpSpPr/>
          <p:nvPr userDrawn="1"/>
        </p:nvGrpSpPr>
        <p:grpSpPr>
          <a:xfrm>
            <a:off x="967959" y="421112"/>
            <a:ext cx="3245768" cy="334790"/>
            <a:chOff x="808306" y="451691"/>
            <a:chExt cx="4878934" cy="503245"/>
          </a:xfrm>
        </p:grpSpPr>
        <p:grpSp>
          <p:nvGrpSpPr>
            <p:cNvPr id="48" name="组合 47"/>
            <p:cNvGrpSpPr/>
            <p:nvPr userDrawn="1"/>
          </p:nvGrpSpPr>
          <p:grpSpPr>
            <a:xfrm>
              <a:off x="808306" y="453989"/>
              <a:ext cx="1454584" cy="498649"/>
              <a:chOff x="-4167187" y="3511550"/>
              <a:chExt cx="2009774" cy="688975"/>
            </a:xfrm>
          </p:grpSpPr>
          <p:sp>
            <p:nvSpPr>
              <p:cNvPr id="80" name="Freeform 5"/>
              <p:cNvSpPr>
                <a:spLocks/>
              </p:cNvSpPr>
              <p:nvPr userDrawn="1"/>
            </p:nvSpPr>
            <p:spPr bwMode="auto">
              <a:xfrm>
                <a:off x="-3259138" y="3556000"/>
                <a:ext cx="425450" cy="546100"/>
              </a:xfrm>
              <a:custGeom>
                <a:avLst/>
                <a:gdLst>
                  <a:gd name="T0" fmla="*/ 4 w 603"/>
                  <a:gd name="T1" fmla="*/ 773 h 773"/>
                  <a:gd name="T2" fmla="*/ 23 w 603"/>
                  <a:gd name="T3" fmla="*/ 762 h 773"/>
                  <a:gd name="T4" fmla="*/ 227 w 603"/>
                  <a:gd name="T5" fmla="*/ 402 h 773"/>
                  <a:gd name="T6" fmla="*/ 230 w 603"/>
                  <a:gd name="T7" fmla="*/ 83 h 773"/>
                  <a:gd name="T8" fmla="*/ 232 w 603"/>
                  <a:gd name="T9" fmla="*/ 59 h 773"/>
                  <a:gd name="T10" fmla="*/ 349 w 603"/>
                  <a:gd name="T11" fmla="*/ 59 h 773"/>
                  <a:gd name="T12" fmla="*/ 349 w 603"/>
                  <a:gd name="T13" fmla="*/ 760 h 773"/>
                  <a:gd name="T14" fmla="*/ 603 w 603"/>
                  <a:gd name="T15" fmla="*/ 760 h 773"/>
                  <a:gd name="T16" fmla="*/ 603 w 603"/>
                  <a:gd name="T17" fmla="*/ 490 h 773"/>
                  <a:gd name="T18" fmla="*/ 520 w 603"/>
                  <a:gd name="T19" fmla="*/ 490 h 773"/>
                  <a:gd name="T20" fmla="*/ 520 w 603"/>
                  <a:gd name="T21" fmla="*/ 700 h 773"/>
                  <a:gd name="T22" fmla="*/ 449 w 603"/>
                  <a:gd name="T23" fmla="*/ 700 h 773"/>
                  <a:gd name="T24" fmla="*/ 449 w 603"/>
                  <a:gd name="T25" fmla="*/ 0 h 773"/>
                  <a:gd name="T26" fmla="*/ 129 w 603"/>
                  <a:gd name="T27" fmla="*/ 0 h 773"/>
                  <a:gd name="T28" fmla="*/ 129 w 603"/>
                  <a:gd name="T29" fmla="*/ 30 h 773"/>
                  <a:gd name="T30" fmla="*/ 123 w 603"/>
                  <a:gd name="T31" fmla="*/ 421 h 773"/>
                  <a:gd name="T32" fmla="*/ 22 w 603"/>
                  <a:gd name="T33" fmla="*/ 689 h 773"/>
                  <a:gd name="T34" fmla="*/ 4 w 603"/>
                  <a:gd name="T35" fmla="*/ 773 h 7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03" h="773">
                    <a:moveTo>
                      <a:pt x="4" y="773"/>
                    </a:moveTo>
                    <a:cubicBezTo>
                      <a:pt x="11" y="768"/>
                      <a:pt x="17" y="765"/>
                      <a:pt x="23" y="762"/>
                    </a:cubicBezTo>
                    <a:cubicBezTo>
                      <a:pt x="155" y="679"/>
                      <a:pt x="220" y="556"/>
                      <a:pt x="227" y="402"/>
                    </a:cubicBezTo>
                    <a:cubicBezTo>
                      <a:pt x="232" y="296"/>
                      <a:pt x="230" y="189"/>
                      <a:pt x="230" y="83"/>
                    </a:cubicBezTo>
                    <a:cubicBezTo>
                      <a:pt x="231" y="75"/>
                      <a:pt x="231" y="67"/>
                      <a:pt x="232" y="59"/>
                    </a:cubicBezTo>
                    <a:cubicBezTo>
                      <a:pt x="271" y="59"/>
                      <a:pt x="309" y="59"/>
                      <a:pt x="349" y="59"/>
                    </a:cubicBezTo>
                    <a:cubicBezTo>
                      <a:pt x="349" y="294"/>
                      <a:pt x="349" y="527"/>
                      <a:pt x="349" y="760"/>
                    </a:cubicBezTo>
                    <a:cubicBezTo>
                      <a:pt x="435" y="760"/>
                      <a:pt x="519" y="760"/>
                      <a:pt x="603" y="760"/>
                    </a:cubicBezTo>
                    <a:cubicBezTo>
                      <a:pt x="603" y="669"/>
                      <a:pt x="603" y="580"/>
                      <a:pt x="603" y="490"/>
                    </a:cubicBezTo>
                    <a:cubicBezTo>
                      <a:pt x="576" y="490"/>
                      <a:pt x="549" y="490"/>
                      <a:pt x="520" y="490"/>
                    </a:cubicBezTo>
                    <a:cubicBezTo>
                      <a:pt x="520" y="561"/>
                      <a:pt x="520" y="630"/>
                      <a:pt x="520" y="700"/>
                    </a:cubicBezTo>
                    <a:cubicBezTo>
                      <a:pt x="496" y="700"/>
                      <a:pt x="473" y="700"/>
                      <a:pt x="449" y="700"/>
                    </a:cubicBezTo>
                    <a:cubicBezTo>
                      <a:pt x="449" y="465"/>
                      <a:pt x="449" y="232"/>
                      <a:pt x="449" y="0"/>
                    </a:cubicBezTo>
                    <a:cubicBezTo>
                      <a:pt x="341" y="0"/>
                      <a:pt x="236" y="0"/>
                      <a:pt x="129" y="0"/>
                    </a:cubicBezTo>
                    <a:cubicBezTo>
                      <a:pt x="129" y="11"/>
                      <a:pt x="129" y="20"/>
                      <a:pt x="129" y="30"/>
                    </a:cubicBezTo>
                    <a:cubicBezTo>
                      <a:pt x="127" y="160"/>
                      <a:pt x="128" y="291"/>
                      <a:pt x="123" y="421"/>
                    </a:cubicBezTo>
                    <a:cubicBezTo>
                      <a:pt x="119" y="520"/>
                      <a:pt x="86" y="612"/>
                      <a:pt x="22" y="689"/>
                    </a:cubicBezTo>
                    <a:cubicBezTo>
                      <a:pt x="0" y="716"/>
                      <a:pt x="2" y="741"/>
                      <a:pt x="4" y="77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81" name="Freeform 6"/>
              <p:cNvSpPr>
                <a:spLocks/>
              </p:cNvSpPr>
              <p:nvPr userDrawn="1"/>
            </p:nvSpPr>
            <p:spPr bwMode="auto">
              <a:xfrm>
                <a:off x="-2730500" y="3844925"/>
                <a:ext cx="550862" cy="261937"/>
              </a:xfrm>
              <a:custGeom>
                <a:avLst/>
                <a:gdLst>
                  <a:gd name="T0" fmla="*/ 780 w 780"/>
                  <a:gd name="T1" fmla="*/ 0 h 371"/>
                  <a:gd name="T2" fmla="*/ 0 w 780"/>
                  <a:gd name="T3" fmla="*/ 0 h 371"/>
                  <a:gd name="T4" fmla="*/ 0 w 780"/>
                  <a:gd name="T5" fmla="*/ 59 h 371"/>
                  <a:gd name="T6" fmla="*/ 234 w 780"/>
                  <a:gd name="T7" fmla="*/ 59 h 371"/>
                  <a:gd name="T8" fmla="*/ 230 w 780"/>
                  <a:gd name="T9" fmla="*/ 70 h 371"/>
                  <a:gd name="T10" fmla="*/ 144 w 780"/>
                  <a:gd name="T11" fmla="*/ 214 h 371"/>
                  <a:gd name="T12" fmla="*/ 63 w 780"/>
                  <a:gd name="T13" fmla="*/ 259 h 371"/>
                  <a:gd name="T14" fmla="*/ 60 w 780"/>
                  <a:gd name="T15" fmla="*/ 262 h 371"/>
                  <a:gd name="T16" fmla="*/ 60 w 780"/>
                  <a:gd name="T17" fmla="*/ 336 h 371"/>
                  <a:gd name="T18" fmla="*/ 92 w 780"/>
                  <a:gd name="T19" fmla="*/ 334 h 371"/>
                  <a:gd name="T20" fmla="*/ 397 w 780"/>
                  <a:gd name="T21" fmla="*/ 310 h 371"/>
                  <a:gd name="T22" fmla="*/ 562 w 780"/>
                  <a:gd name="T23" fmla="*/ 295 h 371"/>
                  <a:gd name="T24" fmla="*/ 651 w 780"/>
                  <a:gd name="T25" fmla="*/ 315 h 371"/>
                  <a:gd name="T26" fmla="*/ 744 w 780"/>
                  <a:gd name="T27" fmla="*/ 371 h 371"/>
                  <a:gd name="T28" fmla="*/ 717 w 780"/>
                  <a:gd name="T29" fmla="*/ 286 h 371"/>
                  <a:gd name="T30" fmla="*/ 570 w 780"/>
                  <a:gd name="T31" fmla="*/ 104 h 371"/>
                  <a:gd name="T32" fmla="*/ 553 w 780"/>
                  <a:gd name="T33" fmla="*/ 86 h 371"/>
                  <a:gd name="T34" fmla="*/ 450 w 780"/>
                  <a:gd name="T35" fmla="*/ 86 h 371"/>
                  <a:gd name="T36" fmla="*/ 457 w 780"/>
                  <a:gd name="T37" fmla="*/ 104 h 371"/>
                  <a:gd name="T38" fmla="*/ 548 w 780"/>
                  <a:gd name="T39" fmla="*/ 237 h 371"/>
                  <a:gd name="T40" fmla="*/ 208 w 780"/>
                  <a:gd name="T41" fmla="*/ 252 h 371"/>
                  <a:gd name="T42" fmla="*/ 358 w 780"/>
                  <a:gd name="T43" fmla="*/ 68 h 371"/>
                  <a:gd name="T44" fmla="*/ 380 w 780"/>
                  <a:gd name="T45" fmla="*/ 60 h 371"/>
                  <a:gd name="T46" fmla="*/ 756 w 780"/>
                  <a:gd name="T47" fmla="*/ 59 h 371"/>
                  <a:gd name="T48" fmla="*/ 780 w 780"/>
                  <a:gd name="T49" fmla="*/ 59 h 371"/>
                  <a:gd name="T50" fmla="*/ 780 w 780"/>
                  <a:gd name="T51" fmla="*/ 0 h 3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780" h="371">
                    <a:moveTo>
                      <a:pt x="780" y="0"/>
                    </a:moveTo>
                    <a:cubicBezTo>
                      <a:pt x="519" y="0"/>
                      <a:pt x="260" y="0"/>
                      <a:pt x="0" y="0"/>
                    </a:cubicBezTo>
                    <a:cubicBezTo>
                      <a:pt x="0" y="20"/>
                      <a:pt x="0" y="39"/>
                      <a:pt x="0" y="59"/>
                    </a:cubicBezTo>
                    <a:cubicBezTo>
                      <a:pt x="78" y="59"/>
                      <a:pt x="155" y="59"/>
                      <a:pt x="234" y="59"/>
                    </a:cubicBezTo>
                    <a:cubicBezTo>
                      <a:pt x="233" y="65"/>
                      <a:pt x="232" y="68"/>
                      <a:pt x="230" y="70"/>
                    </a:cubicBezTo>
                    <a:cubicBezTo>
                      <a:pt x="202" y="118"/>
                      <a:pt x="173" y="166"/>
                      <a:pt x="144" y="214"/>
                    </a:cubicBezTo>
                    <a:cubicBezTo>
                      <a:pt x="126" y="244"/>
                      <a:pt x="102" y="265"/>
                      <a:pt x="63" y="259"/>
                    </a:cubicBezTo>
                    <a:cubicBezTo>
                      <a:pt x="62" y="259"/>
                      <a:pt x="61" y="261"/>
                      <a:pt x="60" y="262"/>
                    </a:cubicBezTo>
                    <a:cubicBezTo>
                      <a:pt x="60" y="286"/>
                      <a:pt x="60" y="310"/>
                      <a:pt x="60" y="336"/>
                    </a:cubicBezTo>
                    <a:cubicBezTo>
                      <a:pt x="71" y="335"/>
                      <a:pt x="82" y="335"/>
                      <a:pt x="92" y="334"/>
                    </a:cubicBezTo>
                    <a:cubicBezTo>
                      <a:pt x="194" y="326"/>
                      <a:pt x="296" y="319"/>
                      <a:pt x="397" y="310"/>
                    </a:cubicBezTo>
                    <a:cubicBezTo>
                      <a:pt x="452" y="306"/>
                      <a:pt x="508" y="306"/>
                      <a:pt x="562" y="295"/>
                    </a:cubicBezTo>
                    <a:cubicBezTo>
                      <a:pt x="598" y="287"/>
                      <a:pt x="623" y="293"/>
                      <a:pt x="651" y="315"/>
                    </a:cubicBezTo>
                    <a:cubicBezTo>
                      <a:pt x="679" y="337"/>
                      <a:pt x="712" y="352"/>
                      <a:pt x="744" y="371"/>
                    </a:cubicBezTo>
                    <a:cubicBezTo>
                      <a:pt x="753" y="317"/>
                      <a:pt x="752" y="315"/>
                      <a:pt x="717" y="286"/>
                    </a:cubicBezTo>
                    <a:cubicBezTo>
                      <a:pt x="657" y="234"/>
                      <a:pt x="609" y="173"/>
                      <a:pt x="570" y="104"/>
                    </a:cubicBezTo>
                    <a:cubicBezTo>
                      <a:pt x="566" y="97"/>
                      <a:pt x="559" y="87"/>
                      <a:pt x="553" y="86"/>
                    </a:cubicBezTo>
                    <a:cubicBezTo>
                      <a:pt x="519" y="85"/>
                      <a:pt x="486" y="86"/>
                      <a:pt x="450" y="86"/>
                    </a:cubicBezTo>
                    <a:cubicBezTo>
                      <a:pt x="453" y="93"/>
                      <a:pt x="454" y="99"/>
                      <a:pt x="457" y="104"/>
                    </a:cubicBezTo>
                    <a:cubicBezTo>
                      <a:pt x="487" y="148"/>
                      <a:pt x="517" y="192"/>
                      <a:pt x="548" y="237"/>
                    </a:cubicBezTo>
                    <a:cubicBezTo>
                      <a:pt x="436" y="242"/>
                      <a:pt x="322" y="247"/>
                      <a:pt x="208" y="252"/>
                    </a:cubicBezTo>
                    <a:cubicBezTo>
                      <a:pt x="267" y="195"/>
                      <a:pt x="315" y="134"/>
                      <a:pt x="358" y="68"/>
                    </a:cubicBezTo>
                    <a:cubicBezTo>
                      <a:pt x="361" y="62"/>
                      <a:pt x="373" y="60"/>
                      <a:pt x="380" y="60"/>
                    </a:cubicBezTo>
                    <a:cubicBezTo>
                      <a:pt x="505" y="59"/>
                      <a:pt x="631" y="59"/>
                      <a:pt x="756" y="59"/>
                    </a:cubicBezTo>
                    <a:cubicBezTo>
                      <a:pt x="764" y="59"/>
                      <a:pt x="771" y="59"/>
                      <a:pt x="780" y="59"/>
                    </a:cubicBezTo>
                    <a:cubicBezTo>
                      <a:pt x="780" y="38"/>
                      <a:pt x="780" y="20"/>
                      <a:pt x="78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82" name="Freeform 7"/>
              <p:cNvSpPr>
                <a:spLocks/>
              </p:cNvSpPr>
              <p:nvPr userDrawn="1"/>
            </p:nvSpPr>
            <p:spPr bwMode="auto">
              <a:xfrm>
                <a:off x="-3430588" y="3524250"/>
                <a:ext cx="244475" cy="577850"/>
              </a:xfrm>
              <a:custGeom>
                <a:avLst/>
                <a:gdLst>
                  <a:gd name="T0" fmla="*/ 122 w 345"/>
                  <a:gd name="T1" fmla="*/ 476 h 820"/>
                  <a:gd name="T2" fmla="*/ 127 w 345"/>
                  <a:gd name="T3" fmla="*/ 478 h 820"/>
                  <a:gd name="T4" fmla="*/ 127 w 345"/>
                  <a:gd name="T5" fmla="*/ 820 h 820"/>
                  <a:gd name="T6" fmla="*/ 229 w 345"/>
                  <a:gd name="T7" fmla="*/ 820 h 820"/>
                  <a:gd name="T8" fmla="*/ 229 w 345"/>
                  <a:gd name="T9" fmla="*/ 382 h 820"/>
                  <a:gd name="T10" fmla="*/ 345 w 345"/>
                  <a:gd name="T11" fmla="*/ 497 h 820"/>
                  <a:gd name="T12" fmla="*/ 336 w 345"/>
                  <a:gd name="T13" fmla="*/ 433 h 820"/>
                  <a:gd name="T14" fmla="*/ 278 w 345"/>
                  <a:gd name="T15" fmla="*/ 326 h 820"/>
                  <a:gd name="T16" fmla="*/ 244 w 345"/>
                  <a:gd name="T17" fmla="*/ 227 h 820"/>
                  <a:gd name="T18" fmla="*/ 335 w 345"/>
                  <a:gd name="T19" fmla="*/ 227 h 820"/>
                  <a:gd name="T20" fmla="*/ 335 w 345"/>
                  <a:gd name="T21" fmla="*/ 167 h 820"/>
                  <a:gd name="T22" fmla="*/ 228 w 345"/>
                  <a:gd name="T23" fmla="*/ 167 h 820"/>
                  <a:gd name="T24" fmla="*/ 228 w 345"/>
                  <a:gd name="T25" fmla="*/ 0 h 820"/>
                  <a:gd name="T26" fmla="*/ 126 w 345"/>
                  <a:gd name="T27" fmla="*/ 0 h 820"/>
                  <a:gd name="T28" fmla="*/ 126 w 345"/>
                  <a:gd name="T29" fmla="*/ 168 h 820"/>
                  <a:gd name="T30" fmla="*/ 11 w 345"/>
                  <a:gd name="T31" fmla="*/ 168 h 820"/>
                  <a:gd name="T32" fmla="*/ 11 w 345"/>
                  <a:gd name="T33" fmla="*/ 228 h 820"/>
                  <a:gd name="T34" fmla="*/ 101 w 345"/>
                  <a:gd name="T35" fmla="*/ 228 h 820"/>
                  <a:gd name="T36" fmla="*/ 101 w 345"/>
                  <a:gd name="T37" fmla="*/ 240 h 820"/>
                  <a:gd name="T38" fmla="*/ 17 w 345"/>
                  <a:gd name="T39" fmla="*/ 516 h 820"/>
                  <a:gd name="T40" fmla="*/ 4 w 345"/>
                  <a:gd name="T41" fmla="*/ 599 h 820"/>
                  <a:gd name="T42" fmla="*/ 122 w 345"/>
                  <a:gd name="T43" fmla="*/ 476 h 8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45" h="820">
                    <a:moveTo>
                      <a:pt x="122" y="476"/>
                    </a:moveTo>
                    <a:cubicBezTo>
                      <a:pt x="123" y="476"/>
                      <a:pt x="125" y="477"/>
                      <a:pt x="127" y="478"/>
                    </a:cubicBezTo>
                    <a:cubicBezTo>
                      <a:pt x="127" y="592"/>
                      <a:pt x="127" y="706"/>
                      <a:pt x="127" y="820"/>
                    </a:cubicBezTo>
                    <a:cubicBezTo>
                      <a:pt x="162" y="820"/>
                      <a:pt x="195" y="820"/>
                      <a:pt x="229" y="820"/>
                    </a:cubicBezTo>
                    <a:cubicBezTo>
                      <a:pt x="229" y="675"/>
                      <a:pt x="229" y="531"/>
                      <a:pt x="229" y="382"/>
                    </a:cubicBezTo>
                    <a:cubicBezTo>
                      <a:pt x="264" y="428"/>
                      <a:pt x="297" y="469"/>
                      <a:pt x="345" y="497"/>
                    </a:cubicBezTo>
                    <a:cubicBezTo>
                      <a:pt x="344" y="474"/>
                      <a:pt x="345" y="451"/>
                      <a:pt x="336" y="433"/>
                    </a:cubicBezTo>
                    <a:cubicBezTo>
                      <a:pt x="319" y="396"/>
                      <a:pt x="295" y="363"/>
                      <a:pt x="278" y="326"/>
                    </a:cubicBezTo>
                    <a:cubicBezTo>
                      <a:pt x="264" y="296"/>
                      <a:pt x="256" y="263"/>
                      <a:pt x="244" y="227"/>
                    </a:cubicBezTo>
                    <a:cubicBezTo>
                      <a:pt x="278" y="227"/>
                      <a:pt x="307" y="227"/>
                      <a:pt x="335" y="227"/>
                    </a:cubicBezTo>
                    <a:cubicBezTo>
                      <a:pt x="335" y="206"/>
                      <a:pt x="335" y="187"/>
                      <a:pt x="335" y="167"/>
                    </a:cubicBezTo>
                    <a:cubicBezTo>
                      <a:pt x="299" y="167"/>
                      <a:pt x="264" y="167"/>
                      <a:pt x="228" y="167"/>
                    </a:cubicBezTo>
                    <a:cubicBezTo>
                      <a:pt x="228" y="110"/>
                      <a:pt x="228" y="55"/>
                      <a:pt x="228" y="0"/>
                    </a:cubicBezTo>
                    <a:cubicBezTo>
                      <a:pt x="193" y="0"/>
                      <a:pt x="161" y="0"/>
                      <a:pt x="126" y="0"/>
                    </a:cubicBezTo>
                    <a:cubicBezTo>
                      <a:pt x="126" y="56"/>
                      <a:pt x="126" y="111"/>
                      <a:pt x="126" y="168"/>
                    </a:cubicBezTo>
                    <a:cubicBezTo>
                      <a:pt x="86" y="168"/>
                      <a:pt x="49" y="168"/>
                      <a:pt x="11" y="168"/>
                    </a:cubicBezTo>
                    <a:cubicBezTo>
                      <a:pt x="11" y="189"/>
                      <a:pt x="11" y="208"/>
                      <a:pt x="11" y="228"/>
                    </a:cubicBezTo>
                    <a:cubicBezTo>
                      <a:pt x="42" y="228"/>
                      <a:pt x="71" y="228"/>
                      <a:pt x="101" y="228"/>
                    </a:cubicBezTo>
                    <a:cubicBezTo>
                      <a:pt x="101" y="234"/>
                      <a:pt x="101" y="237"/>
                      <a:pt x="101" y="240"/>
                    </a:cubicBezTo>
                    <a:cubicBezTo>
                      <a:pt x="91" y="338"/>
                      <a:pt x="72" y="433"/>
                      <a:pt x="17" y="516"/>
                    </a:cubicBezTo>
                    <a:cubicBezTo>
                      <a:pt x="0" y="542"/>
                      <a:pt x="3" y="568"/>
                      <a:pt x="4" y="599"/>
                    </a:cubicBezTo>
                    <a:cubicBezTo>
                      <a:pt x="55" y="566"/>
                      <a:pt x="91" y="524"/>
                      <a:pt x="122" y="47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83" name="Freeform 8"/>
              <p:cNvSpPr>
                <a:spLocks noEditPoints="1"/>
              </p:cNvSpPr>
              <p:nvPr userDrawn="1"/>
            </p:nvSpPr>
            <p:spPr bwMode="auto">
              <a:xfrm>
                <a:off x="-4167187" y="3511550"/>
                <a:ext cx="644525" cy="688975"/>
              </a:xfrm>
              <a:custGeom>
                <a:avLst/>
                <a:gdLst>
                  <a:gd name="T0" fmla="*/ 359 w 913"/>
                  <a:gd name="T1" fmla="*/ 497 h 975"/>
                  <a:gd name="T2" fmla="*/ 356 w 913"/>
                  <a:gd name="T3" fmla="*/ 579 h 975"/>
                  <a:gd name="T4" fmla="*/ 302 w 913"/>
                  <a:gd name="T5" fmla="*/ 754 h 975"/>
                  <a:gd name="T6" fmla="*/ 171 w 913"/>
                  <a:gd name="T7" fmla="*/ 867 h 975"/>
                  <a:gd name="T8" fmla="*/ 121 w 913"/>
                  <a:gd name="T9" fmla="*/ 797 h 975"/>
                  <a:gd name="T10" fmla="*/ 37 w 913"/>
                  <a:gd name="T11" fmla="*/ 839 h 975"/>
                  <a:gd name="T12" fmla="*/ 22 w 913"/>
                  <a:gd name="T13" fmla="*/ 760 h 975"/>
                  <a:gd name="T14" fmla="*/ 88 w 913"/>
                  <a:gd name="T15" fmla="*/ 691 h 975"/>
                  <a:gd name="T16" fmla="*/ 194 w 913"/>
                  <a:gd name="T17" fmla="*/ 623 h 975"/>
                  <a:gd name="T18" fmla="*/ 92 w 913"/>
                  <a:gd name="T19" fmla="*/ 602 h 975"/>
                  <a:gd name="T20" fmla="*/ 131 w 913"/>
                  <a:gd name="T21" fmla="*/ 535 h 975"/>
                  <a:gd name="T22" fmla="*/ 23 w 913"/>
                  <a:gd name="T23" fmla="*/ 515 h 975"/>
                  <a:gd name="T24" fmla="*/ 100 w 913"/>
                  <a:gd name="T25" fmla="*/ 440 h 975"/>
                  <a:gd name="T26" fmla="*/ 109 w 913"/>
                  <a:gd name="T27" fmla="*/ 374 h 975"/>
                  <a:gd name="T28" fmla="*/ 277 w 913"/>
                  <a:gd name="T29" fmla="*/ 266 h 975"/>
                  <a:gd name="T30" fmla="*/ 210 w 913"/>
                  <a:gd name="T31" fmla="*/ 260 h 975"/>
                  <a:gd name="T32" fmla="*/ 69 w 913"/>
                  <a:gd name="T33" fmla="*/ 274 h 975"/>
                  <a:gd name="T34" fmla="*/ 106 w 913"/>
                  <a:gd name="T35" fmla="*/ 195 h 975"/>
                  <a:gd name="T36" fmla="*/ 164 w 913"/>
                  <a:gd name="T37" fmla="*/ 124 h 975"/>
                  <a:gd name="T38" fmla="*/ 161 w 913"/>
                  <a:gd name="T39" fmla="*/ 18 h 975"/>
                  <a:gd name="T40" fmla="*/ 300 w 913"/>
                  <a:gd name="T41" fmla="*/ 15 h 975"/>
                  <a:gd name="T42" fmla="*/ 254 w 913"/>
                  <a:gd name="T43" fmla="*/ 125 h 975"/>
                  <a:gd name="T44" fmla="*/ 262 w 913"/>
                  <a:gd name="T45" fmla="*/ 140 h 975"/>
                  <a:gd name="T46" fmla="*/ 415 w 913"/>
                  <a:gd name="T47" fmla="*/ 171 h 975"/>
                  <a:gd name="T48" fmla="*/ 387 w 913"/>
                  <a:gd name="T49" fmla="*/ 245 h 975"/>
                  <a:gd name="T50" fmla="*/ 330 w 913"/>
                  <a:gd name="T51" fmla="*/ 339 h 975"/>
                  <a:gd name="T52" fmla="*/ 350 w 913"/>
                  <a:gd name="T53" fmla="*/ 348 h 975"/>
                  <a:gd name="T54" fmla="*/ 466 w 913"/>
                  <a:gd name="T55" fmla="*/ 352 h 975"/>
                  <a:gd name="T56" fmla="*/ 495 w 913"/>
                  <a:gd name="T57" fmla="*/ 290 h 975"/>
                  <a:gd name="T58" fmla="*/ 687 w 913"/>
                  <a:gd name="T59" fmla="*/ 117 h 975"/>
                  <a:gd name="T60" fmla="*/ 751 w 913"/>
                  <a:gd name="T61" fmla="*/ 52 h 975"/>
                  <a:gd name="T62" fmla="*/ 821 w 913"/>
                  <a:gd name="T63" fmla="*/ 133 h 975"/>
                  <a:gd name="T64" fmla="*/ 717 w 913"/>
                  <a:gd name="T65" fmla="*/ 237 h 975"/>
                  <a:gd name="T66" fmla="*/ 648 w 913"/>
                  <a:gd name="T67" fmla="*/ 271 h 975"/>
                  <a:gd name="T68" fmla="*/ 539 w 913"/>
                  <a:gd name="T69" fmla="*/ 311 h 975"/>
                  <a:gd name="T70" fmla="*/ 626 w 913"/>
                  <a:gd name="T71" fmla="*/ 403 h 975"/>
                  <a:gd name="T72" fmla="*/ 788 w 913"/>
                  <a:gd name="T73" fmla="*/ 350 h 975"/>
                  <a:gd name="T74" fmla="*/ 913 w 913"/>
                  <a:gd name="T75" fmla="*/ 428 h 975"/>
                  <a:gd name="T76" fmla="*/ 802 w 913"/>
                  <a:gd name="T77" fmla="*/ 467 h 975"/>
                  <a:gd name="T78" fmla="*/ 728 w 913"/>
                  <a:gd name="T79" fmla="*/ 546 h 975"/>
                  <a:gd name="T80" fmla="*/ 716 w 913"/>
                  <a:gd name="T81" fmla="*/ 736 h 975"/>
                  <a:gd name="T82" fmla="*/ 700 w 913"/>
                  <a:gd name="T83" fmla="*/ 811 h 975"/>
                  <a:gd name="T84" fmla="*/ 659 w 913"/>
                  <a:gd name="T85" fmla="*/ 925 h 975"/>
                  <a:gd name="T86" fmla="*/ 644 w 913"/>
                  <a:gd name="T87" fmla="*/ 903 h 975"/>
                  <a:gd name="T88" fmla="*/ 638 w 913"/>
                  <a:gd name="T89" fmla="*/ 808 h 975"/>
                  <a:gd name="T90" fmla="*/ 625 w 913"/>
                  <a:gd name="T91" fmla="*/ 498 h 975"/>
                  <a:gd name="T92" fmla="*/ 474 w 913"/>
                  <a:gd name="T93" fmla="*/ 642 h 975"/>
                  <a:gd name="T94" fmla="*/ 436 w 913"/>
                  <a:gd name="T95" fmla="*/ 623 h 975"/>
                  <a:gd name="T96" fmla="*/ 400 w 913"/>
                  <a:gd name="T97" fmla="*/ 734 h 975"/>
                  <a:gd name="T98" fmla="*/ 310 w 913"/>
                  <a:gd name="T99" fmla="*/ 649 h 975"/>
                  <a:gd name="T100" fmla="*/ 468 w 913"/>
                  <a:gd name="T101" fmla="*/ 557 h 975"/>
                  <a:gd name="T102" fmla="*/ 489 w 913"/>
                  <a:gd name="T103" fmla="*/ 390 h 975"/>
                  <a:gd name="T104" fmla="*/ 428 w 913"/>
                  <a:gd name="T105" fmla="*/ 431 h 975"/>
                  <a:gd name="T106" fmla="*/ 311 w 913"/>
                  <a:gd name="T107" fmla="*/ 451 h 975"/>
                  <a:gd name="T108" fmla="*/ 295 w 913"/>
                  <a:gd name="T109" fmla="*/ 293 h 975"/>
                  <a:gd name="T110" fmla="*/ 170 w 913"/>
                  <a:gd name="T111" fmla="*/ 396 h 975"/>
                  <a:gd name="T112" fmla="*/ 194 w 913"/>
                  <a:gd name="T113" fmla="*/ 685 h 9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913" h="975">
                    <a:moveTo>
                      <a:pt x="253" y="470"/>
                    </a:moveTo>
                    <a:cubicBezTo>
                      <a:pt x="264" y="473"/>
                      <a:pt x="270" y="480"/>
                      <a:pt x="274" y="488"/>
                    </a:cubicBezTo>
                    <a:cubicBezTo>
                      <a:pt x="277" y="492"/>
                      <a:pt x="279" y="492"/>
                      <a:pt x="283" y="490"/>
                    </a:cubicBezTo>
                    <a:cubicBezTo>
                      <a:pt x="289" y="487"/>
                      <a:pt x="295" y="483"/>
                      <a:pt x="301" y="483"/>
                    </a:cubicBezTo>
                    <a:cubicBezTo>
                      <a:pt x="315" y="481"/>
                      <a:pt x="329" y="480"/>
                      <a:pt x="342" y="481"/>
                    </a:cubicBezTo>
                    <a:cubicBezTo>
                      <a:pt x="348" y="481"/>
                      <a:pt x="354" y="486"/>
                      <a:pt x="360" y="488"/>
                    </a:cubicBezTo>
                    <a:cubicBezTo>
                      <a:pt x="359" y="491"/>
                      <a:pt x="359" y="493"/>
                      <a:pt x="359" y="497"/>
                    </a:cubicBezTo>
                    <a:cubicBezTo>
                      <a:pt x="367" y="499"/>
                      <a:pt x="376" y="502"/>
                      <a:pt x="385" y="505"/>
                    </a:cubicBezTo>
                    <a:cubicBezTo>
                      <a:pt x="391" y="507"/>
                      <a:pt x="396" y="511"/>
                      <a:pt x="401" y="515"/>
                    </a:cubicBezTo>
                    <a:cubicBezTo>
                      <a:pt x="402" y="516"/>
                      <a:pt x="402" y="519"/>
                      <a:pt x="402" y="521"/>
                    </a:cubicBezTo>
                    <a:cubicBezTo>
                      <a:pt x="401" y="526"/>
                      <a:pt x="400" y="530"/>
                      <a:pt x="398" y="534"/>
                    </a:cubicBezTo>
                    <a:cubicBezTo>
                      <a:pt x="397" y="538"/>
                      <a:pt x="396" y="542"/>
                      <a:pt x="394" y="545"/>
                    </a:cubicBezTo>
                    <a:cubicBezTo>
                      <a:pt x="390" y="550"/>
                      <a:pt x="386" y="555"/>
                      <a:pt x="383" y="560"/>
                    </a:cubicBezTo>
                    <a:cubicBezTo>
                      <a:pt x="376" y="570"/>
                      <a:pt x="367" y="575"/>
                      <a:pt x="356" y="579"/>
                    </a:cubicBezTo>
                    <a:cubicBezTo>
                      <a:pt x="333" y="588"/>
                      <a:pt x="309" y="589"/>
                      <a:pt x="286" y="594"/>
                    </a:cubicBezTo>
                    <a:cubicBezTo>
                      <a:pt x="284" y="595"/>
                      <a:pt x="281" y="596"/>
                      <a:pt x="280" y="598"/>
                    </a:cubicBezTo>
                    <a:cubicBezTo>
                      <a:pt x="275" y="608"/>
                      <a:pt x="275" y="619"/>
                      <a:pt x="276" y="630"/>
                    </a:cubicBezTo>
                    <a:cubicBezTo>
                      <a:pt x="278" y="646"/>
                      <a:pt x="278" y="662"/>
                      <a:pt x="280" y="678"/>
                    </a:cubicBezTo>
                    <a:cubicBezTo>
                      <a:pt x="281" y="690"/>
                      <a:pt x="285" y="702"/>
                      <a:pt x="288" y="714"/>
                    </a:cubicBezTo>
                    <a:cubicBezTo>
                      <a:pt x="289" y="718"/>
                      <a:pt x="291" y="722"/>
                      <a:pt x="294" y="725"/>
                    </a:cubicBezTo>
                    <a:cubicBezTo>
                      <a:pt x="301" y="733"/>
                      <a:pt x="302" y="743"/>
                      <a:pt x="302" y="754"/>
                    </a:cubicBezTo>
                    <a:cubicBezTo>
                      <a:pt x="303" y="764"/>
                      <a:pt x="306" y="774"/>
                      <a:pt x="308" y="785"/>
                    </a:cubicBezTo>
                    <a:cubicBezTo>
                      <a:pt x="309" y="791"/>
                      <a:pt x="309" y="798"/>
                      <a:pt x="305" y="804"/>
                    </a:cubicBezTo>
                    <a:cubicBezTo>
                      <a:pt x="286" y="834"/>
                      <a:pt x="263" y="859"/>
                      <a:pt x="242" y="886"/>
                    </a:cubicBezTo>
                    <a:cubicBezTo>
                      <a:pt x="233" y="897"/>
                      <a:pt x="222" y="905"/>
                      <a:pt x="208" y="908"/>
                    </a:cubicBezTo>
                    <a:cubicBezTo>
                      <a:pt x="196" y="911"/>
                      <a:pt x="186" y="907"/>
                      <a:pt x="178" y="899"/>
                    </a:cubicBezTo>
                    <a:cubicBezTo>
                      <a:pt x="174" y="895"/>
                      <a:pt x="170" y="891"/>
                      <a:pt x="172" y="884"/>
                    </a:cubicBezTo>
                    <a:cubicBezTo>
                      <a:pt x="173" y="879"/>
                      <a:pt x="172" y="872"/>
                      <a:pt x="171" y="867"/>
                    </a:cubicBezTo>
                    <a:cubicBezTo>
                      <a:pt x="171" y="866"/>
                      <a:pt x="168" y="865"/>
                      <a:pt x="167" y="865"/>
                    </a:cubicBezTo>
                    <a:cubicBezTo>
                      <a:pt x="165" y="859"/>
                      <a:pt x="163" y="852"/>
                      <a:pt x="162" y="846"/>
                    </a:cubicBezTo>
                    <a:cubicBezTo>
                      <a:pt x="161" y="845"/>
                      <a:pt x="161" y="844"/>
                      <a:pt x="162" y="844"/>
                    </a:cubicBezTo>
                    <a:cubicBezTo>
                      <a:pt x="168" y="838"/>
                      <a:pt x="165" y="831"/>
                      <a:pt x="164" y="826"/>
                    </a:cubicBezTo>
                    <a:cubicBezTo>
                      <a:pt x="157" y="821"/>
                      <a:pt x="148" y="820"/>
                      <a:pt x="146" y="810"/>
                    </a:cubicBezTo>
                    <a:cubicBezTo>
                      <a:pt x="145" y="808"/>
                      <a:pt x="140" y="807"/>
                      <a:pt x="137" y="805"/>
                    </a:cubicBezTo>
                    <a:cubicBezTo>
                      <a:pt x="131" y="803"/>
                      <a:pt x="125" y="804"/>
                      <a:pt x="121" y="797"/>
                    </a:cubicBezTo>
                    <a:cubicBezTo>
                      <a:pt x="119" y="795"/>
                      <a:pt x="113" y="793"/>
                      <a:pt x="110" y="789"/>
                    </a:cubicBezTo>
                    <a:cubicBezTo>
                      <a:pt x="110" y="788"/>
                      <a:pt x="109" y="788"/>
                      <a:pt x="108" y="788"/>
                    </a:cubicBezTo>
                    <a:cubicBezTo>
                      <a:pt x="101" y="789"/>
                      <a:pt x="96" y="787"/>
                      <a:pt x="90" y="782"/>
                    </a:cubicBezTo>
                    <a:cubicBezTo>
                      <a:pt x="87" y="779"/>
                      <a:pt x="78" y="781"/>
                      <a:pt x="75" y="784"/>
                    </a:cubicBezTo>
                    <a:cubicBezTo>
                      <a:pt x="70" y="790"/>
                      <a:pt x="65" y="795"/>
                      <a:pt x="60" y="799"/>
                    </a:cubicBezTo>
                    <a:cubicBezTo>
                      <a:pt x="50" y="807"/>
                      <a:pt x="46" y="817"/>
                      <a:pt x="42" y="827"/>
                    </a:cubicBezTo>
                    <a:cubicBezTo>
                      <a:pt x="40" y="831"/>
                      <a:pt x="38" y="835"/>
                      <a:pt x="37" y="839"/>
                    </a:cubicBezTo>
                    <a:cubicBezTo>
                      <a:pt x="29" y="842"/>
                      <a:pt x="24" y="840"/>
                      <a:pt x="21" y="832"/>
                    </a:cubicBezTo>
                    <a:cubicBezTo>
                      <a:pt x="19" y="824"/>
                      <a:pt x="17" y="816"/>
                      <a:pt x="15" y="807"/>
                    </a:cubicBezTo>
                    <a:cubicBezTo>
                      <a:pt x="15" y="801"/>
                      <a:pt x="13" y="797"/>
                      <a:pt x="8" y="794"/>
                    </a:cubicBezTo>
                    <a:cubicBezTo>
                      <a:pt x="0" y="789"/>
                      <a:pt x="0" y="788"/>
                      <a:pt x="8" y="782"/>
                    </a:cubicBezTo>
                    <a:cubicBezTo>
                      <a:pt x="10" y="780"/>
                      <a:pt x="13" y="779"/>
                      <a:pt x="14" y="778"/>
                    </a:cubicBezTo>
                    <a:cubicBezTo>
                      <a:pt x="16" y="773"/>
                      <a:pt x="18" y="768"/>
                      <a:pt x="21" y="764"/>
                    </a:cubicBezTo>
                    <a:cubicBezTo>
                      <a:pt x="21" y="763"/>
                      <a:pt x="22" y="761"/>
                      <a:pt x="22" y="760"/>
                    </a:cubicBezTo>
                    <a:cubicBezTo>
                      <a:pt x="21" y="747"/>
                      <a:pt x="28" y="737"/>
                      <a:pt x="33" y="727"/>
                    </a:cubicBezTo>
                    <a:cubicBezTo>
                      <a:pt x="37" y="719"/>
                      <a:pt x="43" y="712"/>
                      <a:pt x="39" y="702"/>
                    </a:cubicBezTo>
                    <a:cubicBezTo>
                      <a:pt x="39" y="701"/>
                      <a:pt x="40" y="699"/>
                      <a:pt x="41" y="698"/>
                    </a:cubicBezTo>
                    <a:cubicBezTo>
                      <a:pt x="51" y="689"/>
                      <a:pt x="64" y="685"/>
                      <a:pt x="77" y="680"/>
                    </a:cubicBezTo>
                    <a:cubicBezTo>
                      <a:pt x="75" y="682"/>
                      <a:pt x="73" y="683"/>
                      <a:pt x="69" y="685"/>
                    </a:cubicBezTo>
                    <a:cubicBezTo>
                      <a:pt x="74" y="686"/>
                      <a:pt x="77" y="686"/>
                      <a:pt x="79" y="687"/>
                    </a:cubicBezTo>
                    <a:cubicBezTo>
                      <a:pt x="83" y="688"/>
                      <a:pt x="86" y="689"/>
                      <a:pt x="88" y="691"/>
                    </a:cubicBezTo>
                    <a:cubicBezTo>
                      <a:pt x="92" y="696"/>
                      <a:pt x="96" y="696"/>
                      <a:pt x="101" y="695"/>
                    </a:cubicBezTo>
                    <a:cubicBezTo>
                      <a:pt x="120" y="691"/>
                      <a:pt x="136" y="682"/>
                      <a:pt x="152" y="673"/>
                    </a:cubicBezTo>
                    <a:cubicBezTo>
                      <a:pt x="155" y="671"/>
                      <a:pt x="158" y="668"/>
                      <a:pt x="163" y="671"/>
                    </a:cubicBezTo>
                    <a:cubicBezTo>
                      <a:pt x="164" y="671"/>
                      <a:pt x="165" y="671"/>
                      <a:pt x="166" y="670"/>
                    </a:cubicBezTo>
                    <a:cubicBezTo>
                      <a:pt x="175" y="666"/>
                      <a:pt x="183" y="661"/>
                      <a:pt x="192" y="657"/>
                    </a:cubicBezTo>
                    <a:cubicBezTo>
                      <a:pt x="196" y="655"/>
                      <a:pt x="197" y="653"/>
                      <a:pt x="196" y="649"/>
                    </a:cubicBezTo>
                    <a:cubicBezTo>
                      <a:pt x="195" y="641"/>
                      <a:pt x="195" y="633"/>
                      <a:pt x="194" y="623"/>
                    </a:cubicBezTo>
                    <a:cubicBezTo>
                      <a:pt x="185" y="628"/>
                      <a:pt x="175" y="632"/>
                      <a:pt x="167" y="637"/>
                    </a:cubicBezTo>
                    <a:cubicBezTo>
                      <a:pt x="147" y="648"/>
                      <a:pt x="128" y="659"/>
                      <a:pt x="109" y="669"/>
                    </a:cubicBezTo>
                    <a:cubicBezTo>
                      <a:pt x="98" y="675"/>
                      <a:pt x="90" y="671"/>
                      <a:pt x="89" y="659"/>
                    </a:cubicBezTo>
                    <a:cubicBezTo>
                      <a:pt x="88" y="653"/>
                      <a:pt x="88" y="647"/>
                      <a:pt x="88" y="642"/>
                    </a:cubicBezTo>
                    <a:cubicBezTo>
                      <a:pt x="77" y="640"/>
                      <a:pt x="75" y="637"/>
                      <a:pt x="79" y="628"/>
                    </a:cubicBezTo>
                    <a:cubicBezTo>
                      <a:pt x="88" y="631"/>
                      <a:pt x="90" y="622"/>
                      <a:pt x="94" y="620"/>
                    </a:cubicBezTo>
                    <a:cubicBezTo>
                      <a:pt x="93" y="613"/>
                      <a:pt x="92" y="607"/>
                      <a:pt x="92" y="602"/>
                    </a:cubicBezTo>
                    <a:cubicBezTo>
                      <a:pt x="93" y="592"/>
                      <a:pt x="95" y="583"/>
                      <a:pt x="98" y="574"/>
                    </a:cubicBezTo>
                    <a:cubicBezTo>
                      <a:pt x="99" y="570"/>
                      <a:pt x="104" y="567"/>
                      <a:pt x="108" y="566"/>
                    </a:cubicBezTo>
                    <a:cubicBezTo>
                      <a:pt x="126" y="559"/>
                      <a:pt x="144" y="553"/>
                      <a:pt x="161" y="547"/>
                    </a:cubicBezTo>
                    <a:cubicBezTo>
                      <a:pt x="171" y="543"/>
                      <a:pt x="181" y="540"/>
                      <a:pt x="190" y="537"/>
                    </a:cubicBezTo>
                    <a:cubicBezTo>
                      <a:pt x="196" y="536"/>
                      <a:pt x="198" y="532"/>
                      <a:pt x="195" y="527"/>
                    </a:cubicBezTo>
                    <a:cubicBezTo>
                      <a:pt x="191" y="519"/>
                      <a:pt x="186" y="512"/>
                      <a:pt x="181" y="504"/>
                    </a:cubicBezTo>
                    <a:cubicBezTo>
                      <a:pt x="163" y="515"/>
                      <a:pt x="147" y="525"/>
                      <a:pt x="131" y="535"/>
                    </a:cubicBezTo>
                    <a:cubicBezTo>
                      <a:pt x="102" y="551"/>
                      <a:pt x="73" y="567"/>
                      <a:pt x="47" y="588"/>
                    </a:cubicBezTo>
                    <a:cubicBezTo>
                      <a:pt x="44" y="590"/>
                      <a:pt x="39" y="590"/>
                      <a:pt x="36" y="588"/>
                    </a:cubicBezTo>
                    <a:cubicBezTo>
                      <a:pt x="29" y="583"/>
                      <a:pt x="23" y="576"/>
                      <a:pt x="17" y="571"/>
                    </a:cubicBezTo>
                    <a:cubicBezTo>
                      <a:pt x="17" y="567"/>
                      <a:pt x="18" y="564"/>
                      <a:pt x="17" y="562"/>
                    </a:cubicBezTo>
                    <a:cubicBezTo>
                      <a:pt x="11" y="552"/>
                      <a:pt x="11" y="549"/>
                      <a:pt x="19" y="539"/>
                    </a:cubicBezTo>
                    <a:cubicBezTo>
                      <a:pt x="22" y="535"/>
                      <a:pt x="26" y="531"/>
                      <a:pt x="24" y="525"/>
                    </a:cubicBezTo>
                    <a:cubicBezTo>
                      <a:pt x="24" y="522"/>
                      <a:pt x="24" y="518"/>
                      <a:pt x="23" y="515"/>
                    </a:cubicBezTo>
                    <a:cubicBezTo>
                      <a:pt x="26" y="511"/>
                      <a:pt x="30" y="507"/>
                      <a:pt x="33" y="502"/>
                    </a:cubicBezTo>
                    <a:cubicBezTo>
                      <a:pt x="36" y="495"/>
                      <a:pt x="26" y="494"/>
                      <a:pt x="25" y="487"/>
                    </a:cubicBezTo>
                    <a:cubicBezTo>
                      <a:pt x="36" y="482"/>
                      <a:pt x="46" y="474"/>
                      <a:pt x="60" y="476"/>
                    </a:cubicBezTo>
                    <a:cubicBezTo>
                      <a:pt x="65" y="477"/>
                      <a:pt x="68" y="475"/>
                      <a:pt x="70" y="471"/>
                    </a:cubicBezTo>
                    <a:cubicBezTo>
                      <a:pt x="72" y="467"/>
                      <a:pt x="74" y="464"/>
                      <a:pt x="80" y="467"/>
                    </a:cubicBezTo>
                    <a:cubicBezTo>
                      <a:pt x="83" y="468"/>
                      <a:pt x="87" y="465"/>
                      <a:pt x="91" y="463"/>
                    </a:cubicBezTo>
                    <a:cubicBezTo>
                      <a:pt x="106" y="456"/>
                      <a:pt x="106" y="456"/>
                      <a:pt x="100" y="440"/>
                    </a:cubicBezTo>
                    <a:cubicBezTo>
                      <a:pt x="98" y="436"/>
                      <a:pt x="97" y="432"/>
                      <a:pt x="95" y="428"/>
                    </a:cubicBezTo>
                    <a:cubicBezTo>
                      <a:pt x="93" y="424"/>
                      <a:pt x="90" y="419"/>
                      <a:pt x="97" y="416"/>
                    </a:cubicBezTo>
                    <a:cubicBezTo>
                      <a:pt x="99" y="416"/>
                      <a:pt x="98" y="412"/>
                      <a:pt x="99" y="410"/>
                    </a:cubicBezTo>
                    <a:cubicBezTo>
                      <a:pt x="100" y="404"/>
                      <a:pt x="102" y="398"/>
                      <a:pt x="104" y="393"/>
                    </a:cubicBezTo>
                    <a:cubicBezTo>
                      <a:pt x="105" y="388"/>
                      <a:pt x="105" y="383"/>
                      <a:pt x="101" y="379"/>
                    </a:cubicBezTo>
                    <a:cubicBezTo>
                      <a:pt x="100" y="378"/>
                      <a:pt x="100" y="376"/>
                      <a:pt x="99" y="374"/>
                    </a:cubicBezTo>
                    <a:cubicBezTo>
                      <a:pt x="102" y="374"/>
                      <a:pt x="105" y="374"/>
                      <a:pt x="109" y="374"/>
                    </a:cubicBezTo>
                    <a:cubicBezTo>
                      <a:pt x="110" y="363"/>
                      <a:pt x="111" y="353"/>
                      <a:pt x="112" y="342"/>
                    </a:cubicBezTo>
                    <a:cubicBezTo>
                      <a:pt x="112" y="337"/>
                      <a:pt x="114" y="332"/>
                      <a:pt x="115" y="326"/>
                    </a:cubicBezTo>
                    <a:cubicBezTo>
                      <a:pt x="123" y="330"/>
                      <a:pt x="131" y="332"/>
                      <a:pt x="137" y="337"/>
                    </a:cubicBezTo>
                    <a:cubicBezTo>
                      <a:pt x="152" y="348"/>
                      <a:pt x="165" y="347"/>
                      <a:pt x="180" y="336"/>
                    </a:cubicBezTo>
                    <a:cubicBezTo>
                      <a:pt x="200" y="321"/>
                      <a:pt x="221" y="307"/>
                      <a:pt x="242" y="292"/>
                    </a:cubicBezTo>
                    <a:cubicBezTo>
                      <a:pt x="252" y="285"/>
                      <a:pt x="261" y="278"/>
                      <a:pt x="271" y="272"/>
                    </a:cubicBezTo>
                    <a:cubicBezTo>
                      <a:pt x="273" y="270"/>
                      <a:pt x="275" y="268"/>
                      <a:pt x="277" y="266"/>
                    </a:cubicBezTo>
                    <a:cubicBezTo>
                      <a:pt x="279" y="263"/>
                      <a:pt x="282" y="261"/>
                      <a:pt x="286" y="259"/>
                    </a:cubicBezTo>
                    <a:cubicBezTo>
                      <a:pt x="291" y="258"/>
                      <a:pt x="295" y="252"/>
                      <a:pt x="298" y="247"/>
                    </a:cubicBezTo>
                    <a:cubicBezTo>
                      <a:pt x="301" y="243"/>
                      <a:pt x="301" y="238"/>
                      <a:pt x="304" y="231"/>
                    </a:cubicBezTo>
                    <a:cubicBezTo>
                      <a:pt x="288" y="240"/>
                      <a:pt x="274" y="248"/>
                      <a:pt x="259" y="257"/>
                    </a:cubicBezTo>
                    <a:cubicBezTo>
                      <a:pt x="260" y="248"/>
                      <a:pt x="270" y="244"/>
                      <a:pt x="271" y="235"/>
                    </a:cubicBezTo>
                    <a:cubicBezTo>
                      <a:pt x="270" y="234"/>
                      <a:pt x="270" y="234"/>
                      <a:pt x="269" y="233"/>
                    </a:cubicBezTo>
                    <a:cubicBezTo>
                      <a:pt x="249" y="242"/>
                      <a:pt x="229" y="250"/>
                      <a:pt x="210" y="260"/>
                    </a:cubicBezTo>
                    <a:cubicBezTo>
                      <a:pt x="196" y="267"/>
                      <a:pt x="183" y="276"/>
                      <a:pt x="170" y="284"/>
                    </a:cubicBezTo>
                    <a:cubicBezTo>
                      <a:pt x="160" y="289"/>
                      <a:pt x="149" y="292"/>
                      <a:pt x="140" y="298"/>
                    </a:cubicBezTo>
                    <a:cubicBezTo>
                      <a:pt x="126" y="306"/>
                      <a:pt x="112" y="314"/>
                      <a:pt x="99" y="323"/>
                    </a:cubicBezTo>
                    <a:cubicBezTo>
                      <a:pt x="93" y="328"/>
                      <a:pt x="87" y="327"/>
                      <a:pt x="83" y="322"/>
                    </a:cubicBezTo>
                    <a:cubicBezTo>
                      <a:pt x="76" y="317"/>
                      <a:pt x="74" y="309"/>
                      <a:pt x="75" y="301"/>
                    </a:cubicBezTo>
                    <a:cubicBezTo>
                      <a:pt x="76" y="293"/>
                      <a:pt x="76" y="292"/>
                      <a:pt x="69" y="290"/>
                    </a:cubicBezTo>
                    <a:cubicBezTo>
                      <a:pt x="69" y="285"/>
                      <a:pt x="68" y="279"/>
                      <a:pt x="69" y="274"/>
                    </a:cubicBezTo>
                    <a:cubicBezTo>
                      <a:pt x="69" y="272"/>
                      <a:pt x="71" y="270"/>
                      <a:pt x="73" y="268"/>
                    </a:cubicBezTo>
                    <a:cubicBezTo>
                      <a:pt x="77" y="262"/>
                      <a:pt x="83" y="257"/>
                      <a:pt x="84" y="249"/>
                    </a:cubicBezTo>
                    <a:cubicBezTo>
                      <a:pt x="85" y="244"/>
                      <a:pt x="92" y="240"/>
                      <a:pt x="98" y="234"/>
                    </a:cubicBezTo>
                    <a:cubicBezTo>
                      <a:pt x="96" y="229"/>
                      <a:pt x="94" y="223"/>
                      <a:pt x="93" y="217"/>
                    </a:cubicBezTo>
                    <a:cubicBezTo>
                      <a:pt x="92" y="211"/>
                      <a:pt x="92" y="205"/>
                      <a:pt x="93" y="200"/>
                    </a:cubicBezTo>
                    <a:cubicBezTo>
                      <a:pt x="93" y="198"/>
                      <a:pt x="97" y="197"/>
                      <a:pt x="99" y="196"/>
                    </a:cubicBezTo>
                    <a:cubicBezTo>
                      <a:pt x="101" y="195"/>
                      <a:pt x="104" y="196"/>
                      <a:pt x="106" y="195"/>
                    </a:cubicBezTo>
                    <a:cubicBezTo>
                      <a:pt x="116" y="188"/>
                      <a:pt x="125" y="192"/>
                      <a:pt x="133" y="199"/>
                    </a:cubicBezTo>
                    <a:cubicBezTo>
                      <a:pt x="138" y="203"/>
                      <a:pt x="143" y="203"/>
                      <a:pt x="147" y="199"/>
                    </a:cubicBezTo>
                    <a:cubicBezTo>
                      <a:pt x="152" y="194"/>
                      <a:pt x="155" y="187"/>
                      <a:pt x="159" y="181"/>
                    </a:cubicBezTo>
                    <a:cubicBezTo>
                      <a:pt x="161" y="180"/>
                      <a:pt x="162" y="178"/>
                      <a:pt x="164" y="176"/>
                    </a:cubicBezTo>
                    <a:cubicBezTo>
                      <a:pt x="174" y="164"/>
                      <a:pt x="183" y="152"/>
                      <a:pt x="194" y="140"/>
                    </a:cubicBezTo>
                    <a:cubicBezTo>
                      <a:pt x="192" y="139"/>
                      <a:pt x="191" y="139"/>
                      <a:pt x="190" y="139"/>
                    </a:cubicBezTo>
                    <a:cubicBezTo>
                      <a:pt x="178" y="140"/>
                      <a:pt x="171" y="132"/>
                      <a:pt x="164" y="124"/>
                    </a:cubicBezTo>
                    <a:cubicBezTo>
                      <a:pt x="157" y="116"/>
                      <a:pt x="152" y="106"/>
                      <a:pt x="151" y="95"/>
                    </a:cubicBezTo>
                    <a:cubicBezTo>
                      <a:pt x="151" y="93"/>
                      <a:pt x="149" y="91"/>
                      <a:pt x="148" y="90"/>
                    </a:cubicBezTo>
                    <a:cubicBezTo>
                      <a:pt x="143" y="84"/>
                      <a:pt x="137" y="78"/>
                      <a:pt x="130" y="71"/>
                    </a:cubicBezTo>
                    <a:cubicBezTo>
                      <a:pt x="137" y="67"/>
                      <a:pt x="142" y="63"/>
                      <a:pt x="147" y="62"/>
                    </a:cubicBezTo>
                    <a:cubicBezTo>
                      <a:pt x="152" y="60"/>
                      <a:pt x="154" y="58"/>
                      <a:pt x="153" y="53"/>
                    </a:cubicBezTo>
                    <a:cubicBezTo>
                      <a:pt x="151" y="46"/>
                      <a:pt x="150" y="39"/>
                      <a:pt x="149" y="32"/>
                    </a:cubicBezTo>
                    <a:cubicBezTo>
                      <a:pt x="147" y="26"/>
                      <a:pt x="154" y="17"/>
                      <a:pt x="161" y="18"/>
                    </a:cubicBezTo>
                    <a:cubicBezTo>
                      <a:pt x="166" y="19"/>
                      <a:pt x="172" y="20"/>
                      <a:pt x="177" y="21"/>
                    </a:cubicBezTo>
                    <a:cubicBezTo>
                      <a:pt x="185" y="24"/>
                      <a:pt x="191" y="20"/>
                      <a:pt x="198" y="16"/>
                    </a:cubicBezTo>
                    <a:cubicBezTo>
                      <a:pt x="205" y="11"/>
                      <a:pt x="212" y="6"/>
                      <a:pt x="219" y="2"/>
                    </a:cubicBezTo>
                    <a:cubicBezTo>
                      <a:pt x="221" y="0"/>
                      <a:pt x="224" y="0"/>
                      <a:pt x="227" y="0"/>
                    </a:cubicBezTo>
                    <a:cubicBezTo>
                      <a:pt x="237" y="0"/>
                      <a:pt x="248" y="1"/>
                      <a:pt x="258" y="1"/>
                    </a:cubicBezTo>
                    <a:cubicBezTo>
                      <a:pt x="266" y="2"/>
                      <a:pt x="275" y="1"/>
                      <a:pt x="283" y="2"/>
                    </a:cubicBezTo>
                    <a:cubicBezTo>
                      <a:pt x="290" y="3"/>
                      <a:pt x="295" y="8"/>
                      <a:pt x="300" y="15"/>
                    </a:cubicBezTo>
                    <a:cubicBezTo>
                      <a:pt x="301" y="17"/>
                      <a:pt x="305" y="20"/>
                      <a:pt x="307" y="21"/>
                    </a:cubicBezTo>
                    <a:cubicBezTo>
                      <a:pt x="319" y="29"/>
                      <a:pt x="331" y="36"/>
                      <a:pt x="343" y="43"/>
                    </a:cubicBezTo>
                    <a:cubicBezTo>
                      <a:pt x="356" y="50"/>
                      <a:pt x="360" y="63"/>
                      <a:pt x="360" y="76"/>
                    </a:cubicBezTo>
                    <a:cubicBezTo>
                      <a:pt x="359" y="82"/>
                      <a:pt x="355" y="89"/>
                      <a:pt x="350" y="93"/>
                    </a:cubicBezTo>
                    <a:cubicBezTo>
                      <a:pt x="344" y="100"/>
                      <a:pt x="337" y="106"/>
                      <a:pt x="329" y="109"/>
                    </a:cubicBezTo>
                    <a:cubicBezTo>
                      <a:pt x="322" y="112"/>
                      <a:pt x="313" y="111"/>
                      <a:pt x="306" y="111"/>
                    </a:cubicBezTo>
                    <a:cubicBezTo>
                      <a:pt x="287" y="110"/>
                      <a:pt x="269" y="112"/>
                      <a:pt x="254" y="125"/>
                    </a:cubicBezTo>
                    <a:cubicBezTo>
                      <a:pt x="239" y="136"/>
                      <a:pt x="225" y="149"/>
                      <a:pt x="211" y="161"/>
                    </a:cubicBezTo>
                    <a:cubicBezTo>
                      <a:pt x="202" y="167"/>
                      <a:pt x="192" y="173"/>
                      <a:pt x="182" y="179"/>
                    </a:cubicBezTo>
                    <a:cubicBezTo>
                      <a:pt x="178" y="181"/>
                      <a:pt x="175" y="184"/>
                      <a:pt x="171" y="187"/>
                    </a:cubicBezTo>
                    <a:cubicBezTo>
                      <a:pt x="172" y="187"/>
                      <a:pt x="172" y="188"/>
                      <a:pt x="172" y="188"/>
                    </a:cubicBezTo>
                    <a:cubicBezTo>
                      <a:pt x="181" y="185"/>
                      <a:pt x="190" y="181"/>
                      <a:pt x="199" y="177"/>
                    </a:cubicBezTo>
                    <a:cubicBezTo>
                      <a:pt x="215" y="171"/>
                      <a:pt x="231" y="164"/>
                      <a:pt x="247" y="159"/>
                    </a:cubicBezTo>
                    <a:cubicBezTo>
                      <a:pt x="256" y="155"/>
                      <a:pt x="259" y="147"/>
                      <a:pt x="262" y="140"/>
                    </a:cubicBezTo>
                    <a:cubicBezTo>
                      <a:pt x="265" y="132"/>
                      <a:pt x="270" y="129"/>
                      <a:pt x="277" y="127"/>
                    </a:cubicBezTo>
                    <a:cubicBezTo>
                      <a:pt x="291" y="122"/>
                      <a:pt x="304" y="127"/>
                      <a:pt x="317" y="129"/>
                    </a:cubicBezTo>
                    <a:cubicBezTo>
                      <a:pt x="325" y="130"/>
                      <a:pt x="333" y="132"/>
                      <a:pt x="341" y="130"/>
                    </a:cubicBezTo>
                    <a:cubicBezTo>
                      <a:pt x="352" y="129"/>
                      <a:pt x="361" y="132"/>
                      <a:pt x="371" y="137"/>
                    </a:cubicBezTo>
                    <a:cubicBezTo>
                      <a:pt x="378" y="142"/>
                      <a:pt x="387" y="145"/>
                      <a:pt x="394" y="149"/>
                    </a:cubicBezTo>
                    <a:cubicBezTo>
                      <a:pt x="399" y="151"/>
                      <a:pt x="404" y="154"/>
                      <a:pt x="409" y="157"/>
                    </a:cubicBezTo>
                    <a:cubicBezTo>
                      <a:pt x="413" y="160"/>
                      <a:pt x="416" y="165"/>
                      <a:pt x="415" y="171"/>
                    </a:cubicBezTo>
                    <a:cubicBezTo>
                      <a:pt x="414" y="172"/>
                      <a:pt x="414" y="174"/>
                      <a:pt x="414" y="175"/>
                    </a:cubicBezTo>
                    <a:cubicBezTo>
                      <a:pt x="417" y="183"/>
                      <a:pt x="413" y="187"/>
                      <a:pt x="406" y="190"/>
                    </a:cubicBezTo>
                    <a:cubicBezTo>
                      <a:pt x="404" y="190"/>
                      <a:pt x="403" y="193"/>
                      <a:pt x="401" y="195"/>
                    </a:cubicBezTo>
                    <a:cubicBezTo>
                      <a:pt x="396" y="200"/>
                      <a:pt x="390" y="205"/>
                      <a:pt x="386" y="212"/>
                    </a:cubicBezTo>
                    <a:cubicBezTo>
                      <a:pt x="381" y="223"/>
                      <a:pt x="368" y="223"/>
                      <a:pt x="359" y="231"/>
                    </a:cubicBezTo>
                    <a:cubicBezTo>
                      <a:pt x="364" y="234"/>
                      <a:pt x="369" y="236"/>
                      <a:pt x="374" y="239"/>
                    </a:cubicBezTo>
                    <a:cubicBezTo>
                      <a:pt x="378" y="241"/>
                      <a:pt x="383" y="243"/>
                      <a:pt x="387" y="245"/>
                    </a:cubicBezTo>
                    <a:cubicBezTo>
                      <a:pt x="398" y="252"/>
                      <a:pt x="404" y="261"/>
                      <a:pt x="403" y="274"/>
                    </a:cubicBezTo>
                    <a:cubicBezTo>
                      <a:pt x="402" y="285"/>
                      <a:pt x="402" y="297"/>
                      <a:pt x="393" y="305"/>
                    </a:cubicBezTo>
                    <a:cubicBezTo>
                      <a:pt x="386" y="311"/>
                      <a:pt x="380" y="317"/>
                      <a:pt x="370" y="314"/>
                    </a:cubicBezTo>
                    <a:cubicBezTo>
                      <a:pt x="367" y="313"/>
                      <a:pt x="362" y="317"/>
                      <a:pt x="359" y="320"/>
                    </a:cubicBezTo>
                    <a:cubicBezTo>
                      <a:pt x="354" y="324"/>
                      <a:pt x="350" y="330"/>
                      <a:pt x="345" y="333"/>
                    </a:cubicBezTo>
                    <a:cubicBezTo>
                      <a:pt x="342" y="336"/>
                      <a:pt x="337" y="336"/>
                      <a:pt x="333" y="338"/>
                    </a:cubicBezTo>
                    <a:cubicBezTo>
                      <a:pt x="332" y="338"/>
                      <a:pt x="331" y="339"/>
                      <a:pt x="330" y="339"/>
                    </a:cubicBezTo>
                    <a:cubicBezTo>
                      <a:pt x="315" y="353"/>
                      <a:pt x="299" y="366"/>
                      <a:pt x="284" y="380"/>
                    </a:cubicBezTo>
                    <a:cubicBezTo>
                      <a:pt x="283" y="381"/>
                      <a:pt x="282" y="381"/>
                      <a:pt x="280" y="382"/>
                    </a:cubicBezTo>
                    <a:cubicBezTo>
                      <a:pt x="281" y="383"/>
                      <a:pt x="281" y="384"/>
                      <a:pt x="282" y="384"/>
                    </a:cubicBezTo>
                    <a:cubicBezTo>
                      <a:pt x="293" y="380"/>
                      <a:pt x="303" y="375"/>
                      <a:pt x="314" y="370"/>
                    </a:cubicBezTo>
                    <a:cubicBezTo>
                      <a:pt x="319" y="368"/>
                      <a:pt x="323" y="366"/>
                      <a:pt x="327" y="364"/>
                    </a:cubicBezTo>
                    <a:cubicBezTo>
                      <a:pt x="329" y="363"/>
                      <a:pt x="331" y="362"/>
                      <a:pt x="331" y="361"/>
                    </a:cubicBezTo>
                    <a:cubicBezTo>
                      <a:pt x="332" y="350"/>
                      <a:pt x="342" y="350"/>
                      <a:pt x="350" y="348"/>
                    </a:cubicBezTo>
                    <a:cubicBezTo>
                      <a:pt x="365" y="345"/>
                      <a:pt x="381" y="343"/>
                      <a:pt x="397" y="341"/>
                    </a:cubicBezTo>
                    <a:cubicBezTo>
                      <a:pt x="401" y="340"/>
                      <a:pt x="407" y="341"/>
                      <a:pt x="411" y="342"/>
                    </a:cubicBezTo>
                    <a:cubicBezTo>
                      <a:pt x="423" y="347"/>
                      <a:pt x="437" y="346"/>
                      <a:pt x="447" y="356"/>
                    </a:cubicBezTo>
                    <a:cubicBezTo>
                      <a:pt x="452" y="361"/>
                      <a:pt x="457" y="365"/>
                      <a:pt x="463" y="368"/>
                    </a:cubicBezTo>
                    <a:cubicBezTo>
                      <a:pt x="466" y="370"/>
                      <a:pt x="469" y="372"/>
                      <a:pt x="473" y="373"/>
                    </a:cubicBezTo>
                    <a:cubicBezTo>
                      <a:pt x="473" y="373"/>
                      <a:pt x="474" y="372"/>
                      <a:pt x="474" y="371"/>
                    </a:cubicBezTo>
                    <a:cubicBezTo>
                      <a:pt x="472" y="365"/>
                      <a:pt x="469" y="358"/>
                      <a:pt x="466" y="352"/>
                    </a:cubicBezTo>
                    <a:cubicBezTo>
                      <a:pt x="465" y="352"/>
                      <a:pt x="464" y="351"/>
                      <a:pt x="463" y="351"/>
                    </a:cubicBezTo>
                    <a:cubicBezTo>
                      <a:pt x="465" y="348"/>
                      <a:pt x="468" y="344"/>
                      <a:pt x="471" y="341"/>
                    </a:cubicBezTo>
                    <a:cubicBezTo>
                      <a:pt x="472" y="342"/>
                      <a:pt x="473" y="342"/>
                      <a:pt x="474" y="343"/>
                    </a:cubicBezTo>
                    <a:cubicBezTo>
                      <a:pt x="472" y="337"/>
                      <a:pt x="468" y="332"/>
                      <a:pt x="475" y="326"/>
                    </a:cubicBezTo>
                    <a:cubicBezTo>
                      <a:pt x="470" y="317"/>
                      <a:pt x="477" y="310"/>
                      <a:pt x="479" y="301"/>
                    </a:cubicBezTo>
                    <a:cubicBezTo>
                      <a:pt x="479" y="298"/>
                      <a:pt x="481" y="295"/>
                      <a:pt x="482" y="293"/>
                    </a:cubicBezTo>
                    <a:cubicBezTo>
                      <a:pt x="486" y="285"/>
                      <a:pt x="487" y="285"/>
                      <a:pt x="495" y="290"/>
                    </a:cubicBezTo>
                    <a:cubicBezTo>
                      <a:pt x="497" y="291"/>
                      <a:pt x="500" y="291"/>
                      <a:pt x="503" y="290"/>
                    </a:cubicBezTo>
                    <a:cubicBezTo>
                      <a:pt x="507" y="290"/>
                      <a:pt x="510" y="290"/>
                      <a:pt x="515" y="293"/>
                    </a:cubicBezTo>
                    <a:cubicBezTo>
                      <a:pt x="518" y="296"/>
                      <a:pt x="527" y="295"/>
                      <a:pt x="531" y="292"/>
                    </a:cubicBezTo>
                    <a:cubicBezTo>
                      <a:pt x="574" y="256"/>
                      <a:pt x="617" y="219"/>
                      <a:pt x="653" y="175"/>
                    </a:cubicBezTo>
                    <a:cubicBezTo>
                      <a:pt x="663" y="163"/>
                      <a:pt x="672" y="150"/>
                      <a:pt x="675" y="134"/>
                    </a:cubicBezTo>
                    <a:cubicBezTo>
                      <a:pt x="675" y="134"/>
                      <a:pt x="676" y="133"/>
                      <a:pt x="676" y="133"/>
                    </a:cubicBezTo>
                    <a:cubicBezTo>
                      <a:pt x="678" y="123"/>
                      <a:pt x="678" y="123"/>
                      <a:pt x="687" y="117"/>
                    </a:cubicBezTo>
                    <a:cubicBezTo>
                      <a:pt x="685" y="112"/>
                      <a:pt x="683" y="107"/>
                      <a:pt x="689" y="103"/>
                    </a:cubicBezTo>
                    <a:cubicBezTo>
                      <a:pt x="690" y="103"/>
                      <a:pt x="689" y="100"/>
                      <a:pt x="689" y="98"/>
                    </a:cubicBezTo>
                    <a:cubicBezTo>
                      <a:pt x="688" y="94"/>
                      <a:pt x="687" y="90"/>
                      <a:pt x="686" y="86"/>
                    </a:cubicBezTo>
                    <a:cubicBezTo>
                      <a:pt x="686" y="86"/>
                      <a:pt x="687" y="85"/>
                      <a:pt x="687" y="85"/>
                    </a:cubicBezTo>
                    <a:cubicBezTo>
                      <a:pt x="700" y="83"/>
                      <a:pt x="708" y="74"/>
                      <a:pt x="716" y="64"/>
                    </a:cubicBezTo>
                    <a:cubicBezTo>
                      <a:pt x="720" y="59"/>
                      <a:pt x="726" y="55"/>
                      <a:pt x="732" y="51"/>
                    </a:cubicBezTo>
                    <a:cubicBezTo>
                      <a:pt x="738" y="48"/>
                      <a:pt x="745" y="48"/>
                      <a:pt x="751" y="52"/>
                    </a:cubicBezTo>
                    <a:cubicBezTo>
                      <a:pt x="756" y="57"/>
                      <a:pt x="757" y="63"/>
                      <a:pt x="755" y="70"/>
                    </a:cubicBezTo>
                    <a:cubicBezTo>
                      <a:pt x="755" y="71"/>
                      <a:pt x="756" y="74"/>
                      <a:pt x="757" y="75"/>
                    </a:cubicBezTo>
                    <a:cubicBezTo>
                      <a:pt x="763" y="81"/>
                      <a:pt x="770" y="86"/>
                      <a:pt x="777" y="92"/>
                    </a:cubicBezTo>
                    <a:cubicBezTo>
                      <a:pt x="781" y="89"/>
                      <a:pt x="785" y="90"/>
                      <a:pt x="788" y="97"/>
                    </a:cubicBezTo>
                    <a:cubicBezTo>
                      <a:pt x="788" y="99"/>
                      <a:pt x="791" y="101"/>
                      <a:pt x="794" y="102"/>
                    </a:cubicBezTo>
                    <a:cubicBezTo>
                      <a:pt x="798" y="104"/>
                      <a:pt x="803" y="105"/>
                      <a:pt x="807" y="107"/>
                    </a:cubicBezTo>
                    <a:cubicBezTo>
                      <a:pt x="816" y="112"/>
                      <a:pt x="821" y="122"/>
                      <a:pt x="821" y="133"/>
                    </a:cubicBezTo>
                    <a:cubicBezTo>
                      <a:pt x="821" y="138"/>
                      <a:pt x="819" y="142"/>
                      <a:pt x="818" y="146"/>
                    </a:cubicBezTo>
                    <a:cubicBezTo>
                      <a:pt x="817" y="152"/>
                      <a:pt x="818" y="159"/>
                      <a:pt x="820" y="165"/>
                    </a:cubicBezTo>
                    <a:cubicBezTo>
                      <a:pt x="827" y="185"/>
                      <a:pt x="820" y="201"/>
                      <a:pt x="805" y="214"/>
                    </a:cubicBezTo>
                    <a:cubicBezTo>
                      <a:pt x="802" y="218"/>
                      <a:pt x="795" y="218"/>
                      <a:pt x="790" y="218"/>
                    </a:cubicBezTo>
                    <a:cubicBezTo>
                      <a:pt x="775" y="215"/>
                      <a:pt x="761" y="218"/>
                      <a:pt x="747" y="224"/>
                    </a:cubicBezTo>
                    <a:cubicBezTo>
                      <a:pt x="742" y="226"/>
                      <a:pt x="736" y="228"/>
                      <a:pt x="731" y="230"/>
                    </a:cubicBezTo>
                    <a:cubicBezTo>
                      <a:pt x="726" y="232"/>
                      <a:pt x="722" y="237"/>
                      <a:pt x="717" y="237"/>
                    </a:cubicBezTo>
                    <a:cubicBezTo>
                      <a:pt x="710" y="237"/>
                      <a:pt x="706" y="241"/>
                      <a:pt x="700" y="243"/>
                    </a:cubicBezTo>
                    <a:cubicBezTo>
                      <a:pt x="697" y="245"/>
                      <a:pt x="695" y="247"/>
                      <a:pt x="692" y="249"/>
                    </a:cubicBezTo>
                    <a:cubicBezTo>
                      <a:pt x="691" y="247"/>
                      <a:pt x="689" y="246"/>
                      <a:pt x="687" y="243"/>
                    </a:cubicBezTo>
                    <a:cubicBezTo>
                      <a:pt x="683" y="247"/>
                      <a:pt x="680" y="250"/>
                      <a:pt x="677" y="254"/>
                    </a:cubicBezTo>
                    <a:cubicBezTo>
                      <a:pt x="677" y="254"/>
                      <a:pt x="677" y="254"/>
                      <a:pt x="677" y="254"/>
                    </a:cubicBezTo>
                    <a:cubicBezTo>
                      <a:pt x="673" y="258"/>
                      <a:pt x="669" y="261"/>
                      <a:pt x="666" y="265"/>
                    </a:cubicBezTo>
                    <a:cubicBezTo>
                      <a:pt x="661" y="271"/>
                      <a:pt x="656" y="272"/>
                      <a:pt x="648" y="271"/>
                    </a:cubicBezTo>
                    <a:cubicBezTo>
                      <a:pt x="642" y="270"/>
                      <a:pt x="635" y="268"/>
                      <a:pt x="628" y="274"/>
                    </a:cubicBezTo>
                    <a:cubicBezTo>
                      <a:pt x="627" y="275"/>
                      <a:pt x="624" y="273"/>
                      <a:pt x="621" y="273"/>
                    </a:cubicBezTo>
                    <a:cubicBezTo>
                      <a:pt x="619" y="273"/>
                      <a:pt x="616" y="273"/>
                      <a:pt x="612" y="274"/>
                    </a:cubicBezTo>
                    <a:cubicBezTo>
                      <a:pt x="616" y="277"/>
                      <a:pt x="617" y="279"/>
                      <a:pt x="619" y="281"/>
                    </a:cubicBezTo>
                    <a:cubicBezTo>
                      <a:pt x="601" y="275"/>
                      <a:pt x="588" y="289"/>
                      <a:pt x="573" y="292"/>
                    </a:cubicBezTo>
                    <a:cubicBezTo>
                      <a:pt x="565" y="294"/>
                      <a:pt x="556" y="297"/>
                      <a:pt x="549" y="300"/>
                    </a:cubicBezTo>
                    <a:cubicBezTo>
                      <a:pt x="545" y="302"/>
                      <a:pt x="543" y="306"/>
                      <a:pt x="539" y="311"/>
                    </a:cubicBezTo>
                    <a:cubicBezTo>
                      <a:pt x="552" y="316"/>
                      <a:pt x="564" y="321"/>
                      <a:pt x="576" y="325"/>
                    </a:cubicBezTo>
                    <a:cubicBezTo>
                      <a:pt x="592" y="330"/>
                      <a:pt x="604" y="342"/>
                      <a:pt x="614" y="355"/>
                    </a:cubicBezTo>
                    <a:cubicBezTo>
                      <a:pt x="617" y="359"/>
                      <a:pt x="615" y="370"/>
                      <a:pt x="612" y="375"/>
                    </a:cubicBezTo>
                    <a:cubicBezTo>
                      <a:pt x="602" y="388"/>
                      <a:pt x="591" y="400"/>
                      <a:pt x="586" y="416"/>
                    </a:cubicBezTo>
                    <a:cubicBezTo>
                      <a:pt x="586" y="419"/>
                      <a:pt x="585" y="422"/>
                      <a:pt x="584" y="427"/>
                    </a:cubicBezTo>
                    <a:cubicBezTo>
                      <a:pt x="592" y="424"/>
                      <a:pt x="599" y="422"/>
                      <a:pt x="604" y="419"/>
                    </a:cubicBezTo>
                    <a:cubicBezTo>
                      <a:pt x="612" y="414"/>
                      <a:pt x="619" y="408"/>
                      <a:pt x="626" y="403"/>
                    </a:cubicBezTo>
                    <a:cubicBezTo>
                      <a:pt x="628" y="402"/>
                      <a:pt x="630" y="400"/>
                      <a:pt x="632" y="400"/>
                    </a:cubicBezTo>
                    <a:cubicBezTo>
                      <a:pt x="648" y="405"/>
                      <a:pt x="662" y="397"/>
                      <a:pt x="677" y="395"/>
                    </a:cubicBezTo>
                    <a:cubicBezTo>
                      <a:pt x="686" y="394"/>
                      <a:pt x="695" y="390"/>
                      <a:pt x="703" y="388"/>
                    </a:cubicBezTo>
                    <a:cubicBezTo>
                      <a:pt x="714" y="384"/>
                      <a:pt x="722" y="378"/>
                      <a:pt x="729" y="368"/>
                    </a:cubicBezTo>
                    <a:cubicBezTo>
                      <a:pt x="732" y="363"/>
                      <a:pt x="737" y="358"/>
                      <a:pt x="742" y="356"/>
                    </a:cubicBezTo>
                    <a:cubicBezTo>
                      <a:pt x="750" y="353"/>
                      <a:pt x="760" y="352"/>
                      <a:pt x="768" y="351"/>
                    </a:cubicBezTo>
                    <a:cubicBezTo>
                      <a:pt x="775" y="351"/>
                      <a:pt x="782" y="352"/>
                      <a:pt x="788" y="350"/>
                    </a:cubicBezTo>
                    <a:cubicBezTo>
                      <a:pt x="813" y="340"/>
                      <a:pt x="832" y="350"/>
                      <a:pt x="851" y="366"/>
                    </a:cubicBezTo>
                    <a:cubicBezTo>
                      <a:pt x="856" y="370"/>
                      <a:pt x="861" y="372"/>
                      <a:pt x="867" y="376"/>
                    </a:cubicBezTo>
                    <a:cubicBezTo>
                      <a:pt x="875" y="381"/>
                      <a:pt x="883" y="387"/>
                      <a:pt x="891" y="393"/>
                    </a:cubicBezTo>
                    <a:cubicBezTo>
                      <a:pt x="896" y="396"/>
                      <a:pt x="899" y="401"/>
                      <a:pt x="899" y="407"/>
                    </a:cubicBezTo>
                    <a:cubicBezTo>
                      <a:pt x="899" y="409"/>
                      <a:pt x="902" y="411"/>
                      <a:pt x="903" y="413"/>
                    </a:cubicBezTo>
                    <a:cubicBezTo>
                      <a:pt x="904" y="415"/>
                      <a:pt x="906" y="417"/>
                      <a:pt x="907" y="418"/>
                    </a:cubicBezTo>
                    <a:cubicBezTo>
                      <a:pt x="908" y="421"/>
                      <a:pt x="910" y="424"/>
                      <a:pt x="913" y="428"/>
                    </a:cubicBezTo>
                    <a:cubicBezTo>
                      <a:pt x="907" y="432"/>
                      <a:pt x="900" y="437"/>
                      <a:pt x="894" y="441"/>
                    </a:cubicBezTo>
                    <a:cubicBezTo>
                      <a:pt x="888" y="445"/>
                      <a:pt x="879" y="448"/>
                      <a:pt x="880" y="458"/>
                    </a:cubicBezTo>
                    <a:cubicBezTo>
                      <a:pt x="875" y="454"/>
                      <a:pt x="873" y="457"/>
                      <a:pt x="873" y="461"/>
                    </a:cubicBezTo>
                    <a:cubicBezTo>
                      <a:pt x="872" y="466"/>
                      <a:pt x="869" y="468"/>
                      <a:pt x="864" y="469"/>
                    </a:cubicBezTo>
                    <a:cubicBezTo>
                      <a:pt x="858" y="472"/>
                      <a:pt x="852" y="476"/>
                      <a:pt x="846" y="479"/>
                    </a:cubicBezTo>
                    <a:cubicBezTo>
                      <a:pt x="842" y="481"/>
                      <a:pt x="839" y="484"/>
                      <a:pt x="834" y="487"/>
                    </a:cubicBezTo>
                    <a:cubicBezTo>
                      <a:pt x="829" y="470"/>
                      <a:pt x="815" y="469"/>
                      <a:pt x="802" y="467"/>
                    </a:cubicBezTo>
                    <a:cubicBezTo>
                      <a:pt x="800" y="467"/>
                      <a:pt x="798" y="467"/>
                      <a:pt x="798" y="466"/>
                    </a:cubicBezTo>
                    <a:cubicBezTo>
                      <a:pt x="795" y="458"/>
                      <a:pt x="789" y="462"/>
                      <a:pt x="783" y="462"/>
                    </a:cubicBezTo>
                    <a:cubicBezTo>
                      <a:pt x="779" y="462"/>
                      <a:pt x="775" y="461"/>
                      <a:pt x="770" y="459"/>
                    </a:cubicBezTo>
                    <a:cubicBezTo>
                      <a:pt x="760" y="455"/>
                      <a:pt x="751" y="461"/>
                      <a:pt x="750" y="472"/>
                    </a:cubicBezTo>
                    <a:cubicBezTo>
                      <a:pt x="749" y="482"/>
                      <a:pt x="746" y="493"/>
                      <a:pt x="745" y="503"/>
                    </a:cubicBezTo>
                    <a:cubicBezTo>
                      <a:pt x="745" y="513"/>
                      <a:pt x="741" y="520"/>
                      <a:pt x="733" y="527"/>
                    </a:cubicBezTo>
                    <a:cubicBezTo>
                      <a:pt x="729" y="530"/>
                      <a:pt x="730" y="540"/>
                      <a:pt x="728" y="546"/>
                    </a:cubicBezTo>
                    <a:cubicBezTo>
                      <a:pt x="727" y="556"/>
                      <a:pt x="725" y="566"/>
                      <a:pt x="724" y="575"/>
                    </a:cubicBezTo>
                    <a:cubicBezTo>
                      <a:pt x="724" y="587"/>
                      <a:pt x="725" y="598"/>
                      <a:pt x="726" y="610"/>
                    </a:cubicBezTo>
                    <a:cubicBezTo>
                      <a:pt x="726" y="618"/>
                      <a:pt x="726" y="625"/>
                      <a:pt x="724" y="633"/>
                    </a:cubicBezTo>
                    <a:cubicBezTo>
                      <a:pt x="721" y="639"/>
                      <a:pt x="723" y="648"/>
                      <a:pt x="723" y="656"/>
                    </a:cubicBezTo>
                    <a:cubicBezTo>
                      <a:pt x="723" y="660"/>
                      <a:pt x="725" y="665"/>
                      <a:pt x="725" y="670"/>
                    </a:cubicBezTo>
                    <a:cubicBezTo>
                      <a:pt x="726" y="684"/>
                      <a:pt x="726" y="698"/>
                      <a:pt x="725" y="712"/>
                    </a:cubicBezTo>
                    <a:cubicBezTo>
                      <a:pt x="724" y="720"/>
                      <a:pt x="725" y="730"/>
                      <a:pt x="716" y="736"/>
                    </a:cubicBezTo>
                    <a:cubicBezTo>
                      <a:pt x="715" y="737"/>
                      <a:pt x="715" y="740"/>
                      <a:pt x="715" y="742"/>
                    </a:cubicBezTo>
                    <a:cubicBezTo>
                      <a:pt x="715" y="748"/>
                      <a:pt x="718" y="755"/>
                      <a:pt x="708" y="756"/>
                    </a:cubicBezTo>
                    <a:cubicBezTo>
                      <a:pt x="705" y="756"/>
                      <a:pt x="704" y="763"/>
                      <a:pt x="701" y="768"/>
                    </a:cubicBezTo>
                    <a:cubicBezTo>
                      <a:pt x="705" y="770"/>
                      <a:pt x="708" y="771"/>
                      <a:pt x="711" y="772"/>
                    </a:cubicBezTo>
                    <a:cubicBezTo>
                      <a:pt x="708" y="776"/>
                      <a:pt x="705" y="780"/>
                      <a:pt x="702" y="785"/>
                    </a:cubicBezTo>
                    <a:cubicBezTo>
                      <a:pt x="702" y="784"/>
                      <a:pt x="702" y="785"/>
                      <a:pt x="702" y="785"/>
                    </a:cubicBezTo>
                    <a:cubicBezTo>
                      <a:pt x="710" y="794"/>
                      <a:pt x="704" y="802"/>
                      <a:pt x="700" y="811"/>
                    </a:cubicBezTo>
                    <a:cubicBezTo>
                      <a:pt x="697" y="818"/>
                      <a:pt x="695" y="826"/>
                      <a:pt x="693" y="834"/>
                    </a:cubicBezTo>
                    <a:cubicBezTo>
                      <a:pt x="690" y="845"/>
                      <a:pt x="687" y="856"/>
                      <a:pt x="685" y="866"/>
                    </a:cubicBezTo>
                    <a:cubicBezTo>
                      <a:pt x="685" y="867"/>
                      <a:pt x="684" y="867"/>
                      <a:pt x="684" y="867"/>
                    </a:cubicBezTo>
                    <a:cubicBezTo>
                      <a:pt x="676" y="871"/>
                      <a:pt x="680" y="879"/>
                      <a:pt x="677" y="885"/>
                    </a:cubicBezTo>
                    <a:cubicBezTo>
                      <a:pt x="674" y="891"/>
                      <a:pt x="671" y="898"/>
                      <a:pt x="670" y="904"/>
                    </a:cubicBezTo>
                    <a:cubicBezTo>
                      <a:pt x="668" y="911"/>
                      <a:pt x="668" y="918"/>
                      <a:pt x="661" y="921"/>
                    </a:cubicBezTo>
                    <a:cubicBezTo>
                      <a:pt x="660" y="922"/>
                      <a:pt x="660" y="923"/>
                      <a:pt x="659" y="925"/>
                    </a:cubicBezTo>
                    <a:cubicBezTo>
                      <a:pt x="656" y="935"/>
                      <a:pt x="653" y="945"/>
                      <a:pt x="651" y="956"/>
                    </a:cubicBezTo>
                    <a:cubicBezTo>
                      <a:pt x="650" y="962"/>
                      <a:pt x="650" y="969"/>
                      <a:pt x="650" y="975"/>
                    </a:cubicBezTo>
                    <a:cubicBezTo>
                      <a:pt x="649" y="975"/>
                      <a:pt x="648" y="975"/>
                      <a:pt x="646" y="975"/>
                    </a:cubicBezTo>
                    <a:cubicBezTo>
                      <a:pt x="645" y="966"/>
                      <a:pt x="643" y="957"/>
                      <a:pt x="643" y="948"/>
                    </a:cubicBezTo>
                    <a:cubicBezTo>
                      <a:pt x="642" y="940"/>
                      <a:pt x="643" y="932"/>
                      <a:pt x="644" y="925"/>
                    </a:cubicBezTo>
                    <a:cubicBezTo>
                      <a:pt x="644" y="922"/>
                      <a:pt x="645" y="919"/>
                      <a:pt x="645" y="916"/>
                    </a:cubicBezTo>
                    <a:cubicBezTo>
                      <a:pt x="645" y="912"/>
                      <a:pt x="644" y="907"/>
                      <a:pt x="644" y="903"/>
                    </a:cubicBezTo>
                    <a:cubicBezTo>
                      <a:pt x="643" y="899"/>
                      <a:pt x="642" y="896"/>
                      <a:pt x="642" y="893"/>
                    </a:cubicBezTo>
                    <a:cubicBezTo>
                      <a:pt x="642" y="888"/>
                      <a:pt x="642" y="884"/>
                      <a:pt x="642" y="880"/>
                    </a:cubicBezTo>
                    <a:cubicBezTo>
                      <a:pt x="640" y="869"/>
                      <a:pt x="638" y="857"/>
                      <a:pt x="636" y="845"/>
                    </a:cubicBezTo>
                    <a:cubicBezTo>
                      <a:pt x="636" y="841"/>
                      <a:pt x="638" y="835"/>
                      <a:pt x="638" y="830"/>
                    </a:cubicBezTo>
                    <a:cubicBezTo>
                      <a:pt x="639" y="829"/>
                      <a:pt x="638" y="828"/>
                      <a:pt x="638" y="826"/>
                    </a:cubicBezTo>
                    <a:cubicBezTo>
                      <a:pt x="637" y="822"/>
                      <a:pt x="635" y="819"/>
                      <a:pt x="638" y="815"/>
                    </a:cubicBezTo>
                    <a:cubicBezTo>
                      <a:pt x="639" y="814"/>
                      <a:pt x="638" y="811"/>
                      <a:pt x="638" y="808"/>
                    </a:cubicBezTo>
                    <a:cubicBezTo>
                      <a:pt x="637" y="803"/>
                      <a:pt x="635" y="797"/>
                      <a:pt x="635" y="791"/>
                    </a:cubicBezTo>
                    <a:cubicBezTo>
                      <a:pt x="635" y="757"/>
                      <a:pt x="636" y="723"/>
                      <a:pt x="636" y="688"/>
                    </a:cubicBezTo>
                    <a:cubicBezTo>
                      <a:pt x="636" y="672"/>
                      <a:pt x="632" y="655"/>
                      <a:pt x="631" y="638"/>
                    </a:cubicBezTo>
                    <a:cubicBezTo>
                      <a:pt x="630" y="625"/>
                      <a:pt x="630" y="611"/>
                      <a:pt x="630" y="598"/>
                    </a:cubicBezTo>
                    <a:cubicBezTo>
                      <a:pt x="630" y="584"/>
                      <a:pt x="631" y="571"/>
                      <a:pt x="631" y="558"/>
                    </a:cubicBezTo>
                    <a:cubicBezTo>
                      <a:pt x="631" y="545"/>
                      <a:pt x="630" y="532"/>
                      <a:pt x="629" y="519"/>
                    </a:cubicBezTo>
                    <a:cubicBezTo>
                      <a:pt x="628" y="512"/>
                      <a:pt x="626" y="505"/>
                      <a:pt x="625" y="498"/>
                    </a:cubicBezTo>
                    <a:cubicBezTo>
                      <a:pt x="606" y="505"/>
                      <a:pt x="589" y="511"/>
                      <a:pt x="573" y="518"/>
                    </a:cubicBezTo>
                    <a:cubicBezTo>
                      <a:pt x="568" y="521"/>
                      <a:pt x="564" y="527"/>
                      <a:pt x="562" y="532"/>
                    </a:cubicBezTo>
                    <a:cubicBezTo>
                      <a:pt x="556" y="547"/>
                      <a:pt x="552" y="562"/>
                      <a:pt x="546" y="577"/>
                    </a:cubicBezTo>
                    <a:cubicBezTo>
                      <a:pt x="545" y="582"/>
                      <a:pt x="545" y="586"/>
                      <a:pt x="538" y="587"/>
                    </a:cubicBezTo>
                    <a:cubicBezTo>
                      <a:pt x="535" y="587"/>
                      <a:pt x="532" y="593"/>
                      <a:pt x="528" y="598"/>
                    </a:cubicBezTo>
                    <a:cubicBezTo>
                      <a:pt x="521" y="591"/>
                      <a:pt x="517" y="598"/>
                      <a:pt x="514" y="603"/>
                    </a:cubicBezTo>
                    <a:cubicBezTo>
                      <a:pt x="504" y="619"/>
                      <a:pt x="490" y="631"/>
                      <a:pt x="474" y="642"/>
                    </a:cubicBezTo>
                    <a:cubicBezTo>
                      <a:pt x="465" y="648"/>
                      <a:pt x="460" y="659"/>
                      <a:pt x="452" y="665"/>
                    </a:cubicBezTo>
                    <a:cubicBezTo>
                      <a:pt x="446" y="669"/>
                      <a:pt x="443" y="675"/>
                      <a:pt x="438" y="679"/>
                    </a:cubicBezTo>
                    <a:cubicBezTo>
                      <a:pt x="432" y="686"/>
                      <a:pt x="425" y="692"/>
                      <a:pt x="417" y="699"/>
                    </a:cubicBezTo>
                    <a:cubicBezTo>
                      <a:pt x="451" y="658"/>
                      <a:pt x="466" y="609"/>
                      <a:pt x="478" y="557"/>
                    </a:cubicBezTo>
                    <a:cubicBezTo>
                      <a:pt x="466" y="566"/>
                      <a:pt x="456" y="574"/>
                      <a:pt x="451" y="588"/>
                    </a:cubicBezTo>
                    <a:cubicBezTo>
                      <a:pt x="456" y="584"/>
                      <a:pt x="459" y="582"/>
                      <a:pt x="463" y="578"/>
                    </a:cubicBezTo>
                    <a:cubicBezTo>
                      <a:pt x="460" y="597"/>
                      <a:pt x="448" y="610"/>
                      <a:pt x="436" y="623"/>
                    </a:cubicBezTo>
                    <a:cubicBezTo>
                      <a:pt x="426" y="634"/>
                      <a:pt x="416" y="644"/>
                      <a:pt x="406" y="654"/>
                    </a:cubicBezTo>
                    <a:cubicBezTo>
                      <a:pt x="402" y="658"/>
                      <a:pt x="401" y="661"/>
                      <a:pt x="404" y="665"/>
                    </a:cubicBezTo>
                    <a:cubicBezTo>
                      <a:pt x="407" y="671"/>
                      <a:pt x="410" y="677"/>
                      <a:pt x="414" y="683"/>
                    </a:cubicBezTo>
                    <a:cubicBezTo>
                      <a:pt x="418" y="688"/>
                      <a:pt x="418" y="694"/>
                      <a:pt x="415" y="700"/>
                    </a:cubicBezTo>
                    <a:cubicBezTo>
                      <a:pt x="413" y="703"/>
                      <a:pt x="412" y="707"/>
                      <a:pt x="412" y="710"/>
                    </a:cubicBezTo>
                    <a:cubicBezTo>
                      <a:pt x="414" y="720"/>
                      <a:pt x="408" y="726"/>
                      <a:pt x="403" y="732"/>
                    </a:cubicBezTo>
                    <a:cubicBezTo>
                      <a:pt x="402" y="733"/>
                      <a:pt x="401" y="733"/>
                      <a:pt x="400" y="734"/>
                    </a:cubicBezTo>
                    <a:cubicBezTo>
                      <a:pt x="394" y="746"/>
                      <a:pt x="383" y="749"/>
                      <a:pt x="371" y="751"/>
                    </a:cubicBezTo>
                    <a:cubicBezTo>
                      <a:pt x="366" y="751"/>
                      <a:pt x="355" y="745"/>
                      <a:pt x="352" y="740"/>
                    </a:cubicBezTo>
                    <a:cubicBezTo>
                      <a:pt x="342" y="725"/>
                      <a:pt x="333" y="710"/>
                      <a:pt x="323" y="695"/>
                    </a:cubicBezTo>
                    <a:cubicBezTo>
                      <a:pt x="322" y="693"/>
                      <a:pt x="321" y="691"/>
                      <a:pt x="321" y="690"/>
                    </a:cubicBezTo>
                    <a:cubicBezTo>
                      <a:pt x="322" y="679"/>
                      <a:pt x="316" y="669"/>
                      <a:pt x="307" y="665"/>
                    </a:cubicBezTo>
                    <a:cubicBezTo>
                      <a:pt x="299" y="661"/>
                      <a:pt x="298" y="660"/>
                      <a:pt x="305" y="653"/>
                    </a:cubicBezTo>
                    <a:cubicBezTo>
                      <a:pt x="306" y="652"/>
                      <a:pt x="308" y="651"/>
                      <a:pt x="310" y="649"/>
                    </a:cubicBezTo>
                    <a:cubicBezTo>
                      <a:pt x="305" y="647"/>
                      <a:pt x="302" y="646"/>
                      <a:pt x="298" y="645"/>
                    </a:cubicBezTo>
                    <a:cubicBezTo>
                      <a:pt x="299" y="643"/>
                      <a:pt x="299" y="641"/>
                      <a:pt x="300" y="640"/>
                    </a:cubicBezTo>
                    <a:cubicBezTo>
                      <a:pt x="313" y="628"/>
                      <a:pt x="326" y="618"/>
                      <a:pt x="345" y="621"/>
                    </a:cubicBezTo>
                    <a:cubicBezTo>
                      <a:pt x="352" y="622"/>
                      <a:pt x="359" y="625"/>
                      <a:pt x="367" y="627"/>
                    </a:cubicBezTo>
                    <a:cubicBezTo>
                      <a:pt x="370" y="628"/>
                      <a:pt x="374" y="629"/>
                      <a:pt x="377" y="627"/>
                    </a:cubicBezTo>
                    <a:cubicBezTo>
                      <a:pt x="396" y="615"/>
                      <a:pt x="416" y="603"/>
                      <a:pt x="434" y="589"/>
                    </a:cubicBezTo>
                    <a:cubicBezTo>
                      <a:pt x="446" y="580"/>
                      <a:pt x="456" y="568"/>
                      <a:pt x="468" y="557"/>
                    </a:cubicBezTo>
                    <a:cubicBezTo>
                      <a:pt x="468" y="557"/>
                      <a:pt x="468" y="556"/>
                      <a:pt x="469" y="556"/>
                    </a:cubicBezTo>
                    <a:cubicBezTo>
                      <a:pt x="484" y="551"/>
                      <a:pt x="482" y="538"/>
                      <a:pt x="482" y="527"/>
                    </a:cubicBezTo>
                    <a:cubicBezTo>
                      <a:pt x="482" y="523"/>
                      <a:pt x="484" y="518"/>
                      <a:pt x="484" y="514"/>
                    </a:cubicBezTo>
                    <a:cubicBezTo>
                      <a:pt x="485" y="512"/>
                      <a:pt x="486" y="510"/>
                      <a:pt x="486" y="508"/>
                    </a:cubicBezTo>
                    <a:cubicBezTo>
                      <a:pt x="483" y="496"/>
                      <a:pt x="488" y="486"/>
                      <a:pt x="489" y="475"/>
                    </a:cubicBezTo>
                    <a:cubicBezTo>
                      <a:pt x="492" y="456"/>
                      <a:pt x="492" y="437"/>
                      <a:pt x="492" y="418"/>
                    </a:cubicBezTo>
                    <a:cubicBezTo>
                      <a:pt x="492" y="409"/>
                      <a:pt x="490" y="399"/>
                      <a:pt x="489" y="390"/>
                    </a:cubicBezTo>
                    <a:cubicBezTo>
                      <a:pt x="488" y="382"/>
                      <a:pt x="484" y="378"/>
                      <a:pt x="476" y="375"/>
                    </a:cubicBezTo>
                    <a:cubicBezTo>
                      <a:pt x="477" y="382"/>
                      <a:pt x="476" y="388"/>
                      <a:pt x="467" y="389"/>
                    </a:cubicBezTo>
                    <a:cubicBezTo>
                      <a:pt x="468" y="392"/>
                      <a:pt x="469" y="395"/>
                      <a:pt x="470" y="397"/>
                    </a:cubicBezTo>
                    <a:cubicBezTo>
                      <a:pt x="465" y="402"/>
                      <a:pt x="462" y="407"/>
                      <a:pt x="458" y="411"/>
                    </a:cubicBezTo>
                    <a:cubicBezTo>
                      <a:pt x="456" y="413"/>
                      <a:pt x="452" y="414"/>
                      <a:pt x="447" y="416"/>
                    </a:cubicBezTo>
                    <a:cubicBezTo>
                      <a:pt x="445" y="422"/>
                      <a:pt x="441" y="428"/>
                      <a:pt x="432" y="428"/>
                    </a:cubicBezTo>
                    <a:cubicBezTo>
                      <a:pt x="430" y="428"/>
                      <a:pt x="429" y="430"/>
                      <a:pt x="428" y="431"/>
                    </a:cubicBezTo>
                    <a:cubicBezTo>
                      <a:pt x="429" y="433"/>
                      <a:pt x="431" y="434"/>
                      <a:pt x="433" y="438"/>
                    </a:cubicBezTo>
                    <a:cubicBezTo>
                      <a:pt x="428" y="440"/>
                      <a:pt x="424" y="442"/>
                      <a:pt x="419" y="443"/>
                    </a:cubicBezTo>
                    <a:cubicBezTo>
                      <a:pt x="403" y="443"/>
                      <a:pt x="387" y="443"/>
                      <a:pt x="371" y="443"/>
                    </a:cubicBezTo>
                    <a:cubicBezTo>
                      <a:pt x="369" y="443"/>
                      <a:pt x="368" y="444"/>
                      <a:pt x="366" y="444"/>
                    </a:cubicBezTo>
                    <a:cubicBezTo>
                      <a:pt x="350" y="450"/>
                      <a:pt x="334" y="456"/>
                      <a:pt x="318" y="461"/>
                    </a:cubicBezTo>
                    <a:cubicBezTo>
                      <a:pt x="313" y="463"/>
                      <a:pt x="307" y="462"/>
                      <a:pt x="301" y="463"/>
                    </a:cubicBezTo>
                    <a:cubicBezTo>
                      <a:pt x="305" y="458"/>
                      <a:pt x="308" y="454"/>
                      <a:pt x="311" y="451"/>
                    </a:cubicBezTo>
                    <a:cubicBezTo>
                      <a:pt x="311" y="450"/>
                      <a:pt x="311" y="450"/>
                      <a:pt x="311" y="449"/>
                    </a:cubicBezTo>
                    <a:cubicBezTo>
                      <a:pt x="302" y="452"/>
                      <a:pt x="294" y="454"/>
                      <a:pt x="286" y="457"/>
                    </a:cubicBezTo>
                    <a:cubicBezTo>
                      <a:pt x="277" y="462"/>
                      <a:pt x="265" y="460"/>
                      <a:pt x="257" y="467"/>
                    </a:cubicBezTo>
                    <a:cubicBezTo>
                      <a:pt x="256" y="468"/>
                      <a:pt x="255" y="469"/>
                      <a:pt x="253" y="470"/>
                    </a:cubicBezTo>
                    <a:close/>
                    <a:moveTo>
                      <a:pt x="157" y="434"/>
                    </a:moveTo>
                    <a:cubicBezTo>
                      <a:pt x="176" y="428"/>
                      <a:pt x="198" y="415"/>
                      <a:pt x="218" y="397"/>
                    </a:cubicBezTo>
                    <a:cubicBezTo>
                      <a:pt x="251" y="368"/>
                      <a:pt x="278" y="334"/>
                      <a:pt x="295" y="293"/>
                    </a:cubicBezTo>
                    <a:cubicBezTo>
                      <a:pt x="296" y="291"/>
                      <a:pt x="296" y="287"/>
                      <a:pt x="295" y="286"/>
                    </a:cubicBezTo>
                    <a:cubicBezTo>
                      <a:pt x="292" y="280"/>
                      <a:pt x="288" y="276"/>
                      <a:pt x="284" y="270"/>
                    </a:cubicBezTo>
                    <a:cubicBezTo>
                      <a:pt x="280" y="276"/>
                      <a:pt x="277" y="282"/>
                      <a:pt x="274" y="287"/>
                    </a:cubicBezTo>
                    <a:cubicBezTo>
                      <a:pt x="272" y="289"/>
                      <a:pt x="271" y="292"/>
                      <a:pt x="269" y="294"/>
                    </a:cubicBezTo>
                    <a:cubicBezTo>
                      <a:pt x="246" y="318"/>
                      <a:pt x="222" y="341"/>
                      <a:pt x="198" y="365"/>
                    </a:cubicBezTo>
                    <a:cubicBezTo>
                      <a:pt x="193" y="370"/>
                      <a:pt x="189" y="377"/>
                      <a:pt x="184" y="382"/>
                    </a:cubicBezTo>
                    <a:cubicBezTo>
                      <a:pt x="179" y="386"/>
                      <a:pt x="179" y="396"/>
                      <a:pt x="170" y="396"/>
                    </a:cubicBezTo>
                    <a:cubicBezTo>
                      <a:pt x="166" y="408"/>
                      <a:pt x="161" y="420"/>
                      <a:pt x="157" y="434"/>
                    </a:cubicBezTo>
                    <a:close/>
                    <a:moveTo>
                      <a:pt x="97" y="765"/>
                    </a:moveTo>
                    <a:cubicBezTo>
                      <a:pt x="114" y="767"/>
                      <a:pt x="130" y="770"/>
                      <a:pt x="147" y="770"/>
                    </a:cubicBezTo>
                    <a:cubicBezTo>
                      <a:pt x="162" y="770"/>
                      <a:pt x="178" y="768"/>
                      <a:pt x="194" y="766"/>
                    </a:cubicBezTo>
                    <a:cubicBezTo>
                      <a:pt x="196" y="766"/>
                      <a:pt x="198" y="763"/>
                      <a:pt x="198" y="761"/>
                    </a:cubicBezTo>
                    <a:cubicBezTo>
                      <a:pt x="198" y="737"/>
                      <a:pt x="197" y="712"/>
                      <a:pt x="197" y="688"/>
                    </a:cubicBezTo>
                    <a:cubicBezTo>
                      <a:pt x="197" y="688"/>
                      <a:pt x="196" y="687"/>
                      <a:pt x="194" y="685"/>
                    </a:cubicBezTo>
                    <a:cubicBezTo>
                      <a:pt x="160" y="710"/>
                      <a:pt x="125" y="733"/>
                      <a:pt x="97" y="765"/>
                    </a:cubicBezTo>
                    <a:close/>
                  </a:path>
                </a:pathLst>
              </a:custGeom>
              <a:solidFill>
                <a:srgbClr val="7CD5F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84" name="Freeform 9"/>
              <p:cNvSpPr>
                <a:spLocks/>
              </p:cNvSpPr>
              <p:nvPr userDrawn="1"/>
            </p:nvSpPr>
            <p:spPr bwMode="auto">
              <a:xfrm>
                <a:off x="-3259138" y="3556000"/>
                <a:ext cx="425450" cy="546100"/>
              </a:xfrm>
              <a:custGeom>
                <a:avLst/>
                <a:gdLst>
                  <a:gd name="T0" fmla="*/ 4 w 603"/>
                  <a:gd name="T1" fmla="*/ 773 h 773"/>
                  <a:gd name="T2" fmla="*/ 22 w 603"/>
                  <a:gd name="T3" fmla="*/ 689 h 773"/>
                  <a:gd name="T4" fmla="*/ 123 w 603"/>
                  <a:gd name="T5" fmla="*/ 421 h 773"/>
                  <a:gd name="T6" fmla="*/ 129 w 603"/>
                  <a:gd name="T7" fmla="*/ 30 h 773"/>
                  <a:gd name="T8" fmla="*/ 129 w 603"/>
                  <a:gd name="T9" fmla="*/ 0 h 773"/>
                  <a:gd name="T10" fmla="*/ 449 w 603"/>
                  <a:gd name="T11" fmla="*/ 0 h 773"/>
                  <a:gd name="T12" fmla="*/ 449 w 603"/>
                  <a:gd name="T13" fmla="*/ 700 h 773"/>
                  <a:gd name="T14" fmla="*/ 520 w 603"/>
                  <a:gd name="T15" fmla="*/ 700 h 773"/>
                  <a:gd name="T16" fmla="*/ 520 w 603"/>
                  <a:gd name="T17" fmla="*/ 490 h 773"/>
                  <a:gd name="T18" fmla="*/ 603 w 603"/>
                  <a:gd name="T19" fmla="*/ 490 h 773"/>
                  <a:gd name="T20" fmla="*/ 603 w 603"/>
                  <a:gd name="T21" fmla="*/ 760 h 773"/>
                  <a:gd name="T22" fmla="*/ 349 w 603"/>
                  <a:gd name="T23" fmla="*/ 760 h 773"/>
                  <a:gd name="T24" fmla="*/ 349 w 603"/>
                  <a:gd name="T25" fmla="*/ 59 h 773"/>
                  <a:gd name="T26" fmla="*/ 232 w 603"/>
                  <a:gd name="T27" fmla="*/ 59 h 773"/>
                  <a:gd name="T28" fmla="*/ 230 w 603"/>
                  <a:gd name="T29" fmla="*/ 83 h 773"/>
                  <a:gd name="T30" fmla="*/ 227 w 603"/>
                  <a:gd name="T31" fmla="*/ 402 h 773"/>
                  <a:gd name="T32" fmla="*/ 23 w 603"/>
                  <a:gd name="T33" fmla="*/ 762 h 773"/>
                  <a:gd name="T34" fmla="*/ 4 w 603"/>
                  <a:gd name="T35" fmla="*/ 773 h 7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03" h="773">
                    <a:moveTo>
                      <a:pt x="4" y="773"/>
                    </a:moveTo>
                    <a:cubicBezTo>
                      <a:pt x="2" y="741"/>
                      <a:pt x="0" y="716"/>
                      <a:pt x="22" y="689"/>
                    </a:cubicBezTo>
                    <a:cubicBezTo>
                      <a:pt x="86" y="612"/>
                      <a:pt x="119" y="520"/>
                      <a:pt x="123" y="421"/>
                    </a:cubicBezTo>
                    <a:cubicBezTo>
                      <a:pt x="128" y="291"/>
                      <a:pt x="127" y="160"/>
                      <a:pt x="129" y="30"/>
                    </a:cubicBezTo>
                    <a:cubicBezTo>
                      <a:pt x="129" y="20"/>
                      <a:pt x="129" y="11"/>
                      <a:pt x="129" y="0"/>
                    </a:cubicBezTo>
                    <a:cubicBezTo>
                      <a:pt x="236" y="0"/>
                      <a:pt x="341" y="0"/>
                      <a:pt x="449" y="0"/>
                    </a:cubicBezTo>
                    <a:cubicBezTo>
                      <a:pt x="449" y="232"/>
                      <a:pt x="449" y="465"/>
                      <a:pt x="449" y="700"/>
                    </a:cubicBezTo>
                    <a:cubicBezTo>
                      <a:pt x="473" y="700"/>
                      <a:pt x="496" y="700"/>
                      <a:pt x="520" y="700"/>
                    </a:cubicBezTo>
                    <a:cubicBezTo>
                      <a:pt x="520" y="630"/>
                      <a:pt x="520" y="561"/>
                      <a:pt x="520" y="490"/>
                    </a:cubicBezTo>
                    <a:cubicBezTo>
                      <a:pt x="549" y="490"/>
                      <a:pt x="576" y="490"/>
                      <a:pt x="603" y="490"/>
                    </a:cubicBezTo>
                    <a:cubicBezTo>
                      <a:pt x="603" y="580"/>
                      <a:pt x="603" y="669"/>
                      <a:pt x="603" y="760"/>
                    </a:cubicBezTo>
                    <a:cubicBezTo>
                      <a:pt x="519" y="760"/>
                      <a:pt x="435" y="760"/>
                      <a:pt x="349" y="760"/>
                    </a:cubicBezTo>
                    <a:cubicBezTo>
                      <a:pt x="349" y="527"/>
                      <a:pt x="349" y="294"/>
                      <a:pt x="349" y="59"/>
                    </a:cubicBezTo>
                    <a:cubicBezTo>
                      <a:pt x="309" y="59"/>
                      <a:pt x="271" y="59"/>
                      <a:pt x="232" y="59"/>
                    </a:cubicBezTo>
                    <a:cubicBezTo>
                      <a:pt x="231" y="67"/>
                      <a:pt x="231" y="75"/>
                      <a:pt x="230" y="83"/>
                    </a:cubicBezTo>
                    <a:cubicBezTo>
                      <a:pt x="230" y="189"/>
                      <a:pt x="232" y="296"/>
                      <a:pt x="227" y="402"/>
                    </a:cubicBezTo>
                    <a:cubicBezTo>
                      <a:pt x="220" y="556"/>
                      <a:pt x="155" y="679"/>
                      <a:pt x="23" y="762"/>
                    </a:cubicBezTo>
                    <a:cubicBezTo>
                      <a:pt x="17" y="765"/>
                      <a:pt x="11" y="768"/>
                      <a:pt x="4" y="77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85" name="Freeform 10"/>
              <p:cNvSpPr>
                <a:spLocks/>
              </p:cNvSpPr>
              <p:nvPr userDrawn="1"/>
            </p:nvSpPr>
            <p:spPr bwMode="auto">
              <a:xfrm>
                <a:off x="-2730500" y="3844925"/>
                <a:ext cx="550862" cy="261937"/>
              </a:xfrm>
              <a:custGeom>
                <a:avLst/>
                <a:gdLst>
                  <a:gd name="T0" fmla="*/ 780 w 780"/>
                  <a:gd name="T1" fmla="*/ 0 h 371"/>
                  <a:gd name="T2" fmla="*/ 780 w 780"/>
                  <a:gd name="T3" fmla="*/ 59 h 371"/>
                  <a:gd name="T4" fmla="*/ 756 w 780"/>
                  <a:gd name="T5" fmla="*/ 59 h 371"/>
                  <a:gd name="T6" fmla="*/ 380 w 780"/>
                  <a:gd name="T7" fmla="*/ 60 h 371"/>
                  <a:gd name="T8" fmla="*/ 358 w 780"/>
                  <a:gd name="T9" fmla="*/ 68 h 371"/>
                  <a:gd name="T10" fmla="*/ 208 w 780"/>
                  <a:gd name="T11" fmla="*/ 252 h 371"/>
                  <a:gd name="T12" fmla="*/ 548 w 780"/>
                  <a:gd name="T13" fmla="*/ 237 h 371"/>
                  <a:gd name="T14" fmla="*/ 457 w 780"/>
                  <a:gd name="T15" fmla="*/ 104 h 371"/>
                  <a:gd name="T16" fmla="*/ 450 w 780"/>
                  <a:gd name="T17" fmla="*/ 86 h 371"/>
                  <a:gd name="T18" fmla="*/ 553 w 780"/>
                  <a:gd name="T19" fmla="*/ 86 h 371"/>
                  <a:gd name="T20" fmla="*/ 570 w 780"/>
                  <a:gd name="T21" fmla="*/ 104 h 371"/>
                  <a:gd name="T22" fmla="*/ 717 w 780"/>
                  <a:gd name="T23" fmla="*/ 286 h 371"/>
                  <a:gd name="T24" fmla="*/ 744 w 780"/>
                  <a:gd name="T25" fmla="*/ 371 h 371"/>
                  <a:gd name="T26" fmla="*/ 651 w 780"/>
                  <a:gd name="T27" fmla="*/ 315 h 371"/>
                  <a:gd name="T28" fmla="*/ 562 w 780"/>
                  <a:gd name="T29" fmla="*/ 295 h 371"/>
                  <a:gd name="T30" fmla="*/ 397 w 780"/>
                  <a:gd name="T31" fmla="*/ 310 h 371"/>
                  <a:gd name="T32" fmla="*/ 92 w 780"/>
                  <a:gd name="T33" fmla="*/ 334 h 371"/>
                  <a:gd name="T34" fmla="*/ 60 w 780"/>
                  <a:gd name="T35" fmla="*/ 336 h 371"/>
                  <a:gd name="T36" fmla="*/ 60 w 780"/>
                  <a:gd name="T37" fmla="*/ 262 h 371"/>
                  <a:gd name="T38" fmla="*/ 63 w 780"/>
                  <a:gd name="T39" fmla="*/ 259 h 371"/>
                  <a:gd name="T40" fmla="*/ 144 w 780"/>
                  <a:gd name="T41" fmla="*/ 214 h 371"/>
                  <a:gd name="T42" fmla="*/ 230 w 780"/>
                  <a:gd name="T43" fmla="*/ 70 h 371"/>
                  <a:gd name="T44" fmla="*/ 234 w 780"/>
                  <a:gd name="T45" fmla="*/ 59 h 371"/>
                  <a:gd name="T46" fmla="*/ 0 w 780"/>
                  <a:gd name="T47" fmla="*/ 59 h 371"/>
                  <a:gd name="T48" fmla="*/ 0 w 780"/>
                  <a:gd name="T49" fmla="*/ 0 h 371"/>
                  <a:gd name="T50" fmla="*/ 780 w 780"/>
                  <a:gd name="T51" fmla="*/ 0 h 3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780" h="371">
                    <a:moveTo>
                      <a:pt x="780" y="0"/>
                    </a:moveTo>
                    <a:cubicBezTo>
                      <a:pt x="780" y="20"/>
                      <a:pt x="780" y="38"/>
                      <a:pt x="780" y="59"/>
                    </a:cubicBezTo>
                    <a:cubicBezTo>
                      <a:pt x="771" y="59"/>
                      <a:pt x="764" y="59"/>
                      <a:pt x="756" y="59"/>
                    </a:cubicBezTo>
                    <a:cubicBezTo>
                      <a:pt x="631" y="59"/>
                      <a:pt x="505" y="59"/>
                      <a:pt x="380" y="60"/>
                    </a:cubicBezTo>
                    <a:cubicBezTo>
                      <a:pt x="373" y="60"/>
                      <a:pt x="361" y="62"/>
                      <a:pt x="358" y="68"/>
                    </a:cubicBezTo>
                    <a:cubicBezTo>
                      <a:pt x="315" y="134"/>
                      <a:pt x="267" y="195"/>
                      <a:pt x="208" y="252"/>
                    </a:cubicBezTo>
                    <a:cubicBezTo>
                      <a:pt x="322" y="247"/>
                      <a:pt x="436" y="242"/>
                      <a:pt x="548" y="237"/>
                    </a:cubicBezTo>
                    <a:cubicBezTo>
                      <a:pt x="517" y="192"/>
                      <a:pt x="487" y="148"/>
                      <a:pt x="457" y="104"/>
                    </a:cubicBezTo>
                    <a:cubicBezTo>
                      <a:pt x="454" y="99"/>
                      <a:pt x="453" y="93"/>
                      <a:pt x="450" y="86"/>
                    </a:cubicBezTo>
                    <a:cubicBezTo>
                      <a:pt x="486" y="86"/>
                      <a:pt x="519" y="85"/>
                      <a:pt x="553" y="86"/>
                    </a:cubicBezTo>
                    <a:cubicBezTo>
                      <a:pt x="559" y="87"/>
                      <a:pt x="566" y="97"/>
                      <a:pt x="570" y="104"/>
                    </a:cubicBezTo>
                    <a:cubicBezTo>
                      <a:pt x="609" y="173"/>
                      <a:pt x="657" y="234"/>
                      <a:pt x="717" y="286"/>
                    </a:cubicBezTo>
                    <a:cubicBezTo>
                      <a:pt x="752" y="315"/>
                      <a:pt x="753" y="317"/>
                      <a:pt x="744" y="371"/>
                    </a:cubicBezTo>
                    <a:cubicBezTo>
                      <a:pt x="712" y="352"/>
                      <a:pt x="679" y="337"/>
                      <a:pt x="651" y="315"/>
                    </a:cubicBezTo>
                    <a:cubicBezTo>
                      <a:pt x="623" y="293"/>
                      <a:pt x="598" y="287"/>
                      <a:pt x="562" y="295"/>
                    </a:cubicBezTo>
                    <a:cubicBezTo>
                      <a:pt x="508" y="306"/>
                      <a:pt x="452" y="306"/>
                      <a:pt x="397" y="310"/>
                    </a:cubicBezTo>
                    <a:cubicBezTo>
                      <a:pt x="296" y="319"/>
                      <a:pt x="194" y="326"/>
                      <a:pt x="92" y="334"/>
                    </a:cubicBezTo>
                    <a:cubicBezTo>
                      <a:pt x="82" y="335"/>
                      <a:pt x="71" y="335"/>
                      <a:pt x="60" y="336"/>
                    </a:cubicBezTo>
                    <a:cubicBezTo>
                      <a:pt x="60" y="310"/>
                      <a:pt x="60" y="286"/>
                      <a:pt x="60" y="262"/>
                    </a:cubicBezTo>
                    <a:cubicBezTo>
                      <a:pt x="61" y="261"/>
                      <a:pt x="62" y="259"/>
                      <a:pt x="63" y="259"/>
                    </a:cubicBezTo>
                    <a:cubicBezTo>
                      <a:pt x="102" y="265"/>
                      <a:pt x="126" y="244"/>
                      <a:pt x="144" y="214"/>
                    </a:cubicBezTo>
                    <a:cubicBezTo>
                      <a:pt x="173" y="166"/>
                      <a:pt x="202" y="118"/>
                      <a:pt x="230" y="70"/>
                    </a:cubicBezTo>
                    <a:cubicBezTo>
                      <a:pt x="232" y="68"/>
                      <a:pt x="233" y="65"/>
                      <a:pt x="234" y="59"/>
                    </a:cubicBezTo>
                    <a:cubicBezTo>
                      <a:pt x="155" y="59"/>
                      <a:pt x="78" y="59"/>
                      <a:pt x="0" y="59"/>
                    </a:cubicBezTo>
                    <a:cubicBezTo>
                      <a:pt x="0" y="39"/>
                      <a:pt x="0" y="20"/>
                      <a:pt x="0" y="0"/>
                    </a:cubicBezTo>
                    <a:cubicBezTo>
                      <a:pt x="260" y="0"/>
                      <a:pt x="519" y="0"/>
                      <a:pt x="78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86" name="Freeform 11"/>
              <p:cNvSpPr>
                <a:spLocks/>
              </p:cNvSpPr>
              <p:nvPr userDrawn="1"/>
            </p:nvSpPr>
            <p:spPr bwMode="auto">
              <a:xfrm>
                <a:off x="-3430588" y="3524250"/>
                <a:ext cx="244475" cy="577850"/>
              </a:xfrm>
              <a:custGeom>
                <a:avLst/>
                <a:gdLst>
                  <a:gd name="T0" fmla="*/ 122 w 345"/>
                  <a:gd name="T1" fmla="*/ 476 h 820"/>
                  <a:gd name="T2" fmla="*/ 4 w 345"/>
                  <a:gd name="T3" fmla="*/ 599 h 820"/>
                  <a:gd name="T4" fmla="*/ 17 w 345"/>
                  <a:gd name="T5" fmla="*/ 516 h 820"/>
                  <a:gd name="T6" fmla="*/ 101 w 345"/>
                  <a:gd name="T7" fmla="*/ 240 h 820"/>
                  <a:gd name="T8" fmla="*/ 101 w 345"/>
                  <a:gd name="T9" fmla="*/ 228 h 820"/>
                  <a:gd name="T10" fmla="*/ 11 w 345"/>
                  <a:gd name="T11" fmla="*/ 228 h 820"/>
                  <a:gd name="T12" fmla="*/ 11 w 345"/>
                  <a:gd name="T13" fmla="*/ 168 h 820"/>
                  <a:gd name="T14" fmla="*/ 126 w 345"/>
                  <a:gd name="T15" fmla="*/ 168 h 820"/>
                  <a:gd name="T16" fmla="*/ 126 w 345"/>
                  <a:gd name="T17" fmla="*/ 0 h 820"/>
                  <a:gd name="T18" fmla="*/ 228 w 345"/>
                  <a:gd name="T19" fmla="*/ 0 h 820"/>
                  <a:gd name="T20" fmla="*/ 228 w 345"/>
                  <a:gd name="T21" fmla="*/ 167 h 820"/>
                  <a:gd name="T22" fmla="*/ 335 w 345"/>
                  <a:gd name="T23" fmla="*/ 167 h 820"/>
                  <a:gd name="T24" fmla="*/ 335 w 345"/>
                  <a:gd name="T25" fmla="*/ 227 h 820"/>
                  <a:gd name="T26" fmla="*/ 244 w 345"/>
                  <a:gd name="T27" fmla="*/ 227 h 820"/>
                  <a:gd name="T28" fmla="*/ 278 w 345"/>
                  <a:gd name="T29" fmla="*/ 326 h 820"/>
                  <a:gd name="T30" fmla="*/ 336 w 345"/>
                  <a:gd name="T31" fmla="*/ 433 h 820"/>
                  <a:gd name="T32" fmla="*/ 345 w 345"/>
                  <a:gd name="T33" fmla="*/ 497 h 820"/>
                  <a:gd name="T34" fmla="*/ 229 w 345"/>
                  <a:gd name="T35" fmla="*/ 382 h 820"/>
                  <a:gd name="T36" fmla="*/ 229 w 345"/>
                  <a:gd name="T37" fmla="*/ 820 h 820"/>
                  <a:gd name="T38" fmla="*/ 127 w 345"/>
                  <a:gd name="T39" fmla="*/ 820 h 820"/>
                  <a:gd name="T40" fmla="*/ 127 w 345"/>
                  <a:gd name="T41" fmla="*/ 478 h 820"/>
                  <a:gd name="T42" fmla="*/ 122 w 345"/>
                  <a:gd name="T43" fmla="*/ 476 h 8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45" h="820">
                    <a:moveTo>
                      <a:pt x="122" y="476"/>
                    </a:moveTo>
                    <a:cubicBezTo>
                      <a:pt x="91" y="524"/>
                      <a:pt x="55" y="566"/>
                      <a:pt x="4" y="599"/>
                    </a:cubicBezTo>
                    <a:cubicBezTo>
                      <a:pt x="3" y="568"/>
                      <a:pt x="0" y="542"/>
                      <a:pt x="17" y="516"/>
                    </a:cubicBezTo>
                    <a:cubicBezTo>
                      <a:pt x="72" y="433"/>
                      <a:pt x="91" y="338"/>
                      <a:pt x="101" y="240"/>
                    </a:cubicBezTo>
                    <a:cubicBezTo>
                      <a:pt x="101" y="237"/>
                      <a:pt x="101" y="234"/>
                      <a:pt x="101" y="228"/>
                    </a:cubicBezTo>
                    <a:cubicBezTo>
                      <a:pt x="71" y="228"/>
                      <a:pt x="42" y="228"/>
                      <a:pt x="11" y="228"/>
                    </a:cubicBezTo>
                    <a:cubicBezTo>
                      <a:pt x="11" y="208"/>
                      <a:pt x="11" y="189"/>
                      <a:pt x="11" y="168"/>
                    </a:cubicBezTo>
                    <a:cubicBezTo>
                      <a:pt x="49" y="168"/>
                      <a:pt x="86" y="168"/>
                      <a:pt x="126" y="168"/>
                    </a:cubicBezTo>
                    <a:cubicBezTo>
                      <a:pt x="126" y="111"/>
                      <a:pt x="126" y="56"/>
                      <a:pt x="126" y="0"/>
                    </a:cubicBezTo>
                    <a:cubicBezTo>
                      <a:pt x="161" y="0"/>
                      <a:pt x="193" y="0"/>
                      <a:pt x="228" y="0"/>
                    </a:cubicBezTo>
                    <a:cubicBezTo>
                      <a:pt x="228" y="55"/>
                      <a:pt x="228" y="110"/>
                      <a:pt x="228" y="167"/>
                    </a:cubicBezTo>
                    <a:cubicBezTo>
                      <a:pt x="264" y="167"/>
                      <a:pt x="299" y="167"/>
                      <a:pt x="335" y="167"/>
                    </a:cubicBezTo>
                    <a:cubicBezTo>
                      <a:pt x="335" y="187"/>
                      <a:pt x="335" y="206"/>
                      <a:pt x="335" y="227"/>
                    </a:cubicBezTo>
                    <a:cubicBezTo>
                      <a:pt x="307" y="227"/>
                      <a:pt x="278" y="227"/>
                      <a:pt x="244" y="227"/>
                    </a:cubicBezTo>
                    <a:cubicBezTo>
                      <a:pt x="256" y="263"/>
                      <a:pt x="264" y="296"/>
                      <a:pt x="278" y="326"/>
                    </a:cubicBezTo>
                    <a:cubicBezTo>
                      <a:pt x="295" y="363"/>
                      <a:pt x="319" y="396"/>
                      <a:pt x="336" y="433"/>
                    </a:cubicBezTo>
                    <a:cubicBezTo>
                      <a:pt x="345" y="451"/>
                      <a:pt x="344" y="474"/>
                      <a:pt x="345" y="497"/>
                    </a:cubicBezTo>
                    <a:cubicBezTo>
                      <a:pt x="297" y="469"/>
                      <a:pt x="264" y="428"/>
                      <a:pt x="229" y="382"/>
                    </a:cubicBezTo>
                    <a:cubicBezTo>
                      <a:pt x="229" y="531"/>
                      <a:pt x="229" y="675"/>
                      <a:pt x="229" y="820"/>
                    </a:cubicBezTo>
                    <a:cubicBezTo>
                      <a:pt x="195" y="820"/>
                      <a:pt x="162" y="820"/>
                      <a:pt x="127" y="820"/>
                    </a:cubicBezTo>
                    <a:cubicBezTo>
                      <a:pt x="127" y="706"/>
                      <a:pt x="127" y="592"/>
                      <a:pt x="127" y="478"/>
                    </a:cubicBezTo>
                    <a:cubicBezTo>
                      <a:pt x="125" y="477"/>
                      <a:pt x="123" y="476"/>
                      <a:pt x="122" y="47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87" name="Freeform 12"/>
              <p:cNvSpPr>
                <a:spLocks noEditPoints="1"/>
              </p:cNvSpPr>
              <p:nvPr userDrawn="1"/>
            </p:nvSpPr>
            <p:spPr bwMode="auto">
              <a:xfrm>
                <a:off x="-2752725" y="3511550"/>
                <a:ext cx="595312" cy="269875"/>
              </a:xfrm>
              <a:custGeom>
                <a:avLst/>
                <a:gdLst>
                  <a:gd name="T0" fmla="*/ 842 w 843"/>
                  <a:gd name="T1" fmla="*/ 384 h 384"/>
                  <a:gd name="T2" fmla="*/ 674 w 843"/>
                  <a:gd name="T3" fmla="*/ 313 h 384"/>
                  <a:gd name="T4" fmla="*/ 672 w 843"/>
                  <a:gd name="T5" fmla="*/ 353 h 384"/>
                  <a:gd name="T6" fmla="*/ 173 w 843"/>
                  <a:gd name="T7" fmla="*/ 353 h 384"/>
                  <a:gd name="T8" fmla="*/ 173 w 843"/>
                  <a:gd name="T9" fmla="*/ 310 h 384"/>
                  <a:gd name="T10" fmla="*/ 0 w 843"/>
                  <a:gd name="T11" fmla="*/ 383 h 384"/>
                  <a:gd name="T12" fmla="*/ 1 w 843"/>
                  <a:gd name="T13" fmla="*/ 329 h 384"/>
                  <a:gd name="T14" fmla="*/ 9 w 843"/>
                  <a:gd name="T15" fmla="*/ 318 h 384"/>
                  <a:gd name="T16" fmla="*/ 228 w 843"/>
                  <a:gd name="T17" fmla="*/ 161 h 384"/>
                  <a:gd name="T18" fmla="*/ 357 w 843"/>
                  <a:gd name="T19" fmla="*/ 11 h 384"/>
                  <a:gd name="T20" fmla="*/ 376 w 843"/>
                  <a:gd name="T21" fmla="*/ 1 h 384"/>
                  <a:gd name="T22" fmla="*/ 466 w 843"/>
                  <a:gd name="T23" fmla="*/ 1 h 384"/>
                  <a:gd name="T24" fmla="*/ 486 w 843"/>
                  <a:gd name="T25" fmla="*/ 13 h 384"/>
                  <a:gd name="T26" fmla="*/ 768 w 843"/>
                  <a:gd name="T27" fmla="*/ 286 h 384"/>
                  <a:gd name="T28" fmla="*/ 827 w 843"/>
                  <a:gd name="T29" fmla="*/ 315 h 384"/>
                  <a:gd name="T30" fmla="*/ 842 w 843"/>
                  <a:gd name="T31" fmla="*/ 337 h 384"/>
                  <a:gd name="T32" fmla="*/ 842 w 843"/>
                  <a:gd name="T33" fmla="*/ 384 h 384"/>
                  <a:gd name="T34" fmla="*/ 201 w 843"/>
                  <a:gd name="T35" fmla="*/ 293 h 384"/>
                  <a:gd name="T36" fmla="*/ 647 w 843"/>
                  <a:gd name="T37" fmla="*/ 293 h 384"/>
                  <a:gd name="T38" fmla="*/ 421 w 843"/>
                  <a:gd name="T39" fmla="*/ 90 h 384"/>
                  <a:gd name="T40" fmla="*/ 201 w 843"/>
                  <a:gd name="T41" fmla="*/ 293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843" h="384">
                    <a:moveTo>
                      <a:pt x="842" y="384"/>
                    </a:moveTo>
                    <a:cubicBezTo>
                      <a:pt x="783" y="359"/>
                      <a:pt x="729" y="336"/>
                      <a:pt x="674" y="313"/>
                    </a:cubicBezTo>
                    <a:cubicBezTo>
                      <a:pt x="674" y="325"/>
                      <a:pt x="673" y="338"/>
                      <a:pt x="672" y="353"/>
                    </a:cubicBezTo>
                    <a:cubicBezTo>
                      <a:pt x="506" y="353"/>
                      <a:pt x="340" y="353"/>
                      <a:pt x="173" y="353"/>
                    </a:cubicBezTo>
                    <a:cubicBezTo>
                      <a:pt x="173" y="339"/>
                      <a:pt x="173" y="325"/>
                      <a:pt x="173" y="310"/>
                    </a:cubicBezTo>
                    <a:cubicBezTo>
                      <a:pt x="115" y="334"/>
                      <a:pt x="60" y="358"/>
                      <a:pt x="0" y="383"/>
                    </a:cubicBezTo>
                    <a:cubicBezTo>
                      <a:pt x="0" y="361"/>
                      <a:pt x="0" y="345"/>
                      <a:pt x="1" y="329"/>
                    </a:cubicBezTo>
                    <a:cubicBezTo>
                      <a:pt x="1" y="325"/>
                      <a:pt x="5" y="320"/>
                      <a:pt x="9" y="318"/>
                    </a:cubicBezTo>
                    <a:cubicBezTo>
                      <a:pt x="96" y="285"/>
                      <a:pt x="164" y="225"/>
                      <a:pt x="228" y="161"/>
                    </a:cubicBezTo>
                    <a:cubicBezTo>
                      <a:pt x="275" y="115"/>
                      <a:pt x="314" y="61"/>
                      <a:pt x="357" y="11"/>
                    </a:cubicBezTo>
                    <a:cubicBezTo>
                      <a:pt x="361" y="6"/>
                      <a:pt x="369" y="1"/>
                      <a:pt x="376" y="1"/>
                    </a:cubicBezTo>
                    <a:cubicBezTo>
                      <a:pt x="406" y="0"/>
                      <a:pt x="436" y="0"/>
                      <a:pt x="466" y="1"/>
                    </a:cubicBezTo>
                    <a:cubicBezTo>
                      <a:pt x="473" y="1"/>
                      <a:pt x="482" y="7"/>
                      <a:pt x="486" y="13"/>
                    </a:cubicBezTo>
                    <a:cubicBezTo>
                      <a:pt x="561" y="123"/>
                      <a:pt x="657" y="213"/>
                      <a:pt x="768" y="286"/>
                    </a:cubicBezTo>
                    <a:cubicBezTo>
                      <a:pt x="786" y="298"/>
                      <a:pt x="807" y="307"/>
                      <a:pt x="827" y="315"/>
                    </a:cubicBezTo>
                    <a:cubicBezTo>
                      <a:pt x="838" y="320"/>
                      <a:pt x="843" y="325"/>
                      <a:pt x="842" y="337"/>
                    </a:cubicBezTo>
                    <a:cubicBezTo>
                      <a:pt x="841" y="350"/>
                      <a:pt x="842" y="363"/>
                      <a:pt x="842" y="384"/>
                    </a:cubicBezTo>
                    <a:close/>
                    <a:moveTo>
                      <a:pt x="201" y="293"/>
                    </a:moveTo>
                    <a:cubicBezTo>
                      <a:pt x="348" y="293"/>
                      <a:pt x="494" y="293"/>
                      <a:pt x="647" y="293"/>
                    </a:cubicBezTo>
                    <a:cubicBezTo>
                      <a:pt x="557" y="237"/>
                      <a:pt x="482" y="172"/>
                      <a:pt x="421" y="90"/>
                    </a:cubicBezTo>
                    <a:cubicBezTo>
                      <a:pt x="360" y="172"/>
                      <a:pt x="285" y="237"/>
                      <a:pt x="201" y="29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49" name="组合 48"/>
            <p:cNvGrpSpPr/>
            <p:nvPr userDrawn="1"/>
          </p:nvGrpSpPr>
          <p:grpSpPr>
            <a:xfrm>
              <a:off x="2507841" y="454564"/>
              <a:ext cx="1452286" cy="497500"/>
              <a:chOff x="-4167187" y="4452938"/>
              <a:chExt cx="2006599" cy="687387"/>
            </a:xfrm>
          </p:grpSpPr>
          <p:sp>
            <p:nvSpPr>
              <p:cNvPr id="68" name="Freeform 13"/>
              <p:cNvSpPr>
                <a:spLocks/>
              </p:cNvSpPr>
              <p:nvPr userDrawn="1"/>
            </p:nvSpPr>
            <p:spPr bwMode="auto">
              <a:xfrm>
                <a:off x="-3429000" y="4459288"/>
                <a:ext cx="188912" cy="590550"/>
              </a:xfrm>
              <a:custGeom>
                <a:avLst/>
                <a:gdLst>
                  <a:gd name="T0" fmla="*/ 266 w 266"/>
                  <a:gd name="T1" fmla="*/ 0 h 837"/>
                  <a:gd name="T2" fmla="*/ 174 w 266"/>
                  <a:gd name="T3" fmla="*/ 1 h 837"/>
                  <a:gd name="T4" fmla="*/ 163 w 266"/>
                  <a:gd name="T5" fmla="*/ 12 h 837"/>
                  <a:gd name="T6" fmla="*/ 147 w 266"/>
                  <a:gd name="T7" fmla="*/ 88 h 837"/>
                  <a:gd name="T8" fmla="*/ 11 w 266"/>
                  <a:gd name="T9" fmla="*/ 334 h 837"/>
                  <a:gd name="T10" fmla="*/ 1 w 266"/>
                  <a:gd name="T11" fmla="*/ 349 h 837"/>
                  <a:gd name="T12" fmla="*/ 1 w 266"/>
                  <a:gd name="T13" fmla="*/ 415 h 837"/>
                  <a:gd name="T14" fmla="*/ 97 w 266"/>
                  <a:gd name="T15" fmla="*/ 357 h 837"/>
                  <a:gd name="T16" fmla="*/ 97 w 266"/>
                  <a:gd name="T17" fmla="*/ 837 h 837"/>
                  <a:gd name="T18" fmla="*/ 199 w 266"/>
                  <a:gd name="T19" fmla="*/ 837 h 837"/>
                  <a:gd name="T20" fmla="*/ 199 w 266"/>
                  <a:gd name="T21" fmla="*/ 812 h 837"/>
                  <a:gd name="T22" fmla="*/ 200 w 266"/>
                  <a:gd name="T23" fmla="*/ 247 h 837"/>
                  <a:gd name="T24" fmla="*/ 208 w 266"/>
                  <a:gd name="T25" fmla="*/ 211 h 837"/>
                  <a:gd name="T26" fmla="*/ 266 w 266"/>
                  <a:gd name="T27" fmla="*/ 0 h 8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66" h="837">
                    <a:moveTo>
                      <a:pt x="266" y="0"/>
                    </a:moveTo>
                    <a:cubicBezTo>
                      <a:pt x="233" y="0"/>
                      <a:pt x="203" y="0"/>
                      <a:pt x="174" y="1"/>
                    </a:cubicBezTo>
                    <a:cubicBezTo>
                      <a:pt x="170" y="1"/>
                      <a:pt x="164" y="7"/>
                      <a:pt x="163" y="12"/>
                    </a:cubicBezTo>
                    <a:cubicBezTo>
                      <a:pt x="157" y="37"/>
                      <a:pt x="154" y="63"/>
                      <a:pt x="147" y="88"/>
                    </a:cubicBezTo>
                    <a:cubicBezTo>
                      <a:pt x="122" y="181"/>
                      <a:pt x="81" y="266"/>
                      <a:pt x="11" y="334"/>
                    </a:cubicBezTo>
                    <a:cubicBezTo>
                      <a:pt x="7" y="338"/>
                      <a:pt x="2" y="344"/>
                      <a:pt x="1" y="349"/>
                    </a:cubicBezTo>
                    <a:cubicBezTo>
                      <a:pt x="0" y="369"/>
                      <a:pt x="1" y="389"/>
                      <a:pt x="1" y="415"/>
                    </a:cubicBezTo>
                    <a:cubicBezTo>
                      <a:pt x="35" y="394"/>
                      <a:pt x="65" y="376"/>
                      <a:pt x="97" y="357"/>
                    </a:cubicBezTo>
                    <a:cubicBezTo>
                      <a:pt x="97" y="519"/>
                      <a:pt x="97" y="678"/>
                      <a:pt x="97" y="837"/>
                    </a:cubicBezTo>
                    <a:cubicBezTo>
                      <a:pt x="132" y="837"/>
                      <a:pt x="165" y="837"/>
                      <a:pt x="199" y="837"/>
                    </a:cubicBezTo>
                    <a:cubicBezTo>
                      <a:pt x="199" y="828"/>
                      <a:pt x="199" y="820"/>
                      <a:pt x="199" y="812"/>
                    </a:cubicBezTo>
                    <a:cubicBezTo>
                      <a:pt x="199" y="624"/>
                      <a:pt x="199" y="435"/>
                      <a:pt x="200" y="247"/>
                    </a:cubicBezTo>
                    <a:cubicBezTo>
                      <a:pt x="200" y="235"/>
                      <a:pt x="203" y="222"/>
                      <a:pt x="208" y="211"/>
                    </a:cubicBezTo>
                    <a:cubicBezTo>
                      <a:pt x="238" y="145"/>
                      <a:pt x="256" y="76"/>
                      <a:pt x="26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69" name="Freeform 14"/>
              <p:cNvSpPr>
                <a:spLocks/>
              </p:cNvSpPr>
              <p:nvPr userDrawn="1"/>
            </p:nvSpPr>
            <p:spPr bwMode="auto">
              <a:xfrm>
                <a:off x="-2752725" y="4459288"/>
                <a:ext cx="161925" cy="590550"/>
              </a:xfrm>
              <a:custGeom>
                <a:avLst/>
                <a:gdLst>
                  <a:gd name="T0" fmla="*/ 180 w 229"/>
                  <a:gd name="T1" fmla="*/ 837 h 837"/>
                  <a:gd name="T2" fmla="*/ 180 w 229"/>
                  <a:gd name="T3" fmla="*/ 811 h 837"/>
                  <a:gd name="T4" fmla="*/ 179 w 229"/>
                  <a:gd name="T5" fmla="*/ 311 h 837"/>
                  <a:gd name="T6" fmla="*/ 201 w 229"/>
                  <a:gd name="T7" fmla="*/ 147 h 837"/>
                  <a:gd name="T8" fmla="*/ 229 w 229"/>
                  <a:gd name="T9" fmla="*/ 0 h 837"/>
                  <a:gd name="T10" fmla="*/ 129 w 229"/>
                  <a:gd name="T11" fmla="*/ 0 h 837"/>
                  <a:gd name="T12" fmla="*/ 90 w 229"/>
                  <a:gd name="T13" fmla="*/ 181 h 837"/>
                  <a:gd name="T14" fmla="*/ 7 w 229"/>
                  <a:gd name="T15" fmla="*/ 335 h 837"/>
                  <a:gd name="T16" fmla="*/ 1 w 229"/>
                  <a:gd name="T17" fmla="*/ 347 h 837"/>
                  <a:gd name="T18" fmla="*/ 0 w 229"/>
                  <a:gd name="T19" fmla="*/ 413 h 837"/>
                  <a:gd name="T20" fmla="*/ 79 w 229"/>
                  <a:gd name="T21" fmla="*/ 366 h 837"/>
                  <a:gd name="T22" fmla="*/ 79 w 229"/>
                  <a:gd name="T23" fmla="*/ 837 h 837"/>
                  <a:gd name="T24" fmla="*/ 180 w 229"/>
                  <a:gd name="T25" fmla="*/ 837 h 8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837">
                    <a:moveTo>
                      <a:pt x="180" y="837"/>
                    </a:moveTo>
                    <a:cubicBezTo>
                      <a:pt x="180" y="827"/>
                      <a:pt x="180" y="819"/>
                      <a:pt x="180" y="811"/>
                    </a:cubicBezTo>
                    <a:cubicBezTo>
                      <a:pt x="180" y="645"/>
                      <a:pt x="181" y="478"/>
                      <a:pt x="179" y="311"/>
                    </a:cubicBezTo>
                    <a:cubicBezTo>
                      <a:pt x="179" y="255"/>
                      <a:pt x="184" y="201"/>
                      <a:pt x="201" y="147"/>
                    </a:cubicBezTo>
                    <a:cubicBezTo>
                      <a:pt x="215" y="100"/>
                      <a:pt x="220" y="51"/>
                      <a:pt x="229" y="0"/>
                    </a:cubicBezTo>
                    <a:cubicBezTo>
                      <a:pt x="192" y="0"/>
                      <a:pt x="160" y="0"/>
                      <a:pt x="129" y="0"/>
                    </a:cubicBezTo>
                    <a:cubicBezTo>
                      <a:pt x="116" y="61"/>
                      <a:pt x="105" y="121"/>
                      <a:pt x="90" y="181"/>
                    </a:cubicBezTo>
                    <a:cubicBezTo>
                      <a:pt x="75" y="239"/>
                      <a:pt x="52" y="293"/>
                      <a:pt x="7" y="335"/>
                    </a:cubicBezTo>
                    <a:cubicBezTo>
                      <a:pt x="4" y="338"/>
                      <a:pt x="1" y="343"/>
                      <a:pt x="1" y="347"/>
                    </a:cubicBezTo>
                    <a:cubicBezTo>
                      <a:pt x="0" y="367"/>
                      <a:pt x="0" y="387"/>
                      <a:pt x="0" y="413"/>
                    </a:cubicBezTo>
                    <a:cubicBezTo>
                      <a:pt x="28" y="396"/>
                      <a:pt x="52" y="382"/>
                      <a:pt x="79" y="366"/>
                    </a:cubicBezTo>
                    <a:cubicBezTo>
                      <a:pt x="79" y="525"/>
                      <a:pt x="79" y="681"/>
                      <a:pt x="79" y="837"/>
                    </a:cubicBezTo>
                    <a:cubicBezTo>
                      <a:pt x="113" y="837"/>
                      <a:pt x="144" y="837"/>
                      <a:pt x="180" y="83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0" name="Freeform 15"/>
              <p:cNvSpPr>
                <a:spLocks/>
              </p:cNvSpPr>
              <p:nvPr userDrawn="1"/>
            </p:nvSpPr>
            <p:spPr bwMode="auto">
              <a:xfrm>
                <a:off x="-3275013" y="4457700"/>
                <a:ext cx="444500" cy="282575"/>
              </a:xfrm>
              <a:custGeom>
                <a:avLst/>
                <a:gdLst>
                  <a:gd name="T0" fmla="*/ 313 w 628"/>
                  <a:gd name="T1" fmla="*/ 123 h 401"/>
                  <a:gd name="T2" fmla="*/ 618 w 628"/>
                  <a:gd name="T3" fmla="*/ 398 h 401"/>
                  <a:gd name="T4" fmla="*/ 585 w 628"/>
                  <a:gd name="T5" fmla="*/ 309 h 401"/>
                  <a:gd name="T6" fmla="*/ 373 w 628"/>
                  <a:gd name="T7" fmla="*/ 14 h 401"/>
                  <a:gd name="T8" fmla="*/ 354 w 628"/>
                  <a:gd name="T9" fmla="*/ 1 h 401"/>
                  <a:gd name="T10" fmla="*/ 268 w 628"/>
                  <a:gd name="T11" fmla="*/ 1 h 401"/>
                  <a:gd name="T12" fmla="*/ 241 w 628"/>
                  <a:gd name="T13" fmla="*/ 20 h 401"/>
                  <a:gd name="T14" fmla="*/ 13 w 628"/>
                  <a:gd name="T15" fmla="*/ 331 h 401"/>
                  <a:gd name="T16" fmla="*/ 2 w 628"/>
                  <a:gd name="T17" fmla="*/ 344 h 401"/>
                  <a:gd name="T18" fmla="*/ 1 w 628"/>
                  <a:gd name="T19" fmla="*/ 401 h 401"/>
                  <a:gd name="T20" fmla="*/ 313 w 628"/>
                  <a:gd name="T21" fmla="*/ 123 h 4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28" h="401">
                    <a:moveTo>
                      <a:pt x="313" y="123"/>
                    </a:moveTo>
                    <a:cubicBezTo>
                      <a:pt x="393" y="240"/>
                      <a:pt x="486" y="341"/>
                      <a:pt x="618" y="398"/>
                    </a:cubicBezTo>
                    <a:cubicBezTo>
                      <a:pt x="628" y="358"/>
                      <a:pt x="616" y="334"/>
                      <a:pt x="585" y="309"/>
                    </a:cubicBezTo>
                    <a:cubicBezTo>
                      <a:pt x="487" y="232"/>
                      <a:pt x="411" y="135"/>
                      <a:pt x="373" y="14"/>
                    </a:cubicBezTo>
                    <a:cubicBezTo>
                      <a:pt x="370" y="3"/>
                      <a:pt x="364" y="1"/>
                      <a:pt x="354" y="1"/>
                    </a:cubicBezTo>
                    <a:cubicBezTo>
                      <a:pt x="326" y="1"/>
                      <a:pt x="297" y="2"/>
                      <a:pt x="268" y="1"/>
                    </a:cubicBezTo>
                    <a:cubicBezTo>
                      <a:pt x="253" y="0"/>
                      <a:pt x="246" y="6"/>
                      <a:pt x="241" y="20"/>
                    </a:cubicBezTo>
                    <a:cubicBezTo>
                      <a:pt x="194" y="145"/>
                      <a:pt x="118" y="249"/>
                      <a:pt x="13" y="331"/>
                    </a:cubicBezTo>
                    <a:cubicBezTo>
                      <a:pt x="8" y="335"/>
                      <a:pt x="2" y="340"/>
                      <a:pt x="2" y="344"/>
                    </a:cubicBezTo>
                    <a:cubicBezTo>
                      <a:pt x="0" y="362"/>
                      <a:pt x="1" y="379"/>
                      <a:pt x="1" y="401"/>
                    </a:cubicBezTo>
                    <a:cubicBezTo>
                      <a:pt x="140" y="343"/>
                      <a:pt x="233" y="243"/>
                      <a:pt x="313" y="12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1" name="Freeform 16"/>
              <p:cNvSpPr>
                <a:spLocks/>
              </p:cNvSpPr>
              <p:nvPr userDrawn="1"/>
            </p:nvSpPr>
            <p:spPr bwMode="auto">
              <a:xfrm>
                <a:off x="-2997200" y="4697413"/>
                <a:ext cx="66675" cy="352425"/>
              </a:xfrm>
              <a:custGeom>
                <a:avLst/>
                <a:gdLst>
                  <a:gd name="T0" fmla="*/ 0 w 95"/>
                  <a:gd name="T1" fmla="*/ 499 h 499"/>
                  <a:gd name="T2" fmla="*/ 95 w 95"/>
                  <a:gd name="T3" fmla="*/ 499 h 499"/>
                  <a:gd name="T4" fmla="*/ 95 w 95"/>
                  <a:gd name="T5" fmla="*/ 0 h 499"/>
                  <a:gd name="T6" fmla="*/ 0 w 95"/>
                  <a:gd name="T7" fmla="*/ 0 h 499"/>
                  <a:gd name="T8" fmla="*/ 0 w 95"/>
                  <a:gd name="T9" fmla="*/ 499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5" h="499">
                    <a:moveTo>
                      <a:pt x="0" y="499"/>
                    </a:moveTo>
                    <a:cubicBezTo>
                      <a:pt x="33" y="499"/>
                      <a:pt x="63" y="499"/>
                      <a:pt x="95" y="499"/>
                    </a:cubicBezTo>
                    <a:cubicBezTo>
                      <a:pt x="95" y="332"/>
                      <a:pt x="95" y="167"/>
                      <a:pt x="95" y="0"/>
                    </a:cubicBezTo>
                    <a:cubicBezTo>
                      <a:pt x="63" y="0"/>
                      <a:pt x="32" y="0"/>
                      <a:pt x="0" y="0"/>
                    </a:cubicBezTo>
                    <a:cubicBezTo>
                      <a:pt x="0" y="167"/>
                      <a:pt x="0" y="332"/>
                      <a:pt x="0" y="49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2" name="Freeform 17"/>
              <p:cNvSpPr>
                <a:spLocks/>
              </p:cNvSpPr>
              <p:nvPr userDrawn="1"/>
            </p:nvSpPr>
            <p:spPr bwMode="auto">
              <a:xfrm>
                <a:off x="-3259138" y="4697413"/>
                <a:ext cx="152400" cy="355600"/>
              </a:xfrm>
              <a:custGeom>
                <a:avLst/>
                <a:gdLst>
                  <a:gd name="T0" fmla="*/ 113 w 216"/>
                  <a:gd name="T1" fmla="*/ 0 h 504"/>
                  <a:gd name="T2" fmla="*/ 113 w 216"/>
                  <a:gd name="T3" fmla="*/ 22 h 504"/>
                  <a:gd name="T4" fmla="*/ 103 w 216"/>
                  <a:gd name="T5" fmla="*/ 271 h 504"/>
                  <a:gd name="T6" fmla="*/ 9 w 216"/>
                  <a:gd name="T7" fmla="*/ 437 h 504"/>
                  <a:gd name="T8" fmla="*/ 1 w 216"/>
                  <a:gd name="T9" fmla="*/ 449 h 504"/>
                  <a:gd name="T10" fmla="*/ 1 w 216"/>
                  <a:gd name="T11" fmla="*/ 504 h 504"/>
                  <a:gd name="T12" fmla="*/ 68 w 216"/>
                  <a:gd name="T13" fmla="*/ 472 h 504"/>
                  <a:gd name="T14" fmla="*/ 207 w 216"/>
                  <a:gd name="T15" fmla="*/ 230 h 504"/>
                  <a:gd name="T16" fmla="*/ 215 w 216"/>
                  <a:gd name="T17" fmla="*/ 8 h 504"/>
                  <a:gd name="T18" fmla="*/ 213 w 216"/>
                  <a:gd name="T19" fmla="*/ 0 h 504"/>
                  <a:gd name="T20" fmla="*/ 113 w 216"/>
                  <a:gd name="T21" fmla="*/ 0 h 5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16" h="504">
                    <a:moveTo>
                      <a:pt x="113" y="0"/>
                    </a:moveTo>
                    <a:cubicBezTo>
                      <a:pt x="113" y="9"/>
                      <a:pt x="113" y="15"/>
                      <a:pt x="113" y="22"/>
                    </a:cubicBezTo>
                    <a:cubicBezTo>
                      <a:pt x="110" y="105"/>
                      <a:pt x="110" y="189"/>
                      <a:pt x="103" y="271"/>
                    </a:cubicBezTo>
                    <a:cubicBezTo>
                      <a:pt x="97" y="339"/>
                      <a:pt x="71" y="399"/>
                      <a:pt x="9" y="437"/>
                    </a:cubicBezTo>
                    <a:cubicBezTo>
                      <a:pt x="5" y="439"/>
                      <a:pt x="1" y="445"/>
                      <a:pt x="1" y="449"/>
                    </a:cubicBezTo>
                    <a:cubicBezTo>
                      <a:pt x="0" y="466"/>
                      <a:pt x="1" y="482"/>
                      <a:pt x="1" y="504"/>
                    </a:cubicBezTo>
                    <a:cubicBezTo>
                      <a:pt x="26" y="492"/>
                      <a:pt x="48" y="485"/>
                      <a:pt x="68" y="472"/>
                    </a:cubicBezTo>
                    <a:cubicBezTo>
                      <a:pt x="157" y="416"/>
                      <a:pt x="196" y="329"/>
                      <a:pt x="207" y="230"/>
                    </a:cubicBezTo>
                    <a:cubicBezTo>
                      <a:pt x="216" y="156"/>
                      <a:pt x="213" y="82"/>
                      <a:pt x="215" y="8"/>
                    </a:cubicBezTo>
                    <a:cubicBezTo>
                      <a:pt x="215" y="6"/>
                      <a:pt x="214" y="3"/>
                      <a:pt x="213" y="0"/>
                    </a:cubicBezTo>
                    <a:cubicBezTo>
                      <a:pt x="180" y="0"/>
                      <a:pt x="148" y="0"/>
                      <a:pt x="11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3" name="Freeform 18"/>
              <p:cNvSpPr>
                <a:spLocks noEditPoints="1"/>
              </p:cNvSpPr>
              <p:nvPr userDrawn="1"/>
            </p:nvSpPr>
            <p:spPr bwMode="auto">
              <a:xfrm>
                <a:off x="-2606675" y="4459288"/>
                <a:ext cx="446087" cy="577850"/>
              </a:xfrm>
              <a:custGeom>
                <a:avLst/>
                <a:gdLst>
                  <a:gd name="T0" fmla="*/ 372 w 631"/>
                  <a:gd name="T1" fmla="*/ 146 h 821"/>
                  <a:gd name="T2" fmla="*/ 372 w 631"/>
                  <a:gd name="T3" fmla="*/ 226 h 821"/>
                  <a:gd name="T4" fmla="*/ 574 w 631"/>
                  <a:gd name="T5" fmla="*/ 226 h 821"/>
                  <a:gd name="T6" fmla="*/ 574 w 631"/>
                  <a:gd name="T7" fmla="*/ 761 h 821"/>
                  <a:gd name="T8" fmla="*/ 631 w 631"/>
                  <a:gd name="T9" fmla="*/ 761 h 821"/>
                  <a:gd name="T10" fmla="*/ 631 w 631"/>
                  <a:gd name="T11" fmla="*/ 821 h 821"/>
                  <a:gd name="T12" fmla="*/ 0 w 631"/>
                  <a:gd name="T13" fmla="*/ 821 h 821"/>
                  <a:gd name="T14" fmla="*/ 0 w 631"/>
                  <a:gd name="T15" fmla="*/ 762 h 821"/>
                  <a:gd name="T16" fmla="*/ 59 w 631"/>
                  <a:gd name="T17" fmla="*/ 762 h 821"/>
                  <a:gd name="T18" fmla="*/ 59 w 631"/>
                  <a:gd name="T19" fmla="*/ 228 h 821"/>
                  <a:gd name="T20" fmla="*/ 268 w 631"/>
                  <a:gd name="T21" fmla="*/ 228 h 821"/>
                  <a:gd name="T22" fmla="*/ 268 w 631"/>
                  <a:gd name="T23" fmla="*/ 147 h 821"/>
                  <a:gd name="T24" fmla="*/ 46 w 631"/>
                  <a:gd name="T25" fmla="*/ 147 h 821"/>
                  <a:gd name="T26" fmla="*/ 46 w 631"/>
                  <a:gd name="T27" fmla="*/ 87 h 821"/>
                  <a:gd name="T28" fmla="*/ 269 w 631"/>
                  <a:gd name="T29" fmla="*/ 87 h 821"/>
                  <a:gd name="T30" fmla="*/ 269 w 631"/>
                  <a:gd name="T31" fmla="*/ 0 h 821"/>
                  <a:gd name="T32" fmla="*/ 370 w 631"/>
                  <a:gd name="T33" fmla="*/ 0 h 821"/>
                  <a:gd name="T34" fmla="*/ 370 w 631"/>
                  <a:gd name="T35" fmla="*/ 86 h 821"/>
                  <a:gd name="T36" fmla="*/ 608 w 631"/>
                  <a:gd name="T37" fmla="*/ 86 h 821"/>
                  <a:gd name="T38" fmla="*/ 608 w 631"/>
                  <a:gd name="T39" fmla="*/ 146 h 821"/>
                  <a:gd name="T40" fmla="*/ 372 w 631"/>
                  <a:gd name="T41" fmla="*/ 146 h 821"/>
                  <a:gd name="T42" fmla="*/ 162 w 631"/>
                  <a:gd name="T43" fmla="*/ 760 h 821"/>
                  <a:gd name="T44" fmla="*/ 474 w 631"/>
                  <a:gd name="T45" fmla="*/ 760 h 821"/>
                  <a:gd name="T46" fmla="*/ 474 w 631"/>
                  <a:gd name="T47" fmla="*/ 685 h 821"/>
                  <a:gd name="T48" fmla="*/ 162 w 631"/>
                  <a:gd name="T49" fmla="*/ 685 h 821"/>
                  <a:gd name="T50" fmla="*/ 162 w 631"/>
                  <a:gd name="T51" fmla="*/ 760 h 821"/>
                  <a:gd name="T52" fmla="*/ 162 w 631"/>
                  <a:gd name="T53" fmla="*/ 492 h 821"/>
                  <a:gd name="T54" fmla="*/ 473 w 631"/>
                  <a:gd name="T55" fmla="*/ 492 h 821"/>
                  <a:gd name="T56" fmla="*/ 473 w 631"/>
                  <a:gd name="T57" fmla="*/ 418 h 821"/>
                  <a:gd name="T58" fmla="*/ 162 w 631"/>
                  <a:gd name="T59" fmla="*/ 418 h 821"/>
                  <a:gd name="T60" fmla="*/ 162 w 631"/>
                  <a:gd name="T61" fmla="*/ 492 h 821"/>
                  <a:gd name="T62" fmla="*/ 162 w 631"/>
                  <a:gd name="T63" fmla="*/ 356 h 821"/>
                  <a:gd name="T64" fmla="*/ 473 w 631"/>
                  <a:gd name="T65" fmla="*/ 356 h 821"/>
                  <a:gd name="T66" fmla="*/ 473 w 631"/>
                  <a:gd name="T67" fmla="*/ 289 h 821"/>
                  <a:gd name="T68" fmla="*/ 162 w 631"/>
                  <a:gd name="T69" fmla="*/ 289 h 821"/>
                  <a:gd name="T70" fmla="*/ 162 w 631"/>
                  <a:gd name="T71" fmla="*/ 356 h 821"/>
                  <a:gd name="T72" fmla="*/ 474 w 631"/>
                  <a:gd name="T73" fmla="*/ 555 h 821"/>
                  <a:gd name="T74" fmla="*/ 162 w 631"/>
                  <a:gd name="T75" fmla="*/ 555 h 821"/>
                  <a:gd name="T76" fmla="*/ 162 w 631"/>
                  <a:gd name="T77" fmla="*/ 622 h 821"/>
                  <a:gd name="T78" fmla="*/ 474 w 631"/>
                  <a:gd name="T79" fmla="*/ 622 h 821"/>
                  <a:gd name="T80" fmla="*/ 474 w 631"/>
                  <a:gd name="T81" fmla="*/ 555 h 8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631" h="821">
                    <a:moveTo>
                      <a:pt x="372" y="146"/>
                    </a:moveTo>
                    <a:cubicBezTo>
                      <a:pt x="372" y="174"/>
                      <a:pt x="372" y="199"/>
                      <a:pt x="372" y="226"/>
                    </a:cubicBezTo>
                    <a:cubicBezTo>
                      <a:pt x="439" y="226"/>
                      <a:pt x="505" y="226"/>
                      <a:pt x="574" y="226"/>
                    </a:cubicBezTo>
                    <a:cubicBezTo>
                      <a:pt x="574" y="405"/>
                      <a:pt x="574" y="582"/>
                      <a:pt x="574" y="761"/>
                    </a:cubicBezTo>
                    <a:cubicBezTo>
                      <a:pt x="594" y="761"/>
                      <a:pt x="612" y="761"/>
                      <a:pt x="631" y="761"/>
                    </a:cubicBezTo>
                    <a:cubicBezTo>
                      <a:pt x="631" y="782"/>
                      <a:pt x="631" y="801"/>
                      <a:pt x="631" y="821"/>
                    </a:cubicBezTo>
                    <a:cubicBezTo>
                      <a:pt x="420" y="821"/>
                      <a:pt x="211" y="821"/>
                      <a:pt x="0" y="821"/>
                    </a:cubicBezTo>
                    <a:cubicBezTo>
                      <a:pt x="0" y="801"/>
                      <a:pt x="0" y="783"/>
                      <a:pt x="0" y="762"/>
                    </a:cubicBezTo>
                    <a:cubicBezTo>
                      <a:pt x="19" y="762"/>
                      <a:pt x="38" y="762"/>
                      <a:pt x="59" y="762"/>
                    </a:cubicBezTo>
                    <a:cubicBezTo>
                      <a:pt x="59" y="583"/>
                      <a:pt x="59" y="407"/>
                      <a:pt x="59" y="228"/>
                    </a:cubicBezTo>
                    <a:cubicBezTo>
                      <a:pt x="129" y="228"/>
                      <a:pt x="198" y="228"/>
                      <a:pt x="268" y="228"/>
                    </a:cubicBezTo>
                    <a:cubicBezTo>
                      <a:pt x="268" y="199"/>
                      <a:pt x="268" y="174"/>
                      <a:pt x="268" y="147"/>
                    </a:cubicBezTo>
                    <a:cubicBezTo>
                      <a:pt x="194" y="147"/>
                      <a:pt x="120" y="147"/>
                      <a:pt x="46" y="147"/>
                    </a:cubicBezTo>
                    <a:cubicBezTo>
                      <a:pt x="46" y="126"/>
                      <a:pt x="46" y="107"/>
                      <a:pt x="46" y="87"/>
                    </a:cubicBezTo>
                    <a:cubicBezTo>
                      <a:pt x="120" y="87"/>
                      <a:pt x="193" y="87"/>
                      <a:pt x="269" y="87"/>
                    </a:cubicBezTo>
                    <a:cubicBezTo>
                      <a:pt x="269" y="57"/>
                      <a:pt x="269" y="29"/>
                      <a:pt x="269" y="0"/>
                    </a:cubicBezTo>
                    <a:cubicBezTo>
                      <a:pt x="304" y="0"/>
                      <a:pt x="336" y="0"/>
                      <a:pt x="370" y="0"/>
                    </a:cubicBezTo>
                    <a:cubicBezTo>
                      <a:pt x="370" y="28"/>
                      <a:pt x="370" y="56"/>
                      <a:pt x="370" y="86"/>
                    </a:cubicBezTo>
                    <a:cubicBezTo>
                      <a:pt x="450" y="86"/>
                      <a:pt x="528" y="86"/>
                      <a:pt x="608" y="86"/>
                    </a:cubicBezTo>
                    <a:cubicBezTo>
                      <a:pt x="608" y="107"/>
                      <a:pt x="608" y="126"/>
                      <a:pt x="608" y="146"/>
                    </a:cubicBezTo>
                    <a:cubicBezTo>
                      <a:pt x="529" y="146"/>
                      <a:pt x="452" y="146"/>
                      <a:pt x="372" y="146"/>
                    </a:cubicBezTo>
                    <a:close/>
                    <a:moveTo>
                      <a:pt x="162" y="760"/>
                    </a:moveTo>
                    <a:cubicBezTo>
                      <a:pt x="267" y="760"/>
                      <a:pt x="370" y="760"/>
                      <a:pt x="474" y="760"/>
                    </a:cubicBezTo>
                    <a:cubicBezTo>
                      <a:pt x="474" y="734"/>
                      <a:pt x="474" y="710"/>
                      <a:pt x="474" y="685"/>
                    </a:cubicBezTo>
                    <a:cubicBezTo>
                      <a:pt x="370" y="685"/>
                      <a:pt x="266" y="685"/>
                      <a:pt x="162" y="685"/>
                    </a:cubicBezTo>
                    <a:cubicBezTo>
                      <a:pt x="162" y="711"/>
                      <a:pt x="162" y="735"/>
                      <a:pt x="162" y="760"/>
                    </a:cubicBezTo>
                    <a:close/>
                    <a:moveTo>
                      <a:pt x="162" y="492"/>
                    </a:moveTo>
                    <a:cubicBezTo>
                      <a:pt x="267" y="492"/>
                      <a:pt x="370" y="492"/>
                      <a:pt x="473" y="492"/>
                    </a:cubicBezTo>
                    <a:cubicBezTo>
                      <a:pt x="473" y="466"/>
                      <a:pt x="473" y="442"/>
                      <a:pt x="473" y="418"/>
                    </a:cubicBezTo>
                    <a:cubicBezTo>
                      <a:pt x="369" y="418"/>
                      <a:pt x="266" y="418"/>
                      <a:pt x="162" y="418"/>
                    </a:cubicBezTo>
                    <a:cubicBezTo>
                      <a:pt x="162" y="443"/>
                      <a:pt x="162" y="468"/>
                      <a:pt x="162" y="492"/>
                    </a:cubicBezTo>
                    <a:close/>
                    <a:moveTo>
                      <a:pt x="162" y="356"/>
                    </a:moveTo>
                    <a:cubicBezTo>
                      <a:pt x="266" y="356"/>
                      <a:pt x="369" y="356"/>
                      <a:pt x="473" y="356"/>
                    </a:cubicBezTo>
                    <a:cubicBezTo>
                      <a:pt x="473" y="333"/>
                      <a:pt x="473" y="311"/>
                      <a:pt x="473" y="289"/>
                    </a:cubicBezTo>
                    <a:cubicBezTo>
                      <a:pt x="369" y="289"/>
                      <a:pt x="266" y="289"/>
                      <a:pt x="162" y="289"/>
                    </a:cubicBezTo>
                    <a:cubicBezTo>
                      <a:pt x="162" y="312"/>
                      <a:pt x="162" y="334"/>
                      <a:pt x="162" y="356"/>
                    </a:cubicBezTo>
                    <a:close/>
                    <a:moveTo>
                      <a:pt x="474" y="555"/>
                    </a:moveTo>
                    <a:cubicBezTo>
                      <a:pt x="369" y="555"/>
                      <a:pt x="266" y="555"/>
                      <a:pt x="162" y="555"/>
                    </a:cubicBezTo>
                    <a:cubicBezTo>
                      <a:pt x="162" y="578"/>
                      <a:pt x="162" y="600"/>
                      <a:pt x="162" y="622"/>
                    </a:cubicBezTo>
                    <a:cubicBezTo>
                      <a:pt x="267" y="622"/>
                      <a:pt x="370" y="622"/>
                      <a:pt x="474" y="622"/>
                    </a:cubicBezTo>
                    <a:cubicBezTo>
                      <a:pt x="474" y="599"/>
                      <a:pt x="474" y="578"/>
                      <a:pt x="474" y="55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4" name="Freeform 19"/>
              <p:cNvSpPr>
                <a:spLocks/>
              </p:cNvSpPr>
              <p:nvPr userDrawn="1"/>
            </p:nvSpPr>
            <p:spPr bwMode="auto">
              <a:xfrm>
                <a:off x="-3429000" y="4459288"/>
                <a:ext cx="188912" cy="590550"/>
              </a:xfrm>
              <a:custGeom>
                <a:avLst/>
                <a:gdLst>
                  <a:gd name="T0" fmla="*/ 266 w 266"/>
                  <a:gd name="T1" fmla="*/ 0 h 837"/>
                  <a:gd name="T2" fmla="*/ 208 w 266"/>
                  <a:gd name="T3" fmla="*/ 211 h 837"/>
                  <a:gd name="T4" fmla="*/ 200 w 266"/>
                  <a:gd name="T5" fmla="*/ 247 h 837"/>
                  <a:gd name="T6" fmla="*/ 199 w 266"/>
                  <a:gd name="T7" fmla="*/ 812 h 837"/>
                  <a:gd name="T8" fmla="*/ 199 w 266"/>
                  <a:gd name="T9" fmla="*/ 837 h 837"/>
                  <a:gd name="T10" fmla="*/ 97 w 266"/>
                  <a:gd name="T11" fmla="*/ 837 h 837"/>
                  <a:gd name="T12" fmla="*/ 97 w 266"/>
                  <a:gd name="T13" fmla="*/ 357 h 837"/>
                  <a:gd name="T14" fmla="*/ 1 w 266"/>
                  <a:gd name="T15" fmla="*/ 415 h 837"/>
                  <a:gd name="T16" fmla="*/ 1 w 266"/>
                  <a:gd name="T17" fmla="*/ 349 h 837"/>
                  <a:gd name="T18" fmla="*/ 11 w 266"/>
                  <a:gd name="T19" fmla="*/ 334 h 837"/>
                  <a:gd name="T20" fmla="*/ 147 w 266"/>
                  <a:gd name="T21" fmla="*/ 88 h 837"/>
                  <a:gd name="T22" fmla="*/ 163 w 266"/>
                  <a:gd name="T23" fmla="*/ 12 h 837"/>
                  <a:gd name="T24" fmla="*/ 174 w 266"/>
                  <a:gd name="T25" fmla="*/ 1 h 837"/>
                  <a:gd name="T26" fmla="*/ 266 w 266"/>
                  <a:gd name="T27" fmla="*/ 0 h 8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66" h="837">
                    <a:moveTo>
                      <a:pt x="266" y="0"/>
                    </a:moveTo>
                    <a:cubicBezTo>
                      <a:pt x="256" y="76"/>
                      <a:pt x="238" y="145"/>
                      <a:pt x="208" y="211"/>
                    </a:cubicBezTo>
                    <a:cubicBezTo>
                      <a:pt x="203" y="222"/>
                      <a:pt x="200" y="235"/>
                      <a:pt x="200" y="247"/>
                    </a:cubicBezTo>
                    <a:cubicBezTo>
                      <a:pt x="199" y="435"/>
                      <a:pt x="199" y="624"/>
                      <a:pt x="199" y="812"/>
                    </a:cubicBezTo>
                    <a:cubicBezTo>
                      <a:pt x="199" y="820"/>
                      <a:pt x="199" y="828"/>
                      <a:pt x="199" y="837"/>
                    </a:cubicBezTo>
                    <a:cubicBezTo>
                      <a:pt x="165" y="837"/>
                      <a:pt x="132" y="837"/>
                      <a:pt x="97" y="837"/>
                    </a:cubicBezTo>
                    <a:cubicBezTo>
                      <a:pt x="97" y="678"/>
                      <a:pt x="97" y="519"/>
                      <a:pt x="97" y="357"/>
                    </a:cubicBezTo>
                    <a:cubicBezTo>
                      <a:pt x="65" y="376"/>
                      <a:pt x="35" y="394"/>
                      <a:pt x="1" y="415"/>
                    </a:cubicBezTo>
                    <a:cubicBezTo>
                      <a:pt x="1" y="389"/>
                      <a:pt x="0" y="369"/>
                      <a:pt x="1" y="349"/>
                    </a:cubicBezTo>
                    <a:cubicBezTo>
                      <a:pt x="2" y="344"/>
                      <a:pt x="7" y="338"/>
                      <a:pt x="11" y="334"/>
                    </a:cubicBezTo>
                    <a:cubicBezTo>
                      <a:pt x="81" y="266"/>
                      <a:pt x="122" y="181"/>
                      <a:pt x="147" y="88"/>
                    </a:cubicBezTo>
                    <a:cubicBezTo>
                      <a:pt x="154" y="63"/>
                      <a:pt x="157" y="37"/>
                      <a:pt x="163" y="12"/>
                    </a:cubicBezTo>
                    <a:cubicBezTo>
                      <a:pt x="164" y="7"/>
                      <a:pt x="170" y="1"/>
                      <a:pt x="174" y="1"/>
                    </a:cubicBezTo>
                    <a:cubicBezTo>
                      <a:pt x="203" y="0"/>
                      <a:pt x="233" y="0"/>
                      <a:pt x="26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5" name="Freeform 20"/>
              <p:cNvSpPr>
                <a:spLocks/>
              </p:cNvSpPr>
              <p:nvPr userDrawn="1"/>
            </p:nvSpPr>
            <p:spPr bwMode="auto">
              <a:xfrm>
                <a:off x="-2752725" y="4459288"/>
                <a:ext cx="161925" cy="590550"/>
              </a:xfrm>
              <a:custGeom>
                <a:avLst/>
                <a:gdLst>
                  <a:gd name="T0" fmla="*/ 180 w 229"/>
                  <a:gd name="T1" fmla="*/ 837 h 837"/>
                  <a:gd name="T2" fmla="*/ 79 w 229"/>
                  <a:gd name="T3" fmla="*/ 837 h 837"/>
                  <a:gd name="T4" fmla="*/ 79 w 229"/>
                  <a:gd name="T5" fmla="*/ 366 h 837"/>
                  <a:gd name="T6" fmla="*/ 0 w 229"/>
                  <a:gd name="T7" fmla="*/ 413 h 837"/>
                  <a:gd name="T8" fmla="*/ 1 w 229"/>
                  <a:gd name="T9" fmla="*/ 347 h 837"/>
                  <a:gd name="T10" fmla="*/ 7 w 229"/>
                  <a:gd name="T11" fmla="*/ 335 h 837"/>
                  <a:gd name="T12" fmla="*/ 90 w 229"/>
                  <a:gd name="T13" fmla="*/ 181 h 837"/>
                  <a:gd name="T14" fmla="*/ 129 w 229"/>
                  <a:gd name="T15" fmla="*/ 0 h 837"/>
                  <a:gd name="T16" fmla="*/ 229 w 229"/>
                  <a:gd name="T17" fmla="*/ 0 h 837"/>
                  <a:gd name="T18" fmla="*/ 201 w 229"/>
                  <a:gd name="T19" fmla="*/ 147 h 837"/>
                  <a:gd name="T20" fmla="*/ 179 w 229"/>
                  <a:gd name="T21" fmla="*/ 311 h 837"/>
                  <a:gd name="T22" fmla="*/ 180 w 229"/>
                  <a:gd name="T23" fmla="*/ 811 h 837"/>
                  <a:gd name="T24" fmla="*/ 180 w 229"/>
                  <a:gd name="T25" fmla="*/ 837 h 8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837">
                    <a:moveTo>
                      <a:pt x="180" y="837"/>
                    </a:moveTo>
                    <a:cubicBezTo>
                      <a:pt x="144" y="837"/>
                      <a:pt x="113" y="837"/>
                      <a:pt x="79" y="837"/>
                    </a:cubicBezTo>
                    <a:cubicBezTo>
                      <a:pt x="79" y="681"/>
                      <a:pt x="79" y="525"/>
                      <a:pt x="79" y="366"/>
                    </a:cubicBezTo>
                    <a:cubicBezTo>
                      <a:pt x="52" y="382"/>
                      <a:pt x="28" y="396"/>
                      <a:pt x="0" y="413"/>
                    </a:cubicBezTo>
                    <a:cubicBezTo>
                      <a:pt x="0" y="387"/>
                      <a:pt x="0" y="367"/>
                      <a:pt x="1" y="347"/>
                    </a:cubicBezTo>
                    <a:cubicBezTo>
                      <a:pt x="1" y="343"/>
                      <a:pt x="4" y="338"/>
                      <a:pt x="7" y="335"/>
                    </a:cubicBezTo>
                    <a:cubicBezTo>
                      <a:pt x="52" y="293"/>
                      <a:pt x="75" y="239"/>
                      <a:pt x="90" y="181"/>
                    </a:cubicBezTo>
                    <a:cubicBezTo>
                      <a:pt x="105" y="121"/>
                      <a:pt x="116" y="61"/>
                      <a:pt x="129" y="0"/>
                    </a:cubicBezTo>
                    <a:cubicBezTo>
                      <a:pt x="160" y="0"/>
                      <a:pt x="192" y="0"/>
                      <a:pt x="229" y="0"/>
                    </a:cubicBezTo>
                    <a:cubicBezTo>
                      <a:pt x="220" y="51"/>
                      <a:pt x="215" y="100"/>
                      <a:pt x="201" y="147"/>
                    </a:cubicBezTo>
                    <a:cubicBezTo>
                      <a:pt x="184" y="201"/>
                      <a:pt x="179" y="255"/>
                      <a:pt x="179" y="311"/>
                    </a:cubicBezTo>
                    <a:cubicBezTo>
                      <a:pt x="181" y="478"/>
                      <a:pt x="180" y="645"/>
                      <a:pt x="180" y="811"/>
                    </a:cubicBezTo>
                    <a:cubicBezTo>
                      <a:pt x="180" y="819"/>
                      <a:pt x="180" y="827"/>
                      <a:pt x="180" y="83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6" name="Freeform 21"/>
              <p:cNvSpPr>
                <a:spLocks/>
              </p:cNvSpPr>
              <p:nvPr userDrawn="1"/>
            </p:nvSpPr>
            <p:spPr bwMode="auto">
              <a:xfrm>
                <a:off x="-3275013" y="4457700"/>
                <a:ext cx="444500" cy="282575"/>
              </a:xfrm>
              <a:custGeom>
                <a:avLst/>
                <a:gdLst>
                  <a:gd name="T0" fmla="*/ 313 w 628"/>
                  <a:gd name="T1" fmla="*/ 123 h 401"/>
                  <a:gd name="T2" fmla="*/ 1 w 628"/>
                  <a:gd name="T3" fmla="*/ 401 h 401"/>
                  <a:gd name="T4" fmla="*/ 2 w 628"/>
                  <a:gd name="T5" fmla="*/ 344 h 401"/>
                  <a:gd name="T6" fmla="*/ 13 w 628"/>
                  <a:gd name="T7" fmla="*/ 331 h 401"/>
                  <a:gd name="T8" fmla="*/ 241 w 628"/>
                  <a:gd name="T9" fmla="*/ 20 h 401"/>
                  <a:gd name="T10" fmla="*/ 268 w 628"/>
                  <a:gd name="T11" fmla="*/ 1 h 401"/>
                  <a:gd name="T12" fmla="*/ 354 w 628"/>
                  <a:gd name="T13" fmla="*/ 1 h 401"/>
                  <a:gd name="T14" fmla="*/ 373 w 628"/>
                  <a:gd name="T15" fmla="*/ 14 h 401"/>
                  <a:gd name="T16" fmla="*/ 585 w 628"/>
                  <a:gd name="T17" fmla="*/ 309 h 401"/>
                  <a:gd name="T18" fmla="*/ 618 w 628"/>
                  <a:gd name="T19" fmla="*/ 398 h 401"/>
                  <a:gd name="T20" fmla="*/ 313 w 628"/>
                  <a:gd name="T21" fmla="*/ 123 h 4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28" h="401">
                    <a:moveTo>
                      <a:pt x="313" y="123"/>
                    </a:moveTo>
                    <a:cubicBezTo>
                      <a:pt x="233" y="243"/>
                      <a:pt x="140" y="343"/>
                      <a:pt x="1" y="401"/>
                    </a:cubicBezTo>
                    <a:cubicBezTo>
                      <a:pt x="1" y="379"/>
                      <a:pt x="0" y="362"/>
                      <a:pt x="2" y="344"/>
                    </a:cubicBezTo>
                    <a:cubicBezTo>
                      <a:pt x="2" y="340"/>
                      <a:pt x="8" y="335"/>
                      <a:pt x="13" y="331"/>
                    </a:cubicBezTo>
                    <a:cubicBezTo>
                      <a:pt x="118" y="249"/>
                      <a:pt x="194" y="145"/>
                      <a:pt x="241" y="20"/>
                    </a:cubicBezTo>
                    <a:cubicBezTo>
                      <a:pt x="246" y="6"/>
                      <a:pt x="253" y="0"/>
                      <a:pt x="268" y="1"/>
                    </a:cubicBezTo>
                    <a:cubicBezTo>
                      <a:pt x="297" y="2"/>
                      <a:pt x="326" y="1"/>
                      <a:pt x="354" y="1"/>
                    </a:cubicBezTo>
                    <a:cubicBezTo>
                      <a:pt x="364" y="1"/>
                      <a:pt x="370" y="3"/>
                      <a:pt x="373" y="14"/>
                    </a:cubicBezTo>
                    <a:cubicBezTo>
                      <a:pt x="411" y="135"/>
                      <a:pt x="487" y="232"/>
                      <a:pt x="585" y="309"/>
                    </a:cubicBezTo>
                    <a:cubicBezTo>
                      <a:pt x="616" y="334"/>
                      <a:pt x="628" y="358"/>
                      <a:pt x="618" y="398"/>
                    </a:cubicBezTo>
                    <a:cubicBezTo>
                      <a:pt x="486" y="341"/>
                      <a:pt x="393" y="240"/>
                      <a:pt x="313" y="12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7" name="Freeform 22"/>
              <p:cNvSpPr>
                <a:spLocks/>
              </p:cNvSpPr>
              <p:nvPr userDrawn="1"/>
            </p:nvSpPr>
            <p:spPr bwMode="auto">
              <a:xfrm>
                <a:off x="-2997200" y="4697413"/>
                <a:ext cx="66675" cy="352425"/>
              </a:xfrm>
              <a:custGeom>
                <a:avLst/>
                <a:gdLst>
                  <a:gd name="T0" fmla="*/ 0 w 95"/>
                  <a:gd name="T1" fmla="*/ 499 h 499"/>
                  <a:gd name="T2" fmla="*/ 0 w 95"/>
                  <a:gd name="T3" fmla="*/ 0 h 499"/>
                  <a:gd name="T4" fmla="*/ 95 w 95"/>
                  <a:gd name="T5" fmla="*/ 0 h 499"/>
                  <a:gd name="T6" fmla="*/ 95 w 95"/>
                  <a:gd name="T7" fmla="*/ 499 h 499"/>
                  <a:gd name="T8" fmla="*/ 0 w 95"/>
                  <a:gd name="T9" fmla="*/ 499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5" h="499">
                    <a:moveTo>
                      <a:pt x="0" y="499"/>
                    </a:moveTo>
                    <a:cubicBezTo>
                      <a:pt x="0" y="332"/>
                      <a:pt x="0" y="167"/>
                      <a:pt x="0" y="0"/>
                    </a:cubicBezTo>
                    <a:cubicBezTo>
                      <a:pt x="32" y="0"/>
                      <a:pt x="63" y="0"/>
                      <a:pt x="95" y="0"/>
                    </a:cubicBezTo>
                    <a:cubicBezTo>
                      <a:pt x="95" y="167"/>
                      <a:pt x="95" y="332"/>
                      <a:pt x="95" y="499"/>
                    </a:cubicBezTo>
                    <a:cubicBezTo>
                      <a:pt x="63" y="499"/>
                      <a:pt x="33" y="499"/>
                      <a:pt x="0" y="49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8" name="Freeform 23"/>
              <p:cNvSpPr>
                <a:spLocks/>
              </p:cNvSpPr>
              <p:nvPr userDrawn="1"/>
            </p:nvSpPr>
            <p:spPr bwMode="auto">
              <a:xfrm>
                <a:off x="-3259138" y="4697413"/>
                <a:ext cx="152400" cy="355600"/>
              </a:xfrm>
              <a:custGeom>
                <a:avLst/>
                <a:gdLst>
                  <a:gd name="T0" fmla="*/ 113 w 216"/>
                  <a:gd name="T1" fmla="*/ 0 h 504"/>
                  <a:gd name="T2" fmla="*/ 213 w 216"/>
                  <a:gd name="T3" fmla="*/ 0 h 504"/>
                  <a:gd name="T4" fmla="*/ 215 w 216"/>
                  <a:gd name="T5" fmla="*/ 8 h 504"/>
                  <a:gd name="T6" fmla="*/ 207 w 216"/>
                  <a:gd name="T7" fmla="*/ 230 h 504"/>
                  <a:gd name="T8" fmla="*/ 68 w 216"/>
                  <a:gd name="T9" fmla="*/ 472 h 504"/>
                  <a:gd name="T10" fmla="*/ 1 w 216"/>
                  <a:gd name="T11" fmla="*/ 504 h 504"/>
                  <a:gd name="T12" fmla="*/ 1 w 216"/>
                  <a:gd name="T13" fmla="*/ 449 h 504"/>
                  <a:gd name="T14" fmla="*/ 9 w 216"/>
                  <a:gd name="T15" fmla="*/ 437 h 504"/>
                  <a:gd name="T16" fmla="*/ 103 w 216"/>
                  <a:gd name="T17" fmla="*/ 271 h 504"/>
                  <a:gd name="T18" fmla="*/ 113 w 216"/>
                  <a:gd name="T19" fmla="*/ 22 h 504"/>
                  <a:gd name="T20" fmla="*/ 113 w 216"/>
                  <a:gd name="T21" fmla="*/ 0 h 5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16" h="504">
                    <a:moveTo>
                      <a:pt x="113" y="0"/>
                    </a:moveTo>
                    <a:cubicBezTo>
                      <a:pt x="148" y="0"/>
                      <a:pt x="180" y="0"/>
                      <a:pt x="213" y="0"/>
                    </a:cubicBezTo>
                    <a:cubicBezTo>
                      <a:pt x="214" y="3"/>
                      <a:pt x="215" y="6"/>
                      <a:pt x="215" y="8"/>
                    </a:cubicBezTo>
                    <a:cubicBezTo>
                      <a:pt x="213" y="82"/>
                      <a:pt x="216" y="156"/>
                      <a:pt x="207" y="230"/>
                    </a:cubicBezTo>
                    <a:cubicBezTo>
                      <a:pt x="196" y="329"/>
                      <a:pt x="157" y="416"/>
                      <a:pt x="68" y="472"/>
                    </a:cubicBezTo>
                    <a:cubicBezTo>
                      <a:pt x="48" y="485"/>
                      <a:pt x="26" y="492"/>
                      <a:pt x="1" y="504"/>
                    </a:cubicBezTo>
                    <a:cubicBezTo>
                      <a:pt x="1" y="482"/>
                      <a:pt x="0" y="466"/>
                      <a:pt x="1" y="449"/>
                    </a:cubicBezTo>
                    <a:cubicBezTo>
                      <a:pt x="1" y="445"/>
                      <a:pt x="5" y="439"/>
                      <a:pt x="9" y="437"/>
                    </a:cubicBezTo>
                    <a:cubicBezTo>
                      <a:pt x="71" y="399"/>
                      <a:pt x="97" y="339"/>
                      <a:pt x="103" y="271"/>
                    </a:cubicBezTo>
                    <a:cubicBezTo>
                      <a:pt x="110" y="189"/>
                      <a:pt x="110" y="105"/>
                      <a:pt x="113" y="22"/>
                    </a:cubicBezTo>
                    <a:cubicBezTo>
                      <a:pt x="113" y="15"/>
                      <a:pt x="113" y="9"/>
                      <a:pt x="11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9" name="Freeform 24"/>
              <p:cNvSpPr>
                <a:spLocks noEditPoints="1"/>
              </p:cNvSpPr>
              <p:nvPr userDrawn="1"/>
            </p:nvSpPr>
            <p:spPr bwMode="auto">
              <a:xfrm>
                <a:off x="-4167187" y="4452938"/>
                <a:ext cx="644525" cy="687387"/>
              </a:xfrm>
              <a:custGeom>
                <a:avLst/>
                <a:gdLst>
                  <a:gd name="T0" fmla="*/ 359 w 913"/>
                  <a:gd name="T1" fmla="*/ 497 h 975"/>
                  <a:gd name="T2" fmla="*/ 356 w 913"/>
                  <a:gd name="T3" fmla="*/ 579 h 975"/>
                  <a:gd name="T4" fmla="*/ 302 w 913"/>
                  <a:gd name="T5" fmla="*/ 754 h 975"/>
                  <a:gd name="T6" fmla="*/ 171 w 913"/>
                  <a:gd name="T7" fmla="*/ 867 h 975"/>
                  <a:gd name="T8" fmla="*/ 121 w 913"/>
                  <a:gd name="T9" fmla="*/ 797 h 975"/>
                  <a:gd name="T10" fmla="*/ 37 w 913"/>
                  <a:gd name="T11" fmla="*/ 839 h 975"/>
                  <a:gd name="T12" fmla="*/ 22 w 913"/>
                  <a:gd name="T13" fmla="*/ 760 h 975"/>
                  <a:gd name="T14" fmla="*/ 88 w 913"/>
                  <a:gd name="T15" fmla="*/ 691 h 975"/>
                  <a:gd name="T16" fmla="*/ 194 w 913"/>
                  <a:gd name="T17" fmla="*/ 623 h 975"/>
                  <a:gd name="T18" fmla="*/ 92 w 913"/>
                  <a:gd name="T19" fmla="*/ 602 h 975"/>
                  <a:gd name="T20" fmla="*/ 131 w 913"/>
                  <a:gd name="T21" fmla="*/ 535 h 975"/>
                  <a:gd name="T22" fmla="*/ 23 w 913"/>
                  <a:gd name="T23" fmla="*/ 515 h 975"/>
                  <a:gd name="T24" fmla="*/ 100 w 913"/>
                  <a:gd name="T25" fmla="*/ 440 h 975"/>
                  <a:gd name="T26" fmla="*/ 109 w 913"/>
                  <a:gd name="T27" fmla="*/ 374 h 975"/>
                  <a:gd name="T28" fmla="*/ 277 w 913"/>
                  <a:gd name="T29" fmla="*/ 266 h 975"/>
                  <a:gd name="T30" fmla="*/ 210 w 913"/>
                  <a:gd name="T31" fmla="*/ 260 h 975"/>
                  <a:gd name="T32" fmla="*/ 69 w 913"/>
                  <a:gd name="T33" fmla="*/ 274 h 975"/>
                  <a:gd name="T34" fmla="*/ 106 w 913"/>
                  <a:gd name="T35" fmla="*/ 195 h 975"/>
                  <a:gd name="T36" fmla="*/ 164 w 913"/>
                  <a:gd name="T37" fmla="*/ 124 h 975"/>
                  <a:gd name="T38" fmla="*/ 161 w 913"/>
                  <a:gd name="T39" fmla="*/ 18 h 975"/>
                  <a:gd name="T40" fmla="*/ 300 w 913"/>
                  <a:gd name="T41" fmla="*/ 15 h 975"/>
                  <a:gd name="T42" fmla="*/ 254 w 913"/>
                  <a:gd name="T43" fmla="*/ 125 h 975"/>
                  <a:gd name="T44" fmla="*/ 262 w 913"/>
                  <a:gd name="T45" fmla="*/ 140 h 975"/>
                  <a:gd name="T46" fmla="*/ 415 w 913"/>
                  <a:gd name="T47" fmla="*/ 171 h 975"/>
                  <a:gd name="T48" fmla="*/ 387 w 913"/>
                  <a:gd name="T49" fmla="*/ 245 h 975"/>
                  <a:gd name="T50" fmla="*/ 330 w 913"/>
                  <a:gd name="T51" fmla="*/ 339 h 975"/>
                  <a:gd name="T52" fmla="*/ 350 w 913"/>
                  <a:gd name="T53" fmla="*/ 348 h 975"/>
                  <a:gd name="T54" fmla="*/ 466 w 913"/>
                  <a:gd name="T55" fmla="*/ 352 h 975"/>
                  <a:gd name="T56" fmla="*/ 495 w 913"/>
                  <a:gd name="T57" fmla="*/ 290 h 975"/>
                  <a:gd name="T58" fmla="*/ 687 w 913"/>
                  <a:gd name="T59" fmla="*/ 117 h 975"/>
                  <a:gd name="T60" fmla="*/ 751 w 913"/>
                  <a:gd name="T61" fmla="*/ 52 h 975"/>
                  <a:gd name="T62" fmla="*/ 821 w 913"/>
                  <a:gd name="T63" fmla="*/ 133 h 975"/>
                  <a:gd name="T64" fmla="*/ 717 w 913"/>
                  <a:gd name="T65" fmla="*/ 237 h 975"/>
                  <a:gd name="T66" fmla="*/ 648 w 913"/>
                  <a:gd name="T67" fmla="*/ 271 h 975"/>
                  <a:gd name="T68" fmla="*/ 539 w 913"/>
                  <a:gd name="T69" fmla="*/ 311 h 975"/>
                  <a:gd name="T70" fmla="*/ 626 w 913"/>
                  <a:gd name="T71" fmla="*/ 403 h 975"/>
                  <a:gd name="T72" fmla="*/ 788 w 913"/>
                  <a:gd name="T73" fmla="*/ 350 h 975"/>
                  <a:gd name="T74" fmla="*/ 913 w 913"/>
                  <a:gd name="T75" fmla="*/ 428 h 975"/>
                  <a:gd name="T76" fmla="*/ 802 w 913"/>
                  <a:gd name="T77" fmla="*/ 467 h 975"/>
                  <a:gd name="T78" fmla="*/ 728 w 913"/>
                  <a:gd name="T79" fmla="*/ 546 h 975"/>
                  <a:gd name="T80" fmla="*/ 716 w 913"/>
                  <a:gd name="T81" fmla="*/ 736 h 975"/>
                  <a:gd name="T82" fmla="*/ 700 w 913"/>
                  <a:gd name="T83" fmla="*/ 811 h 975"/>
                  <a:gd name="T84" fmla="*/ 659 w 913"/>
                  <a:gd name="T85" fmla="*/ 925 h 975"/>
                  <a:gd name="T86" fmla="*/ 644 w 913"/>
                  <a:gd name="T87" fmla="*/ 903 h 975"/>
                  <a:gd name="T88" fmla="*/ 638 w 913"/>
                  <a:gd name="T89" fmla="*/ 808 h 975"/>
                  <a:gd name="T90" fmla="*/ 625 w 913"/>
                  <a:gd name="T91" fmla="*/ 498 h 975"/>
                  <a:gd name="T92" fmla="*/ 474 w 913"/>
                  <a:gd name="T93" fmla="*/ 642 h 975"/>
                  <a:gd name="T94" fmla="*/ 436 w 913"/>
                  <a:gd name="T95" fmla="*/ 623 h 975"/>
                  <a:gd name="T96" fmla="*/ 400 w 913"/>
                  <a:gd name="T97" fmla="*/ 734 h 975"/>
                  <a:gd name="T98" fmla="*/ 310 w 913"/>
                  <a:gd name="T99" fmla="*/ 649 h 975"/>
                  <a:gd name="T100" fmla="*/ 468 w 913"/>
                  <a:gd name="T101" fmla="*/ 557 h 975"/>
                  <a:gd name="T102" fmla="*/ 489 w 913"/>
                  <a:gd name="T103" fmla="*/ 390 h 975"/>
                  <a:gd name="T104" fmla="*/ 428 w 913"/>
                  <a:gd name="T105" fmla="*/ 431 h 975"/>
                  <a:gd name="T106" fmla="*/ 311 w 913"/>
                  <a:gd name="T107" fmla="*/ 451 h 975"/>
                  <a:gd name="T108" fmla="*/ 295 w 913"/>
                  <a:gd name="T109" fmla="*/ 293 h 975"/>
                  <a:gd name="T110" fmla="*/ 170 w 913"/>
                  <a:gd name="T111" fmla="*/ 396 h 975"/>
                  <a:gd name="T112" fmla="*/ 194 w 913"/>
                  <a:gd name="T113" fmla="*/ 685 h 9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913" h="975">
                    <a:moveTo>
                      <a:pt x="253" y="470"/>
                    </a:moveTo>
                    <a:cubicBezTo>
                      <a:pt x="264" y="473"/>
                      <a:pt x="270" y="480"/>
                      <a:pt x="274" y="488"/>
                    </a:cubicBezTo>
                    <a:cubicBezTo>
                      <a:pt x="277" y="492"/>
                      <a:pt x="279" y="492"/>
                      <a:pt x="283" y="490"/>
                    </a:cubicBezTo>
                    <a:cubicBezTo>
                      <a:pt x="289" y="487"/>
                      <a:pt x="295" y="483"/>
                      <a:pt x="301" y="483"/>
                    </a:cubicBezTo>
                    <a:cubicBezTo>
                      <a:pt x="315" y="481"/>
                      <a:pt x="329" y="480"/>
                      <a:pt x="342" y="481"/>
                    </a:cubicBezTo>
                    <a:cubicBezTo>
                      <a:pt x="348" y="481"/>
                      <a:pt x="354" y="486"/>
                      <a:pt x="360" y="488"/>
                    </a:cubicBezTo>
                    <a:cubicBezTo>
                      <a:pt x="359" y="491"/>
                      <a:pt x="359" y="493"/>
                      <a:pt x="359" y="497"/>
                    </a:cubicBezTo>
                    <a:cubicBezTo>
                      <a:pt x="367" y="499"/>
                      <a:pt x="376" y="502"/>
                      <a:pt x="385" y="505"/>
                    </a:cubicBezTo>
                    <a:cubicBezTo>
                      <a:pt x="391" y="507"/>
                      <a:pt x="396" y="511"/>
                      <a:pt x="401" y="515"/>
                    </a:cubicBezTo>
                    <a:cubicBezTo>
                      <a:pt x="402" y="516"/>
                      <a:pt x="402" y="519"/>
                      <a:pt x="402" y="521"/>
                    </a:cubicBezTo>
                    <a:cubicBezTo>
                      <a:pt x="401" y="526"/>
                      <a:pt x="400" y="530"/>
                      <a:pt x="398" y="534"/>
                    </a:cubicBezTo>
                    <a:cubicBezTo>
                      <a:pt x="397" y="538"/>
                      <a:pt x="396" y="542"/>
                      <a:pt x="394" y="545"/>
                    </a:cubicBezTo>
                    <a:cubicBezTo>
                      <a:pt x="390" y="550"/>
                      <a:pt x="386" y="555"/>
                      <a:pt x="383" y="560"/>
                    </a:cubicBezTo>
                    <a:cubicBezTo>
                      <a:pt x="376" y="570"/>
                      <a:pt x="367" y="575"/>
                      <a:pt x="356" y="579"/>
                    </a:cubicBezTo>
                    <a:cubicBezTo>
                      <a:pt x="333" y="588"/>
                      <a:pt x="309" y="589"/>
                      <a:pt x="286" y="594"/>
                    </a:cubicBezTo>
                    <a:cubicBezTo>
                      <a:pt x="284" y="595"/>
                      <a:pt x="281" y="596"/>
                      <a:pt x="280" y="598"/>
                    </a:cubicBezTo>
                    <a:cubicBezTo>
                      <a:pt x="275" y="608"/>
                      <a:pt x="275" y="619"/>
                      <a:pt x="276" y="630"/>
                    </a:cubicBezTo>
                    <a:cubicBezTo>
                      <a:pt x="278" y="646"/>
                      <a:pt x="278" y="662"/>
                      <a:pt x="280" y="678"/>
                    </a:cubicBezTo>
                    <a:cubicBezTo>
                      <a:pt x="281" y="690"/>
                      <a:pt x="285" y="702"/>
                      <a:pt x="288" y="714"/>
                    </a:cubicBezTo>
                    <a:cubicBezTo>
                      <a:pt x="289" y="718"/>
                      <a:pt x="291" y="722"/>
                      <a:pt x="294" y="725"/>
                    </a:cubicBezTo>
                    <a:cubicBezTo>
                      <a:pt x="301" y="733"/>
                      <a:pt x="302" y="743"/>
                      <a:pt x="302" y="754"/>
                    </a:cubicBezTo>
                    <a:cubicBezTo>
                      <a:pt x="303" y="764"/>
                      <a:pt x="306" y="774"/>
                      <a:pt x="308" y="785"/>
                    </a:cubicBezTo>
                    <a:cubicBezTo>
                      <a:pt x="309" y="791"/>
                      <a:pt x="309" y="798"/>
                      <a:pt x="305" y="804"/>
                    </a:cubicBezTo>
                    <a:cubicBezTo>
                      <a:pt x="286" y="834"/>
                      <a:pt x="263" y="859"/>
                      <a:pt x="242" y="886"/>
                    </a:cubicBezTo>
                    <a:cubicBezTo>
                      <a:pt x="233" y="897"/>
                      <a:pt x="222" y="905"/>
                      <a:pt x="208" y="908"/>
                    </a:cubicBezTo>
                    <a:cubicBezTo>
                      <a:pt x="196" y="911"/>
                      <a:pt x="186" y="907"/>
                      <a:pt x="178" y="899"/>
                    </a:cubicBezTo>
                    <a:cubicBezTo>
                      <a:pt x="174" y="895"/>
                      <a:pt x="170" y="891"/>
                      <a:pt x="172" y="884"/>
                    </a:cubicBezTo>
                    <a:cubicBezTo>
                      <a:pt x="173" y="879"/>
                      <a:pt x="172" y="872"/>
                      <a:pt x="171" y="867"/>
                    </a:cubicBezTo>
                    <a:cubicBezTo>
                      <a:pt x="171" y="866"/>
                      <a:pt x="168" y="865"/>
                      <a:pt x="167" y="865"/>
                    </a:cubicBezTo>
                    <a:cubicBezTo>
                      <a:pt x="165" y="859"/>
                      <a:pt x="163" y="852"/>
                      <a:pt x="162" y="846"/>
                    </a:cubicBezTo>
                    <a:cubicBezTo>
                      <a:pt x="161" y="845"/>
                      <a:pt x="161" y="844"/>
                      <a:pt x="162" y="844"/>
                    </a:cubicBezTo>
                    <a:cubicBezTo>
                      <a:pt x="168" y="838"/>
                      <a:pt x="165" y="831"/>
                      <a:pt x="164" y="826"/>
                    </a:cubicBezTo>
                    <a:cubicBezTo>
                      <a:pt x="157" y="821"/>
                      <a:pt x="148" y="820"/>
                      <a:pt x="146" y="810"/>
                    </a:cubicBezTo>
                    <a:cubicBezTo>
                      <a:pt x="145" y="808"/>
                      <a:pt x="140" y="807"/>
                      <a:pt x="137" y="805"/>
                    </a:cubicBezTo>
                    <a:cubicBezTo>
                      <a:pt x="131" y="803"/>
                      <a:pt x="125" y="804"/>
                      <a:pt x="121" y="797"/>
                    </a:cubicBezTo>
                    <a:cubicBezTo>
                      <a:pt x="119" y="795"/>
                      <a:pt x="113" y="793"/>
                      <a:pt x="110" y="789"/>
                    </a:cubicBezTo>
                    <a:cubicBezTo>
                      <a:pt x="110" y="788"/>
                      <a:pt x="109" y="788"/>
                      <a:pt x="108" y="788"/>
                    </a:cubicBezTo>
                    <a:cubicBezTo>
                      <a:pt x="101" y="789"/>
                      <a:pt x="96" y="787"/>
                      <a:pt x="90" y="782"/>
                    </a:cubicBezTo>
                    <a:cubicBezTo>
                      <a:pt x="87" y="779"/>
                      <a:pt x="78" y="781"/>
                      <a:pt x="75" y="784"/>
                    </a:cubicBezTo>
                    <a:cubicBezTo>
                      <a:pt x="70" y="790"/>
                      <a:pt x="65" y="795"/>
                      <a:pt x="60" y="799"/>
                    </a:cubicBezTo>
                    <a:cubicBezTo>
                      <a:pt x="50" y="807"/>
                      <a:pt x="46" y="817"/>
                      <a:pt x="42" y="827"/>
                    </a:cubicBezTo>
                    <a:cubicBezTo>
                      <a:pt x="40" y="831"/>
                      <a:pt x="38" y="835"/>
                      <a:pt x="37" y="839"/>
                    </a:cubicBezTo>
                    <a:cubicBezTo>
                      <a:pt x="29" y="842"/>
                      <a:pt x="24" y="840"/>
                      <a:pt x="21" y="832"/>
                    </a:cubicBezTo>
                    <a:cubicBezTo>
                      <a:pt x="19" y="824"/>
                      <a:pt x="17" y="816"/>
                      <a:pt x="15" y="807"/>
                    </a:cubicBezTo>
                    <a:cubicBezTo>
                      <a:pt x="15" y="801"/>
                      <a:pt x="13" y="797"/>
                      <a:pt x="8" y="794"/>
                    </a:cubicBezTo>
                    <a:cubicBezTo>
                      <a:pt x="0" y="789"/>
                      <a:pt x="0" y="788"/>
                      <a:pt x="8" y="782"/>
                    </a:cubicBezTo>
                    <a:cubicBezTo>
                      <a:pt x="10" y="780"/>
                      <a:pt x="13" y="779"/>
                      <a:pt x="14" y="778"/>
                    </a:cubicBezTo>
                    <a:cubicBezTo>
                      <a:pt x="16" y="773"/>
                      <a:pt x="18" y="768"/>
                      <a:pt x="21" y="764"/>
                    </a:cubicBezTo>
                    <a:cubicBezTo>
                      <a:pt x="21" y="763"/>
                      <a:pt x="22" y="761"/>
                      <a:pt x="22" y="760"/>
                    </a:cubicBezTo>
                    <a:cubicBezTo>
                      <a:pt x="21" y="748"/>
                      <a:pt x="28" y="737"/>
                      <a:pt x="33" y="727"/>
                    </a:cubicBezTo>
                    <a:cubicBezTo>
                      <a:pt x="37" y="719"/>
                      <a:pt x="43" y="712"/>
                      <a:pt x="39" y="702"/>
                    </a:cubicBezTo>
                    <a:cubicBezTo>
                      <a:pt x="39" y="701"/>
                      <a:pt x="40" y="699"/>
                      <a:pt x="41" y="698"/>
                    </a:cubicBezTo>
                    <a:cubicBezTo>
                      <a:pt x="51" y="689"/>
                      <a:pt x="64" y="685"/>
                      <a:pt x="77" y="680"/>
                    </a:cubicBezTo>
                    <a:cubicBezTo>
                      <a:pt x="75" y="682"/>
                      <a:pt x="73" y="683"/>
                      <a:pt x="69" y="685"/>
                    </a:cubicBezTo>
                    <a:cubicBezTo>
                      <a:pt x="74" y="686"/>
                      <a:pt x="77" y="686"/>
                      <a:pt x="79" y="687"/>
                    </a:cubicBezTo>
                    <a:cubicBezTo>
                      <a:pt x="83" y="688"/>
                      <a:pt x="86" y="689"/>
                      <a:pt x="88" y="691"/>
                    </a:cubicBezTo>
                    <a:cubicBezTo>
                      <a:pt x="92" y="696"/>
                      <a:pt x="96" y="696"/>
                      <a:pt x="101" y="695"/>
                    </a:cubicBezTo>
                    <a:cubicBezTo>
                      <a:pt x="120" y="691"/>
                      <a:pt x="136" y="682"/>
                      <a:pt x="152" y="673"/>
                    </a:cubicBezTo>
                    <a:cubicBezTo>
                      <a:pt x="155" y="671"/>
                      <a:pt x="158" y="668"/>
                      <a:pt x="163" y="671"/>
                    </a:cubicBezTo>
                    <a:cubicBezTo>
                      <a:pt x="164" y="671"/>
                      <a:pt x="165" y="671"/>
                      <a:pt x="166" y="670"/>
                    </a:cubicBezTo>
                    <a:cubicBezTo>
                      <a:pt x="175" y="666"/>
                      <a:pt x="183" y="661"/>
                      <a:pt x="192" y="657"/>
                    </a:cubicBezTo>
                    <a:cubicBezTo>
                      <a:pt x="196" y="655"/>
                      <a:pt x="197" y="653"/>
                      <a:pt x="196" y="649"/>
                    </a:cubicBezTo>
                    <a:cubicBezTo>
                      <a:pt x="195" y="641"/>
                      <a:pt x="195" y="633"/>
                      <a:pt x="194" y="623"/>
                    </a:cubicBezTo>
                    <a:cubicBezTo>
                      <a:pt x="185" y="628"/>
                      <a:pt x="175" y="632"/>
                      <a:pt x="167" y="637"/>
                    </a:cubicBezTo>
                    <a:cubicBezTo>
                      <a:pt x="147" y="648"/>
                      <a:pt x="128" y="659"/>
                      <a:pt x="109" y="669"/>
                    </a:cubicBezTo>
                    <a:cubicBezTo>
                      <a:pt x="98" y="675"/>
                      <a:pt x="90" y="671"/>
                      <a:pt x="89" y="659"/>
                    </a:cubicBezTo>
                    <a:cubicBezTo>
                      <a:pt x="88" y="653"/>
                      <a:pt x="88" y="647"/>
                      <a:pt x="88" y="642"/>
                    </a:cubicBezTo>
                    <a:cubicBezTo>
                      <a:pt x="77" y="640"/>
                      <a:pt x="75" y="637"/>
                      <a:pt x="79" y="628"/>
                    </a:cubicBezTo>
                    <a:cubicBezTo>
                      <a:pt x="88" y="631"/>
                      <a:pt x="90" y="622"/>
                      <a:pt x="94" y="620"/>
                    </a:cubicBezTo>
                    <a:cubicBezTo>
                      <a:pt x="93" y="613"/>
                      <a:pt x="92" y="607"/>
                      <a:pt x="92" y="602"/>
                    </a:cubicBezTo>
                    <a:cubicBezTo>
                      <a:pt x="93" y="592"/>
                      <a:pt x="95" y="583"/>
                      <a:pt x="98" y="574"/>
                    </a:cubicBezTo>
                    <a:cubicBezTo>
                      <a:pt x="99" y="570"/>
                      <a:pt x="104" y="567"/>
                      <a:pt x="108" y="566"/>
                    </a:cubicBezTo>
                    <a:cubicBezTo>
                      <a:pt x="126" y="559"/>
                      <a:pt x="144" y="553"/>
                      <a:pt x="161" y="547"/>
                    </a:cubicBezTo>
                    <a:cubicBezTo>
                      <a:pt x="171" y="543"/>
                      <a:pt x="181" y="540"/>
                      <a:pt x="190" y="537"/>
                    </a:cubicBezTo>
                    <a:cubicBezTo>
                      <a:pt x="196" y="536"/>
                      <a:pt x="198" y="532"/>
                      <a:pt x="195" y="527"/>
                    </a:cubicBezTo>
                    <a:cubicBezTo>
                      <a:pt x="191" y="519"/>
                      <a:pt x="186" y="512"/>
                      <a:pt x="181" y="504"/>
                    </a:cubicBezTo>
                    <a:cubicBezTo>
                      <a:pt x="163" y="515"/>
                      <a:pt x="147" y="525"/>
                      <a:pt x="131" y="535"/>
                    </a:cubicBezTo>
                    <a:cubicBezTo>
                      <a:pt x="102" y="551"/>
                      <a:pt x="73" y="567"/>
                      <a:pt x="47" y="588"/>
                    </a:cubicBezTo>
                    <a:cubicBezTo>
                      <a:pt x="44" y="590"/>
                      <a:pt x="39" y="590"/>
                      <a:pt x="36" y="588"/>
                    </a:cubicBezTo>
                    <a:cubicBezTo>
                      <a:pt x="29" y="583"/>
                      <a:pt x="23" y="576"/>
                      <a:pt x="17" y="571"/>
                    </a:cubicBezTo>
                    <a:cubicBezTo>
                      <a:pt x="17" y="567"/>
                      <a:pt x="18" y="564"/>
                      <a:pt x="17" y="562"/>
                    </a:cubicBezTo>
                    <a:cubicBezTo>
                      <a:pt x="11" y="552"/>
                      <a:pt x="11" y="549"/>
                      <a:pt x="19" y="539"/>
                    </a:cubicBezTo>
                    <a:cubicBezTo>
                      <a:pt x="22" y="535"/>
                      <a:pt x="26" y="531"/>
                      <a:pt x="24" y="525"/>
                    </a:cubicBezTo>
                    <a:cubicBezTo>
                      <a:pt x="24" y="522"/>
                      <a:pt x="24" y="518"/>
                      <a:pt x="23" y="515"/>
                    </a:cubicBezTo>
                    <a:cubicBezTo>
                      <a:pt x="26" y="511"/>
                      <a:pt x="30" y="507"/>
                      <a:pt x="33" y="502"/>
                    </a:cubicBezTo>
                    <a:cubicBezTo>
                      <a:pt x="36" y="495"/>
                      <a:pt x="26" y="494"/>
                      <a:pt x="25" y="487"/>
                    </a:cubicBezTo>
                    <a:cubicBezTo>
                      <a:pt x="36" y="482"/>
                      <a:pt x="46" y="474"/>
                      <a:pt x="60" y="476"/>
                    </a:cubicBezTo>
                    <a:cubicBezTo>
                      <a:pt x="65" y="477"/>
                      <a:pt x="68" y="475"/>
                      <a:pt x="70" y="471"/>
                    </a:cubicBezTo>
                    <a:cubicBezTo>
                      <a:pt x="72" y="467"/>
                      <a:pt x="74" y="464"/>
                      <a:pt x="80" y="467"/>
                    </a:cubicBezTo>
                    <a:cubicBezTo>
                      <a:pt x="83" y="468"/>
                      <a:pt x="87" y="465"/>
                      <a:pt x="91" y="463"/>
                    </a:cubicBezTo>
                    <a:cubicBezTo>
                      <a:pt x="106" y="456"/>
                      <a:pt x="106" y="456"/>
                      <a:pt x="100" y="440"/>
                    </a:cubicBezTo>
                    <a:cubicBezTo>
                      <a:pt x="98" y="436"/>
                      <a:pt x="97" y="432"/>
                      <a:pt x="95" y="428"/>
                    </a:cubicBezTo>
                    <a:cubicBezTo>
                      <a:pt x="93" y="424"/>
                      <a:pt x="90" y="419"/>
                      <a:pt x="97" y="416"/>
                    </a:cubicBezTo>
                    <a:cubicBezTo>
                      <a:pt x="99" y="416"/>
                      <a:pt x="98" y="412"/>
                      <a:pt x="99" y="410"/>
                    </a:cubicBezTo>
                    <a:cubicBezTo>
                      <a:pt x="100" y="404"/>
                      <a:pt x="102" y="398"/>
                      <a:pt x="104" y="393"/>
                    </a:cubicBezTo>
                    <a:cubicBezTo>
                      <a:pt x="105" y="388"/>
                      <a:pt x="105" y="383"/>
                      <a:pt x="101" y="379"/>
                    </a:cubicBezTo>
                    <a:cubicBezTo>
                      <a:pt x="100" y="378"/>
                      <a:pt x="100" y="376"/>
                      <a:pt x="99" y="374"/>
                    </a:cubicBezTo>
                    <a:cubicBezTo>
                      <a:pt x="102" y="374"/>
                      <a:pt x="105" y="374"/>
                      <a:pt x="109" y="374"/>
                    </a:cubicBezTo>
                    <a:cubicBezTo>
                      <a:pt x="110" y="363"/>
                      <a:pt x="111" y="353"/>
                      <a:pt x="112" y="342"/>
                    </a:cubicBezTo>
                    <a:cubicBezTo>
                      <a:pt x="112" y="337"/>
                      <a:pt x="114" y="332"/>
                      <a:pt x="115" y="326"/>
                    </a:cubicBezTo>
                    <a:cubicBezTo>
                      <a:pt x="123" y="330"/>
                      <a:pt x="131" y="332"/>
                      <a:pt x="137" y="337"/>
                    </a:cubicBezTo>
                    <a:cubicBezTo>
                      <a:pt x="152" y="348"/>
                      <a:pt x="165" y="347"/>
                      <a:pt x="180" y="336"/>
                    </a:cubicBezTo>
                    <a:cubicBezTo>
                      <a:pt x="200" y="321"/>
                      <a:pt x="221" y="307"/>
                      <a:pt x="242" y="292"/>
                    </a:cubicBezTo>
                    <a:cubicBezTo>
                      <a:pt x="252" y="285"/>
                      <a:pt x="261" y="278"/>
                      <a:pt x="271" y="272"/>
                    </a:cubicBezTo>
                    <a:cubicBezTo>
                      <a:pt x="273" y="270"/>
                      <a:pt x="275" y="268"/>
                      <a:pt x="277" y="266"/>
                    </a:cubicBezTo>
                    <a:cubicBezTo>
                      <a:pt x="279" y="263"/>
                      <a:pt x="282" y="261"/>
                      <a:pt x="286" y="259"/>
                    </a:cubicBezTo>
                    <a:cubicBezTo>
                      <a:pt x="291" y="258"/>
                      <a:pt x="295" y="252"/>
                      <a:pt x="298" y="247"/>
                    </a:cubicBezTo>
                    <a:cubicBezTo>
                      <a:pt x="301" y="243"/>
                      <a:pt x="301" y="238"/>
                      <a:pt x="304" y="231"/>
                    </a:cubicBezTo>
                    <a:cubicBezTo>
                      <a:pt x="288" y="240"/>
                      <a:pt x="274" y="248"/>
                      <a:pt x="259" y="257"/>
                    </a:cubicBezTo>
                    <a:cubicBezTo>
                      <a:pt x="260" y="248"/>
                      <a:pt x="270" y="244"/>
                      <a:pt x="271" y="235"/>
                    </a:cubicBezTo>
                    <a:cubicBezTo>
                      <a:pt x="270" y="234"/>
                      <a:pt x="270" y="234"/>
                      <a:pt x="269" y="233"/>
                    </a:cubicBezTo>
                    <a:cubicBezTo>
                      <a:pt x="249" y="242"/>
                      <a:pt x="229" y="250"/>
                      <a:pt x="210" y="260"/>
                    </a:cubicBezTo>
                    <a:cubicBezTo>
                      <a:pt x="196" y="267"/>
                      <a:pt x="183" y="276"/>
                      <a:pt x="170" y="284"/>
                    </a:cubicBezTo>
                    <a:cubicBezTo>
                      <a:pt x="160" y="289"/>
                      <a:pt x="149" y="292"/>
                      <a:pt x="140" y="298"/>
                    </a:cubicBezTo>
                    <a:cubicBezTo>
                      <a:pt x="126" y="306"/>
                      <a:pt x="112" y="314"/>
                      <a:pt x="99" y="323"/>
                    </a:cubicBezTo>
                    <a:cubicBezTo>
                      <a:pt x="93" y="328"/>
                      <a:pt x="87" y="327"/>
                      <a:pt x="83" y="322"/>
                    </a:cubicBezTo>
                    <a:cubicBezTo>
                      <a:pt x="76" y="317"/>
                      <a:pt x="74" y="309"/>
                      <a:pt x="75" y="301"/>
                    </a:cubicBezTo>
                    <a:cubicBezTo>
                      <a:pt x="76" y="293"/>
                      <a:pt x="76" y="292"/>
                      <a:pt x="69" y="290"/>
                    </a:cubicBezTo>
                    <a:cubicBezTo>
                      <a:pt x="69" y="285"/>
                      <a:pt x="68" y="279"/>
                      <a:pt x="69" y="274"/>
                    </a:cubicBezTo>
                    <a:cubicBezTo>
                      <a:pt x="69" y="272"/>
                      <a:pt x="71" y="270"/>
                      <a:pt x="73" y="268"/>
                    </a:cubicBezTo>
                    <a:cubicBezTo>
                      <a:pt x="77" y="262"/>
                      <a:pt x="83" y="257"/>
                      <a:pt x="84" y="249"/>
                    </a:cubicBezTo>
                    <a:cubicBezTo>
                      <a:pt x="85" y="244"/>
                      <a:pt x="92" y="240"/>
                      <a:pt x="98" y="234"/>
                    </a:cubicBezTo>
                    <a:cubicBezTo>
                      <a:pt x="96" y="229"/>
                      <a:pt x="94" y="223"/>
                      <a:pt x="93" y="217"/>
                    </a:cubicBezTo>
                    <a:cubicBezTo>
                      <a:pt x="92" y="211"/>
                      <a:pt x="92" y="205"/>
                      <a:pt x="93" y="200"/>
                    </a:cubicBezTo>
                    <a:cubicBezTo>
                      <a:pt x="93" y="198"/>
                      <a:pt x="97" y="197"/>
                      <a:pt x="99" y="196"/>
                    </a:cubicBezTo>
                    <a:cubicBezTo>
                      <a:pt x="101" y="195"/>
                      <a:pt x="104" y="196"/>
                      <a:pt x="106" y="195"/>
                    </a:cubicBezTo>
                    <a:cubicBezTo>
                      <a:pt x="116" y="188"/>
                      <a:pt x="125" y="192"/>
                      <a:pt x="133" y="199"/>
                    </a:cubicBezTo>
                    <a:cubicBezTo>
                      <a:pt x="138" y="203"/>
                      <a:pt x="143" y="203"/>
                      <a:pt x="147" y="199"/>
                    </a:cubicBezTo>
                    <a:cubicBezTo>
                      <a:pt x="152" y="194"/>
                      <a:pt x="155" y="187"/>
                      <a:pt x="159" y="181"/>
                    </a:cubicBezTo>
                    <a:cubicBezTo>
                      <a:pt x="161" y="180"/>
                      <a:pt x="162" y="178"/>
                      <a:pt x="164" y="176"/>
                    </a:cubicBezTo>
                    <a:cubicBezTo>
                      <a:pt x="174" y="164"/>
                      <a:pt x="183" y="152"/>
                      <a:pt x="194" y="140"/>
                    </a:cubicBezTo>
                    <a:cubicBezTo>
                      <a:pt x="192" y="139"/>
                      <a:pt x="191" y="139"/>
                      <a:pt x="190" y="139"/>
                    </a:cubicBezTo>
                    <a:cubicBezTo>
                      <a:pt x="178" y="140"/>
                      <a:pt x="171" y="132"/>
                      <a:pt x="164" y="124"/>
                    </a:cubicBezTo>
                    <a:cubicBezTo>
                      <a:pt x="157" y="116"/>
                      <a:pt x="152" y="106"/>
                      <a:pt x="151" y="95"/>
                    </a:cubicBezTo>
                    <a:cubicBezTo>
                      <a:pt x="151" y="93"/>
                      <a:pt x="149" y="91"/>
                      <a:pt x="148" y="90"/>
                    </a:cubicBezTo>
                    <a:cubicBezTo>
                      <a:pt x="143" y="84"/>
                      <a:pt x="137" y="78"/>
                      <a:pt x="130" y="71"/>
                    </a:cubicBezTo>
                    <a:cubicBezTo>
                      <a:pt x="137" y="67"/>
                      <a:pt x="142" y="63"/>
                      <a:pt x="147" y="62"/>
                    </a:cubicBezTo>
                    <a:cubicBezTo>
                      <a:pt x="152" y="60"/>
                      <a:pt x="154" y="58"/>
                      <a:pt x="153" y="53"/>
                    </a:cubicBezTo>
                    <a:cubicBezTo>
                      <a:pt x="151" y="46"/>
                      <a:pt x="150" y="39"/>
                      <a:pt x="149" y="32"/>
                    </a:cubicBezTo>
                    <a:cubicBezTo>
                      <a:pt x="147" y="26"/>
                      <a:pt x="154" y="17"/>
                      <a:pt x="161" y="18"/>
                    </a:cubicBezTo>
                    <a:cubicBezTo>
                      <a:pt x="166" y="19"/>
                      <a:pt x="172" y="20"/>
                      <a:pt x="177" y="21"/>
                    </a:cubicBezTo>
                    <a:cubicBezTo>
                      <a:pt x="185" y="24"/>
                      <a:pt x="191" y="20"/>
                      <a:pt x="198" y="16"/>
                    </a:cubicBezTo>
                    <a:cubicBezTo>
                      <a:pt x="205" y="11"/>
                      <a:pt x="212" y="6"/>
                      <a:pt x="219" y="2"/>
                    </a:cubicBezTo>
                    <a:cubicBezTo>
                      <a:pt x="221" y="0"/>
                      <a:pt x="224" y="0"/>
                      <a:pt x="227" y="0"/>
                    </a:cubicBezTo>
                    <a:cubicBezTo>
                      <a:pt x="237" y="0"/>
                      <a:pt x="248" y="1"/>
                      <a:pt x="258" y="1"/>
                    </a:cubicBezTo>
                    <a:cubicBezTo>
                      <a:pt x="266" y="2"/>
                      <a:pt x="275" y="1"/>
                      <a:pt x="283" y="2"/>
                    </a:cubicBezTo>
                    <a:cubicBezTo>
                      <a:pt x="290" y="3"/>
                      <a:pt x="295" y="8"/>
                      <a:pt x="300" y="15"/>
                    </a:cubicBezTo>
                    <a:cubicBezTo>
                      <a:pt x="301" y="17"/>
                      <a:pt x="305" y="20"/>
                      <a:pt x="307" y="21"/>
                    </a:cubicBezTo>
                    <a:cubicBezTo>
                      <a:pt x="319" y="29"/>
                      <a:pt x="331" y="36"/>
                      <a:pt x="343" y="43"/>
                    </a:cubicBezTo>
                    <a:cubicBezTo>
                      <a:pt x="356" y="50"/>
                      <a:pt x="360" y="63"/>
                      <a:pt x="360" y="76"/>
                    </a:cubicBezTo>
                    <a:cubicBezTo>
                      <a:pt x="359" y="82"/>
                      <a:pt x="355" y="89"/>
                      <a:pt x="350" y="93"/>
                    </a:cubicBezTo>
                    <a:cubicBezTo>
                      <a:pt x="344" y="100"/>
                      <a:pt x="337" y="106"/>
                      <a:pt x="329" y="109"/>
                    </a:cubicBezTo>
                    <a:cubicBezTo>
                      <a:pt x="322" y="112"/>
                      <a:pt x="313" y="111"/>
                      <a:pt x="306" y="111"/>
                    </a:cubicBezTo>
                    <a:cubicBezTo>
                      <a:pt x="287" y="110"/>
                      <a:pt x="269" y="112"/>
                      <a:pt x="254" y="125"/>
                    </a:cubicBezTo>
                    <a:cubicBezTo>
                      <a:pt x="239" y="136"/>
                      <a:pt x="225" y="149"/>
                      <a:pt x="211" y="161"/>
                    </a:cubicBezTo>
                    <a:cubicBezTo>
                      <a:pt x="202" y="167"/>
                      <a:pt x="192" y="173"/>
                      <a:pt x="182" y="179"/>
                    </a:cubicBezTo>
                    <a:cubicBezTo>
                      <a:pt x="178" y="181"/>
                      <a:pt x="175" y="184"/>
                      <a:pt x="171" y="187"/>
                    </a:cubicBezTo>
                    <a:cubicBezTo>
                      <a:pt x="172" y="187"/>
                      <a:pt x="172" y="188"/>
                      <a:pt x="172" y="188"/>
                    </a:cubicBezTo>
                    <a:cubicBezTo>
                      <a:pt x="181" y="185"/>
                      <a:pt x="190" y="181"/>
                      <a:pt x="199" y="177"/>
                    </a:cubicBezTo>
                    <a:cubicBezTo>
                      <a:pt x="215" y="171"/>
                      <a:pt x="231" y="164"/>
                      <a:pt x="247" y="159"/>
                    </a:cubicBezTo>
                    <a:cubicBezTo>
                      <a:pt x="256" y="155"/>
                      <a:pt x="259" y="147"/>
                      <a:pt x="262" y="140"/>
                    </a:cubicBezTo>
                    <a:cubicBezTo>
                      <a:pt x="265" y="132"/>
                      <a:pt x="270" y="129"/>
                      <a:pt x="277" y="127"/>
                    </a:cubicBezTo>
                    <a:cubicBezTo>
                      <a:pt x="291" y="122"/>
                      <a:pt x="304" y="127"/>
                      <a:pt x="317" y="129"/>
                    </a:cubicBezTo>
                    <a:cubicBezTo>
                      <a:pt x="325" y="130"/>
                      <a:pt x="333" y="132"/>
                      <a:pt x="341" y="130"/>
                    </a:cubicBezTo>
                    <a:cubicBezTo>
                      <a:pt x="352" y="129"/>
                      <a:pt x="361" y="132"/>
                      <a:pt x="371" y="137"/>
                    </a:cubicBezTo>
                    <a:cubicBezTo>
                      <a:pt x="378" y="142"/>
                      <a:pt x="387" y="145"/>
                      <a:pt x="394" y="149"/>
                    </a:cubicBezTo>
                    <a:cubicBezTo>
                      <a:pt x="399" y="151"/>
                      <a:pt x="404" y="154"/>
                      <a:pt x="409" y="157"/>
                    </a:cubicBezTo>
                    <a:cubicBezTo>
                      <a:pt x="413" y="160"/>
                      <a:pt x="416" y="165"/>
                      <a:pt x="415" y="171"/>
                    </a:cubicBezTo>
                    <a:cubicBezTo>
                      <a:pt x="414" y="172"/>
                      <a:pt x="414" y="174"/>
                      <a:pt x="414" y="175"/>
                    </a:cubicBezTo>
                    <a:cubicBezTo>
                      <a:pt x="417" y="183"/>
                      <a:pt x="413" y="187"/>
                      <a:pt x="406" y="190"/>
                    </a:cubicBezTo>
                    <a:cubicBezTo>
                      <a:pt x="404" y="190"/>
                      <a:pt x="403" y="193"/>
                      <a:pt x="401" y="195"/>
                    </a:cubicBezTo>
                    <a:cubicBezTo>
                      <a:pt x="396" y="200"/>
                      <a:pt x="390" y="205"/>
                      <a:pt x="386" y="212"/>
                    </a:cubicBezTo>
                    <a:cubicBezTo>
                      <a:pt x="381" y="223"/>
                      <a:pt x="368" y="223"/>
                      <a:pt x="359" y="231"/>
                    </a:cubicBezTo>
                    <a:cubicBezTo>
                      <a:pt x="364" y="234"/>
                      <a:pt x="369" y="236"/>
                      <a:pt x="374" y="239"/>
                    </a:cubicBezTo>
                    <a:cubicBezTo>
                      <a:pt x="378" y="241"/>
                      <a:pt x="383" y="243"/>
                      <a:pt x="387" y="245"/>
                    </a:cubicBezTo>
                    <a:cubicBezTo>
                      <a:pt x="398" y="252"/>
                      <a:pt x="404" y="261"/>
                      <a:pt x="403" y="274"/>
                    </a:cubicBezTo>
                    <a:cubicBezTo>
                      <a:pt x="402" y="285"/>
                      <a:pt x="402" y="297"/>
                      <a:pt x="393" y="305"/>
                    </a:cubicBezTo>
                    <a:cubicBezTo>
                      <a:pt x="386" y="311"/>
                      <a:pt x="380" y="317"/>
                      <a:pt x="370" y="314"/>
                    </a:cubicBezTo>
                    <a:cubicBezTo>
                      <a:pt x="367" y="313"/>
                      <a:pt x="362" y="317"/>
                      <a:pt x="359" y="320"/>
                    </a:cubicBezTo>
                    <a:cubicBezTo>
                      <a:pt x="354" y="324"/>
                      <a:pt x="350" y="330"/>
                      <a:pt x="345" y="333"/>
                    </a:cubicBezTo>
                    <a:cubicBezTo>
                      <a:pt x="342" y="336"/>
                      <a:pt x="337" y="336"/>
                      <a:pt x="333" y="338"/>
                    </a:cubicBezTo>
                    <a:cubicBezTo>
                      <a:pt x="332" y="338"/>
                      <a:pt x="331" y="339"/>
                      <a:pt x="330" y="339"/>
                    </a:cubicBezTo>
                    <a:cubicBezTo>
                      <a:pt x="315" y="353"/>
                      <a:pt x="299" y="366"/>
                      <a:pt x="284" y="380"/>
                    </a:cubicBezTo>
                    <a:cubicBezTo>
                      <a:pt x="283" y="381"/>
                      <a:pt x="282" y="381"/>
                      <a:pt x="280" y="382"/>
                    </a:cubicBezTo>
                    <a:cubicBezTo>
                      <a:pt x="281" y="383"/>
                      <a:pt x="281" y="384"/>
                      <a:pt x="282" y="384"/>
                    </a:cubicBezTo>
                    <a:cubicBezTo>
                      <a:pt x="293" y="380"/>
                      <a:pt x="303" y="375"/>
                      <a:pt x="314" y="370"/>
                    </a:cubicBezTo>
                    <a:cubicBezTo>
                      <a:pt x="319" y="368"/>
                      <a:pt x="323" y="366"/>
                      <a:pt x="327" y="364"/>
                    </a:cubicBezTo>
                    <a:cubicBezTo>
                      <a:pt x="329" y="363"/>
                      <a:pt x="331" y="362"/>
                      <a:pt x="331" y="361"/>
                    </a:cubicBezTo>
                    <a:cubicBezTo>
                      <a:pt x="332" y="350"/>
                      <a:pt x="342" y="350"/>
                      <a:pt x="350" y="348"/>
                    </a:cubicBezTo>
                    <a:cubicBezTo>
                      <a:pt x="365" y="345"/>
                      <a:pt x="381" y="343"/>
                      <a:pt x="397" y="341"/>
                    </a:cubicBezTo>
                    <a:cubicBezTo>
                      <a:pt x="401" y="340"/>
                      <a:pt x="407" y="341"/>
                      <a:pt x="411" y="342"/>
                    </a:cubicBezTo>
                    <a:cubicBezTo>
                      <a:pt x="423" y="347"/>
                      <a:pt x="437" y="346"/>
                      <a:pt x="447" y="356"/>
                    </a:cubicBezTo>
                    <a:cubicBezTo>
                      <a:pt x="452" y="361"/>
                      <a:pt x="457" y="365"/>
                      <a:pt x="463" y="368"/>
                    </a:cubicBezTo>
                    <a:cubicBezTo>
                      <a:pt x="466" y="370"/>
                      <a:pt x="469" y="372"/>
                      <a:pt x="473" y="373"/>
                    </a:cubicBezTo>
                    <a:cubicBezTo>
                      <a:pt x="473" y="373"/>
                      <a:pt x="474" y="372"/>
                      <a:pt x="474" y="371"/>
                    </a:cubicBezTo>
                    <a:cubicBezTo>
                      <a:pt x="472" y="365"/>
                      <a:pt x="469" y="358"/>
                      <a:pt x="466" y="352"/>
                    </a:cubicBezTo>
                    <a:cubicBezTo>
                      <a:pt x="465" y="352"/>
                      <a:pt x="464" y="351"/>
                      <a:pt x="463" y="351"/>
                    </a:cubicBezTo>
                    <a:cubicBezTo>
                      <a:pt x="465" y="348"/>
                      <a:pt x="468" y="344"/>
                      <a:pt x="471" y="341"/>
                    </a:cubicBezTo>
                    <a:cubicBezTo>
                      <a:pt x="472" y="342"/>
                      <a:pt x="473" y="342"/>
                      <a:pt x="474" y="343"/>
                    </a:cubicBezTo>
                    <a:cubicBezTo>
                      <a:pt x="472" y="337"/>
                      <a:pt x="468" y="332"/>
                      <a:pt x="475" y="326"/>
                    </a:cubicBezTo>
                    <a:cubicBezTo>
                      <a:pt x="470" y="317"/>
                      <a:pt x="477" y="310"/>
                      <a:pt x="479" y="301"/>
                    </a:cubicBezTo>
                    <a:cubicBezTo>
                      <a:pt x="479" y="298"/>
                      <a:pt x="481" y="295"/>
                      <a:pt x="482" y="293"/>
                    </a:cubicBezTo>
                    <a:cubicBezTo>
                      <a:pt x="486" y="285"/>
                      <a:pt x="487" y="285"/>
                      <a:pt x="495" y="290"/>
                    </a:cubicBezTo>
                    <a:cubicBezTo>
                      <a:pt x="497" y="291"/>
                      <a:pt x="500" y="291"/>
                      <a:pt x="503" y="290"/>
                    </a:cubicBezTo>
                    <a:cubicBezTo>
                      <a:pt x="507" y="290"/>
                      <a:pt x="510" y="290"/>
                      <a:pt x="515" y="293"/>
                    </a:cubicBezTo>
                    <a:cubicBezTo>
                      <a:pt x="518" y="296"/>
                      <a:pt x="527" y="295"/>
                      <a:pt x="531" y="292"/>
                    </a:cubicBezTo>
                    <a:cubicBezTo>
                      <a:pt x="574" y="256"/>
                      <a:pt x="617" y="219"/>
                      <a:pt x="653" y="175"/>
                    </a:cubicBezTo>
                    <a:cubicBezTo>
                      <a:pt x="663" y="163"/>
                      <a:pt x="672" y="150"/>
                      <a:pt x="675" y="134"/>
                    </a:cubicBezTo>
                    <a:cubicBezTo>
                      <a:pt x="675" y="134"/>
                      <a:pt x="676" y="133"/>
                      <a:pt x="676" y="133"/>
                    </a:cubicBezTo>
                    <a:cubicBezTo>
                      <a:pt x="678" y="123"/>
                      <a:pt x="678" y="123"/>
                      <a:pt x="687" y="117"/>
                    </a:cubicBezTo>
                    <a:cubicBezTo>
                      <a:pt x="685" y="112"/>
                      <a:pt x="683" y="107"/>
                      <a:pt x="689" y="103"/>
                    </a:cubicBezTo>
                    <a:cubicBezTo>
                      <a:pt x="690" y="103"/>
                      <a:pt x="689" y="100"/>
                      <a:pt x="689" y="98"/>
                    </a:cubicBezTo>
                    <a:cubicBezTo>
                      <a:pt x="688" y="94"/>
                      <a:pt x="687" y="90"/>
                      <a:pt x="686" y="86"/>
                    </a:cubicBezTo>
                    <a:cubicBezTo>
                      <a:pt x="686" y="86"/>
                      <a:pt x="687" y="85"/>
                      <a:pt x="687" y="85"/>
                    </a:cubicBezTo>
                    <a:cubicBezTo>
                      <a:pt x="700" y="83"/>
                      <a:pt x="708" y="74"/>
                      <a:pt x="716" y="64"/>
                    </a:cubicBezTo>
                    <a:cubicBezTo>
                      <a:pt x="720" y="59"/>
                      <a:pt x="726" y="55"/>
                      <a:pt x="732" y="51"/>
                    </a:cubicBezTo>
                    <a:cubicBezTo>
                      <a:pt x="738" y="48"/>
                      <a:pt x="745" y="48"/>
                      <a:pt x="751" y="52"/>
                    </a:cubicBezTo>
                    <a:cubicBezTo>
                      <a:pt x="756" y="57"/>
                      <a:pt x="757" y="63"/>
                      <a:pt x="755" y="70"/>
                    </a:cubicBezTo>
                    <a:cubicBezTo>
                      <a:pt x="755" y="71"/>
                      <a:pt x="756" y="74"/>
                      <a:pt x="757" y="75"/>
                    </a:cubicBezTo>
                    <a:cubicBezTo>
                      <a:pt x="763" y="81"/>
                      <a:pt x="770" y="86"/>
                      <a:pt x="777" y="92"/>
                    </a:cubicBezTo>
                    <a:cubicBezTo>
                      <a:pt x="781" y="89"/>
                      <a:pt x="785" y="90"/>
                      <a:pt x="788" y="97"/>
                    </a:cubicBezTo>
                    <a:cubicBezTo>
                      <a:pt x="788" y="99"/>
                      <a:pt x="791" y="101"/>
                      <a:pt x="794" y="102"/>
                    </a:cubicBezTo>
                    <a:cubicBezTo>
                      <a:pt x="798" y="104"/>
                      <a:pt x="803" y="105"/>
                      <a:pt x="807" y="107"/>
                    </a:cubicBezTo>
                    <a:cubicBezTo>
                      <a:pt x="816" y="112"/>
                      <a:pt x="821" y="122"/>
                      <a:pt x="821" y="133"/>
                    </a:cubicBezTo>
                    <a:cubicBezTo>
                      <a:pt x="821" y="138"/>
                      <a:pt x="819" y="142"/>
                      <a:pt x="818" y="146"/>
                    </a:cubicBezTo>
                    <a:cubicBezTo>
                      <a:pt x="817" y="152"/>
                      <a:pt x="818" y="159"/>
                      <a:pt x="820" y="165"/>
                    </a:cubicBezTo>
                    <a:cubicBezTo>
                      <a:pt x="827" y="185"/>
                      <a:pt x="820" y="201"/>
                      <a:pt x="805" y="215"/>
                    </a:cubicBezTo>
                    <a:cubicBezTo>
                      <a:pt x="802" y="218"/>
                      <a:pt x="795" y="218"/>
                      <a:pt x="790" y="218"/>
                    </a:cubicBezTo>
                    <a:cubicBezTo>
                      <a:pt x="775" y="215"/>
                      <a:pt x="761" y="218"/>
                      <a:pt x="747" y="224"/>
                    </a:cubicBezTo>
                    <a:cubicBezTo>
                      <a:pt x="742" y="226"/>
                      <a:pt x="736" y="228"/>
                      <a:pt x="731" y="230"/>
                    </a:cubicBezTo>
                    <a:cubicBezTo>
                      <a:pt x="726" y="232"/>
                      <a:pt x="722" y="237"/>
                      <a:pt x="717" y="237"/>
                    </a:cubicBezTo>
                    <a:cubicBezTo>
                      <a:pt x="710" y="237"/>
                      <a:pt x="706" y="241"/>
                      <a:pt x="700" y="243"/>
                    </a:cubicBezTo>
                    <a:cubicBezTo>
                      <a:pt x="697" y="245"/>
                      <a:pt x="695" y="247"/>
                      <a:pt x="692" y="249"/>
                    </a:cubicBezTo>
                    <a:cubicBezTo>
                      <a:pt x="691" y="247"/>
                      <a:pt x="689" y="246"/>
                      <a:pt x="687" y="243"/>
                    </a:cubicBezTo>
                    <a:cubicBezTo>
                      <a:pt x="683" y="247"/>
                      <a:pt x="680" y="250"/>
                      <a:pt x="677" y="254"/>
                    </a:cubicBezTo>
                    <a:cubicBezTo>
                      <a:pt x="677" y="254"/>
                      <a:pt x="677" y="254"/>
                      <a:pt x="677" y="254"/>
                    </a:cubicBezTo>
                    <a:cubicBezTo>
                      <a:pt x="673" y="258"/>
                      <a:pt x="669" y="261"/>
                      <a:pt x="666" y="265"/>
                    </a:cubicBezTo>
                    <a:cubicBezTo>
                      <a:pt x="661" y="271"/>
                      <a:pt x="656" y="272"/>
                      <a:pt x="648" y="271"/>
                    </a:cubicBezTo>
                    <a:cubicBezTo>
                      <a:pt x="642" y="270"/>
                      <a:pt x="635" y="268"/>
                      <a:pt x="628" y="274"/>
                    </a:cubicBezTo>
                    <a:cubicBezTo>
                      <a:pt x="627" y="275"/>
                      <a:pt x="624" y="273"/>
                      <a:pt x="621" y="273"/>
                    </a:cubicBezTo>
                    <a:cubicBezTo>
                      <a:pt x="619" y="273"/>
                      <a:pt x="616" y="273"/>
                      <a:pt x="612" y="274"/>
                    </a:cubicBezTo>
                    <a:cubicBezTo>
                      <a:pt x="616" y="277"/>
                      <a:pt x="617" y="279"/>
                      <a:pt x="619" y="281"/>
                    </a:cubicBezTo>
                    <a:cubicBezTo>
                      <a:pt x="601" y="275"/>
                      <a:pt x="588" y="289"/>
                      <a:pt x="573" y="292"/>
                    </a:cubicBezTo>
                    <a:cubicBezTo>
                      <a:pt x="565" y="294"/>
                      <a:pt x="556" y="297"/>
                      <a:pt x="549" y="300"/>
                    </a:cubicBezTo>
                    <a:cubicBezTo>
                      <a:pt x="545" y="302"/>
                      <a:pt x="543" y="306"/>
                      <a:pt x="539" y="311"/>
                    </a:cubicBezTo>
                    <a:cubicBezTo>
                      <a:pt x="552" y="316"/>
                      <a:pt x="564" y="321"/>
                      <a:pt x="576" y="325"/>
                    </a:cubicBezTo>
                    <a:cubicBezTo>
                      <a:pt x="592" y="330"/>
                      <a:pt x="604" y="342"/>
                      <a:pt x="614" y="355"/>
                    </a:cubicBezTo>
                    <a:cubicBezTo>
                      <a:pt x="617" y="359"/>
                      <a:pt x="615" y="370"/>
                      <a:pt x="612" y="375"/>
                    </a:cubicBezTo>
                    <a:cubicBezTo>
                      <a:pt x="602" y="388"/>
                      <a:pt x="591" y="400"/>
                      <a:pt x="586" y="416"/>
                    </a:cubicBezTo>
                    <a:cubicBezTo>
                      <a:pt x="586" y="419"/>
                      <a:pt x="585" y="422"/>
                      <a:pt x="584" y="427"/>
                    </a:cubicBezTo>
                    <a:cubicBezTo>
                      <a:pt x="592" y="424"/>
                      <a:pt x="599" y="422"/>
                      <a:pt x="604" y="419"/>
                    </a:cubicBezTo>
                    <a:cubicBezTo>
                      <a:pt x="612" y="414"/>
                      <a:pt x="619" y="408"/>
                      <a:pt x="626" y="403"/>
                    </a:cubicBezTo>
                    <a:cubicBezTo>
                      <a:pt x="628" y="402"/>
                      <a:pt x="630" y="400"/>
                      <a:pt x="632" y="400"/>
                    </a:cubicBezTo>
                    <a:cubicBezTo>
                      <a:pt x="648" y="405"/>
                      <a:pt x="662" y="397"/>
                      <a:pt x="677" y="395"/>
                    </a:cubicBezTo>
                    <a:cubicBezTo>
                      <a:pt x="686" y="394"/>
                      <a:pt x="695" y="390"/>
                      <a:pt x="703" y="388"/>
                    </a:cubicBezTo>
                    <a:cubicBezTo>
                      <a:pt x="714" y="384"/>
                      <a:pt x="722" y="378"/>
                      <a:pt x="729" y="368"/>
                    </a:cubicBezTo>
                    <a:cubicBezTo>
                      <a:pt x="732" y="363"/>
                      <a:pt x="737" y="358"/>
                      <a:pt x="742" y="356"/>
                    </a:cubicBezTo>
                    <a:cubicBezTo>
                      <a:pt x="750" y="353"/>
                      <a:pt x="760" y="352"/>
                      <a:pt x="768" y="351"/>
                    </a:cubicBezTo>
                    <a:cubicBezTo>
                      <a:pt x="775" y="351"/>
                      <a:pt x="782" y="352"/>
                      <a:pt x="788" y="350"/>
                    </a:cubicBezTo>
                    <a:cubicBezTo>
                      <a:pt x="813" y="340"/>
                      <a:pt x="832" y="350"/>
                      <a:pt x="851" y="366"/>
                    </a:cubicBezTo>
                    <a:cubicBezTo>
                      <a:pt x="856" y="370"/>
                      <a:pt x="861" y="372"/>
                      <a:pt x="867" y="376"/>
                    </a:cubicBezTo>
                    <a:cubicBezTo>
                      <a:pt x="875" y="381"/>
                      <a:pt x="883" y="387"/>
                      <a:pt x="891" y="393"/>
                    </a:cubicBezTo>
                    <a:cubicBezTo>
                      <a:pt x="896" y="396"/>
                      <a:pt x="899" y="401"/>
                      <a:pt x="899" y="407"/>
                    </a:cubicBezTo>
                    <a:cubicBezTo>
                      <a:pt x="899" y="409"/>
                      <a:pt x="902" y="411"/>
                      <a:pt x="903" y="413"/>
                    </a:cubicBezTo>
                    <a:cubicBezTo>
                      <a:pt x="904" y="415"/>
                      <a:pt x="906" y="417"/>
                      <a:pt x="907" y="418"/>
                    </a:cubicBezTo>
                    <a:cubicBezTo>
                      <a:pt x="908" y="421"/>
                      <a:pt x="910" y="424"/>
                      <a:pt x="913" y="428"/>
                    </a:cubicBezTo>
                    <a:cubicBezTo>
                      <a:pt x="907" y="432"/>
                      <a:pt x="900" y="437"/>
                      <a:pt x="894" y="441"/>
                    </a:cubicBezTo>
                    <a:cubicBezTo>
                      <a:pt x="888" y="445"/>
                      <a:pt x="879" y="448"/>
                      <a:pt x="880" y="458"/>
                    </a:cubicBezTo>
                    <a:cubicBezTo>
                      <a:pt x="875" y="454"/>
                      <a:pt x="873" y="457"/>
                      <a:pt x="873" y="461"/>
                    </a:cubicBezTo>
                    <a:cubicBezTo>
                      <a:pt x="872" y="466"/>
                      <a:pt x="869" y="468"/>
                      <a:pt x="864" y="469"/>
                    </a:cubicBezTo>
                    <a:cubicBezTo>
                      <a:pt x="858" y="472"/>
                      <a:pt x="852" y="476"/>
                      <a:pt x="846" y="479"/>
                    </a:cubicBezTo>
                    <a:cubicBezTo>
                      <a:pt x="842" y="481"/>
                      <a:pt x="839" y="484"/>
                      <a:pt x="834" y="487"/>
                    </a:cubicBezTo>
                    <a:cubicBezTo>
                      <a:pt x="829" y="470"/>
                      <a:pt x="815" y="469"/>
                      <a:pt x="802" y="467"/>
                    </a:cubicBezTo>
                    <a:cubicBezTo>
                      <a:pt x="800" y="467"/>
                      <a:pt x="798" y="467"/>
                      <a:pt x="798" y="466"/>
                    </a:cubicBezTo>
                    <a:cubicBezTo>
                      <a:pt x="795" y="458"/>
                      <a:pt x="789" y="462"/>
                      <a:pt x="783" y="462"/>
                    </a:cubicBezTo>
                    <a:cubicBezTo>
                      <a:pt x="779" y="462"/>
                      <a:pt x="775" y="461"/>
                      <a:pt x="770" y="459"/>
                    </a:cubicBezTo>
                    <a:cubicBezTo>
                      <a:pt x="760" y="455"/>
                      <a:pt x="751" y="461"/>
                      <a:pt x="750" y="472"/>
                    </a:cubicBezTo>
                    <a:cubicBezTo>
                      <a:pt x="749" y="482"/>
                      <a:pt x="746" y="493"/>
                      <a:pt x="745" y="503"/>
                    </a:cubicBezTo>
                    <a:cubicBezTo>
                      <a:pt x="745" y="513"/>
                      <a:pt x="741" y="520"/>
                      <a:pt x="733" y="527"/>
                    </a:cubicBezTo>
                    <a:cubicBezTo>
                      <a:pt x="729" y="530"/>
                      <a:pt x="730" y="540"/>
                      <a:pt x="728" y="546"/>
                    </a:cubicBezTo>
                    <a:cubicBezTo>
                      <a:pt x="727" y="556"/>
                      <a:pt x="725" y="566"/>
                      <a:pt x="724" y="575"/>
                    </a:cubicBezTo>
                    <a:cubicBezTo>
                      <a:pt x="724" y="587"/>
                      <a:pt x="725" y="599"/>
                      <a:pt x="726" y="610"/>
                    </a:cubicBezTo>
                    <a:cubicBezTo>
                      <a:pt x="726" y="618"/>
                      <a:pt x="726" y="625"/>
                      <a:pt x="724" y="633"/>
                    </a:cubicBezTo>
                    <a:cubicBezTo>
                      <a:pt x="721" y="639"/>
                      <a:pt x="723" y="648"/>
                      <a:pt x="723" y="656"/>
                    </a:cubicBezTo>
                    <a:cubicBezTo>
                      <a:pt x="723" y="660"/>
                      <a:pt x="725" y="665"/>
                      <a:pt x="725" y="670"/>
                    </a:cubicBezTo>
                    <a:cubicBezTo>
                      <a:pt x="726" y="684"/>
                      <a:pt x="726" y="698"/>
                      <a:pt x="725" y="712"/>
                    </a:cubicBezTo>
                    <a:cubicBezTo>
                      <a:pt x="724" y="720"/>
                      <a:pt x="725" y="730"/>
                      <a:pt x="716" y="736"/>
                    </a:cubicBezTo>
                    <a:cubicBezTo>
                      <a:pt x="715" y="737"/>
                      <a:pt x="715" y="740"/>
                      <a:pt x="715" y="742"/>
                    </a:cubicBezTo>
                    <a:cubicBezTo>
                      <a:pt x="715" y="748"/>
                      <a:pt x="718" y="755"/>
                      <a:pt x="708" y="756"/>
                    </a:cubicBezTo>
                    <a:cubicBezTo>
                      <a:pt x="705" y="756"/>
                      <a:pt x="704" y="763"/>
                      <a:pt x="701" y="768"/>
                    </a:cubicBezTo>
                    <a:cubicBezTo>
                      <a:pt x="705" y="770"/>
                      <a:pt x="708" y="771"/>
                      <a:pt x="711" y="772"/>
                    </a:cubicBezTo>
                    <a:cubicBezTo>
                      <a:pt x="708" y="776"/>
                      <a:pt x="705" y="780"/>
                      <a:pt x="702" y="785"/>
                    </a:cubicBezTo>
                    <a:cubicBezTo>
                      <a:pt x="702" y="784"/>
                      <a:pt x="702" y="785"/>
                      <a:pt x="702" y="785"/>
                    </a:cubicBezTo>
                    <a:cubicBezTo>
                      <a:pt x="710" y="794"/>
                      <a:pt x="704" y="802"/>
                      <a:pt x="700" y="811"/>
                    </a:cubicBezTo>
                    <a:cubicBezTo>
                      <a:pt x="697" y="818"/>
                      <a:pt x="695" y="826"/>
                      <a:pt x="693" y="834"/>
                    </a:cubicBezTo>
                    <a:cubicBezTo>
                      <a:pt x="690" y="845"/>
                      <a:pt x="687" y="856"/>
                      <a:pt x="685" y="866"/>
                    </a:cubicBezTo>
                    <a:cubicBezTo>
                      <a:pt x="685" y="867"/>
                      <a:pt x="684" y="867"/>
                      <a:pt x="684" y="867"/>
                    </a:cubicBezTo>
                    <a:cubicBezTo>
                      <a:pt x="676" y="871"/>
                      <a:pt x="680" y="879"/>
                      <a:pt x="677" y="885"/>
                    </a:cubicBezTo>
                    <a:cubicBezTo>
                      <a:pt x="674" y="891"/>
                      <a:pt x="671" y="898"/>
                      <a:pt x="670" y="904"/>
                    </a:cubicBezTo>
                    <a:cubicBezTo>
                      <a:pt x="668" y="911"/>
                      <a:pt x="668" y="918"/>
                      <a:pt x="661" y="921"/>
                    </a:cubicBezTo>
                    <a:cubicBezTo>
                      <a:pt x="660" y="922"/>
                      <a:pt x="660" y="923"/>
                      <a:pt x="659" y="925"/>
                    </a:cubicBezTo>
                    <a:cubicBezTo>
                      <a:pt x="656" y="935"/>
                      <a:pt x="653" y="945"/>
                      <a:pt x="651" y="956"/>
                    </a:cubicBezTo>
                    <a:cubicBezTo>
                      <a:pt x="650" y="962"/>
                      <a:pt x="650" y="969"/>
                      <a:pt x="650" y="975"/>
                    </a:cubicBezTo>
                    <a:cubicBezTo>
                      <a:pt x="649" y="975"/>
                      <a:pt x="648" y="975"/>
                      <a:pt x="646" y="975"/>
                    </a:cubicBezTo>
                    <a:cubicBezTo>
                      <a:pt x="645" y="966"/>
                      <a:pt x="643" y="957"/>
                      <a:pt x="643" y="948"/>
                    </a:cubicBezTo>
                    <a:cubicBezTo>
                      <a:pt x="642" y="940"/>
                      <a:pt x="643" y="932"/>
                      <a:pt x="644" y="925"/>
                    </a:cubicBezTo>
                    <a:cubicBezTo>
                      <a:pt x="644" y="922"/>
                      <a:pt x="645" y="919"/>
                      <a:pt x="645" y="916"/>
                    </a:cubicBezTo>
                    <a:cubicBezTo>
                      <a:pt x="645" y="912"/>
                      <a:pt x="644" y="907"/>
                      <a:pt x="644" y="903"/>
                    </a:cubicBezTo>
                    <a:cubicBezTo>
                      <a:pt x="643" y="899"/>
                      <a:pt x="642" y="896"/>
                      <a:pt x="642" y="893"/>
                    </a:cubicBezTo>
                    <a:cubicBezTo>
                      <a:pt x="642" y="888"/>
                      <a:pt x="642" y="884"/>
                      <a:pt x="642" y="880"/>
                    </a:cubicBezTo>
                    <a:cubicBezTo>
                      <a:pt x="640" y="869"/>
                      <a:pt x="638" y="857"/>
                      <a:pt x="636" y="845"/>
                    </a:cubicBezTo>
                    <a:cubicBezTo>
                      <a:pt x="636" y="841"/>
                      <a:pt x="638" y="835"/>
                      <a:pt x="638" y="830"/>
                    </a:cubicBezTo>
                    <a:cubicBezTo>
                      <a:pt x="639" y="829"/>
                      <a:pt x="638" y="828"/>
                      <a:pt x="638" y="826"/>
                    </a:cubicBezTo>
                    <a:cubicBezTo>
                      <a:pt x="637" y="822"/>
                      <a:pt x="635" y="819"/>
                      <a:pt x="638" y="815"/>
                    </a:cubicBezTo>
                    <a:cubicBezTo>
                      <a:pt x="639" y="814"/>
                      <a:pt x="638" y="811"/>
                      <a:pt x="638" y="808"/>
                    </a:cubicBezTo>
                    <a:cubicBezTo>
                      <a:pt x="637" y="803"/>
                      <a:pt x="635" y="797"/>
                      <a:pt x="635" y="791"/>
                    </a:cubicBezTo>
                    <a:cubicBezTo>
                      <a:pt x="635" y="757"/>
                      <a:pt x="636" y="723"/>
                      <a:pt x="636" y="688"/>
                    </a:cubicBezTo>
                    <a:cubicBezTo>
                      <a:pt x="636" y="672"/>
                      <a:pt x="632" y="655"/>
                      <a:pt x="631" y="638"/>
                    </a:cubicBezTo>
                    <a:cubicBezTo>
                      <a:pt x="630" y="625"/>
                      <a:pt x="630" y="611"/>
                      <a:pt x="630" y="598"/>
                    </a:cubicBezTo>
                    <a:cubicBezTo>
                      <a:pt x="630" y="584"/>
                      <a:pt x="631" y="571"/>
                      <a:pt x="631" y="558"/>
                    </a:cubicBezTo>
                    <a:cubicBezTo>
                      <a:pt x="631" y="545"/>
                      <a:pt x="630" y="532"/>
                      <a:pt x="629" y="519"/>
                    </a:cubicBezTo>
                    <a:cubicBezTo>
                      <a:pt x="628" y="512"/>
                      <a:pt x="626" y="505"/>
                      <a:pt x="625" y="498"/>
                    </a:cubicBezTo>
                    <a:cubicBezTo>
                      <a:pt x="606" y="505"/>
                      <a:pt x="589" y="511"/>
                      <a:pt x="573" y="518"/>
                    </a:cubicBezTo>
                    <a:cubicBezTo>
                      <a:pt x="568" y="521"/>
                      <a:pt x="564" y="527"/>
                      <a:pt x="562" y="532"/>
                    </a:cubicBezTo>
                    <a:cubicBezTo>
                      <a:pt x="556" y="547"/>
                      <a:pt x="552" y="562"/>
                      <a:pt x="546" y="577"/>
                    </a:cubicBezTo>
                    <a:cubicBezTo>
                      <a:pt x="545" y="582"/>
                      <a:pt x="545" y="586"/>
                      <a:pt x="538" y="587"/>
                    </a:cubicBezTo>
                    <a:cubicBezTo>
                      <a:pt x="535" y="587"/>
                      <a:pt x="532" y="593"/>
                      <a:pt x="528" y="598"/>
                    </a:cubicBezTo>
                    <a:cubicBezTo>
                      <a:pt x="521" y="591"/>
                      <a:pt x="517" y="598"/>
                      <a:pt x="514" y="603"/>
                    </a:cubicBezTo>
                    <a:cubicBezTo>
                      <a:pt x="504" y="619"/>
                      <a:pt x="490" y="631"/>
                      <a:pt x="474" y="642"/>
                    </a:cubicBezTo>
                    <a:cubicBezTo>
                      <a:pt x="465" y="648"/>
                      <a:pt x="460" y="659"/>
                      <a:pt x="452" y="665"/>
                    </a:cubicBezTo>
                    <a:cubicBezTo>
                      <a:pt x="446" y="669"/>
                      <a:pt x="443" y="675"/>
                      <a:pt x="438" y="679"/>
                    </a:cubicBezTo>
                    <a:cubicBezTo>
                      <a:pt x="432" y="686"/>
                      <a:pt x="425" y="692"/>
                      <a:pt x="417" y="699"/>
                    </a:cubicBezTo>
                    <a:cubicBezTo>
                      <a:pt x="451" y="658"/>
                      <a:pt x="466" y="609"/>
                      <a:pt x="478" y="557"/>
                    </a:cubicBezTo>
                    <a:cubicBezTo>
                      <a:pt x="466" y="566"/>
                      <a:pt x="456" y="574"/>
                      <a:pt x="451" y="588"/>
                    </a:cubicBezTo>
                    <a:cubicBezTo>
                      <a:pt x="456" y="584"/>
                      <a:pt x="459" y="582"/>
                      <a:pt x="463" y="578"/>
                    </a:cubicBezTo>
                    <a:cubicBezTo>
                      <a:pt x="460" y="597"/>
                      <a:pt x="448" y="610"/>
                      <a:pt x="436" y="623"/>
                    </a:cubicBezTo>
                    <a:cubicBezTo>
                      <a:pt x="426" y="634"/>
                      <a:pt x="416" y="644"/>
                      <a:pt x="406" y="654"/>
                    </a:cubicBezTo>
                    <a:cubicBezTo>
                      <a:pt x="402" y="658"/>
                      <a:pt x="401" y="661"/>
                      <a:pt x="404" y="665"/>
                    </a:cubicBezTo>
                    <a:cubicBezTo>
                      <a:pt x="407" y="671"/>
                      <a:pt x="410" y="677"/>
                      <a:pt x="414" y="683"/>
                    </a:cubicBezTo>
                    <a:cubicBezTo>
                      <a:pt x="418" y="688"/>
                      <a:pt x="418" y="694"/>
                      <a:pt x="415" y="700"/>
                    </a:cubicBezTo>
                    <a:cubicBezTo>
                      <a:pt x="413" y="703"/>
                      <a:pt x="412" y="707"/>
                      <a:pt x="412" y="710"/>
                    </a:cubicBezTo>
                    <a:cubicBezTo>
                      <a:pt x="414" y="720"/>
                      <a:pt x="408" y="726"/>
                      <a:pt x="403" y="732"/>
                    </a:cubicBezTo>
                    <a:cubicBezTo>
                      <a:pt x="402" y="733"/>
                      <a:pt x="401" y="733"/>
                      <a:pt x="400" y="734"/>
                    </a:cubicBezTo>
                    <a:cubicBezTo>
                      <a:pt x="394" y="746"/>
                      <a:pt x="383" y="749"/>
                      <a:pt x="371" y="751"/>
                    </a:cubicBezTo>
                    <a:cubicBezTo>
                      <a:pt x="366" y="751"/>
                      <a:pt x="355" y="745"/>
                      <a:pt x="352" y="740"/>
                    </a:cubicBezTo>
                    <a:cubicBezTo>
                      <a:pt x="342" y="725"/>
                      <a:pt x="333" y="710"/>
                      <a:pt x="323" y="695"/>
                    </a:cubicBezTo>
                    <a:cubicBezTo>
                      <a:pt x="322" y="694"/>
                      <a:pt x="321" y="691"/>
                      <a:pt x="321" y="690"/>
                    </a:cubicBezTo>
                    <a:cubicBezTo>
                      <a:pt x="322" y="679"/>
                      <a:pt x="316" y="669"/>
                      <a:pt x="307" y="665"/>
                    </a:cubicBezTo>
                    <a:cubicBezTo>
                      <a:pt x="299" y="661"/>
                      <a:pt x="298" y="660"/>
                      <a:pt x="305" y="653"/>
                    </a:cubicBezTo>
                    <a:cubicBezTo>
                      <a:pt x="306" y="652"/>
                      <a:pt x="308" y="651"/>
                      <a:pt x="310" y="649"/>
                    </a:cubicBezTo>
                    <a:cubicBezTo>
                      <a:pt x="305" y="647"/>
                      <a:pt x="302" y="646"/>
                      <a:pt x="298" y="645"/>
                    </a:cubicBezTo>
                    <a:cubicBezTo>
                      <a:pt x="299" y="643"/>
                      <a:pt x="299" y="641"/>
                      <a:pt x="300" y="640"/>
                    </a:cubicBezTo>
                    <a:cubicBezTo>
                      <a:pt x="313" y="628"/>
                      <a:pt x="326" y="618"/>
                      <a:pt x="345" y="621"/>
                    </a:cubicBezTo>
                    <a:cubicBezTo>
                      <a:pt x="352" y="622"/>
                      <a:pt x="359" y="625"/>
                      <a:pt x="367" y="627"/>
                    </a:cubicBezTo>
                    <a:cubicBezTo>
                      <a:pt x="370" y="628"/>
                      <a:pt x="374" y="629"/>
                      <a:pt x="377" y="627"/>
                    </a:cubicBezTo>
                    <a:cubicBezTo>
                      <a:pt x="396" y="615"/>
                      <a:pt x="416" y="603"/>
                      <a:pt x="434" y="589"/>
                    </a:cubicBezTo>
                    <a:cubicBezTo>
                      <a:pt x="446" y="580"/>
                      <a:pt x="456" y="568"/>
                      <a:pt x="468" y="557"/>
                    </a:cubicBezTo>
                    <a:cubicBezTo>
                      <a:pt x="468" y="557"/>
                      <a:pt x="468" y="556"/>
                      <a:pt x="469" y="556"/>
                    </a:cubicBezTo>
                    <a:cubicBezTo>
                      <a:pt x="484" y="551"/>
                      <a:pt x="482" y="538"/>
                      <a:pt x="482" y="527"/>
                    </a:cubicBezTo>
                    <a:cubicBezTo>
                      <a:pt x="482" y="523"/>
                      <a:pt x="484" y="518"/>
                      <a:pt x="484" y="514"/>
                    </a:cubicBezTo>
                    <a:cubicBezTo>
                      <a:pt x="485" y="512"/>
                      <a:pt x="486" y="510"/>
                      <a:pt x="486" y="508"/>
                    </a:cubicBezTo>
                    <a:cubicBezTo>
                      <a:pt x="483" y="496"/>
                      <a:pt x="488" y="486"/>
                      <a:pt x="489" y="475"/>
                    </a:cubicBezTo>
                    <a:cubicBezTo>
                      <a:pt x="492" y="456"/>
                      <a:pt x="492" y="437"/>
                      <a:pt x="492" y="418"/>
                    </a:cubicBezTo>
                    <a:cubicBezTo>
                      <a:pt x="492" y="409"/>
                      <a:pt x="490" y="399"/>
                      <a:pt x="489" y="390"/>
                    </a:cubicBezTo>
                    <a:cubicBezTo>
                      <a:pt x="488" y="382"/>
                      <a:pt x="484" y="378"/>
                      <a:pt x="476" y="375"/>
                    </a:cubicBezTo>
                    <a:cubicBezTo>
                      <a:pt x="477" y="382"/>
                      <a:pt x="476" y="388"/>
                      <a:pt x="467" y="389"/>
                    </a:cubicBezTo>
                    <a:cubicBezTo>
                      <a:pt x="468" y="392"/>
                      <a:pt x="469" y="395"/>
                      <a:pt x="470" y="397"/>
                    </a:cubicBezTo>
                    <a:cubicBezTo>
                      <a:pt x="465" y="402"/>
                      <a:pt x="462" y="407"/>
                      <a:pt x="458" y="411"/>
                    </a:cubicBezTo>
                    <a:cubicBezTo>
                      <a:pt x="456" y="413"/>
                      <a:pt x="452" y="414"/>
                      <a:pt x="447" y="416"/>
                    </a:cubicBezTo>
                    <a:cubicBezTo>
                      <a:pt x="445" y="422"/>
                      <a:pt x="441" y="428"/>
                      <a:pt x="432" y="428"/>
                    </a:cubicBezTo>
                    <a:cubicBezTo>
                      <a:pt x="430" y="428"/>
                      <a:pt x="429" y="430"/>
                      <a:pt x="428" y="431"/>
                    </a:cubicBezTo>
                    <a:cubicBezTo>
                      <a:pt x="429" y="433"/>
                      <a:pt x="431" y="434"/>
                      <a:pt x="433" y="438"/>
                    </a:cubicBezTo>
                    <a:cubicBezTo>
                      <a:pt x="428" y="440"/>
                      <a:pt x="424" y="442"/>
                      <a:pt x="419" y="443"/>
                    </a:cubicBezTo>
                    <a:cubicBezTo>
                      <a:pt x="403" y="443"/>
                      <a:pt x="387" y="443"/>
                      <a:pt x="371" y="443"/>
                    </a:cubicBezTo>
                    <a:cubicBezTo>
                      <a:pt x="369" y="443"/>
                      <a:pt x="368" y="444"/>
                      <a:pt x="366" y="444"/>
                    </a:cubicBezTo>
                    <a:cubicBezTo>
                      <a:pt x="350" y="450"/>
                      <a:pt x="334" y="456"/>
                      <a:pt x="318" y="461"/>
                    </a:cubicBezTo>
                    <a:cubicBezTo>
                      <a:pt x="313" y="463"/>
                      <a:pt x="307" y="462"/>
                      <a:pt x="301" y="463"/>
                    </a:cubicBezTo>
                    <a:cubicBezTo>
                      <a:pt x="305" y="458"/>
                      <a:pt x="308" y="454"/>
                      <a:pt x="311" y="451"/>
                    </a:cubicBezTo>
                    <a:cubicBezTo>
                      <a:pt x="311" y="450"/>
                      <a:pt x="311" y="450"/>
                      <a:pt x="311" y="449"/>
                    </a:cubicBezTo>
                    <a:cubicBezTo>
                      <a:pt x="302" y="452"/>
                      <a:pt x="294" y="454"/>
                      <a:pt x="286" y="457"/>
                    </a:cubicBezTo>
                    <a:cubicBezTo>
                      <a:pt x="277" y="462"/>
                      <a:pt x="265" y="460"/>
                      <a:pt x="257" y="467"/>
                    </a:cubicBezTo>
                    <a:cubicBezTo>
                      <a:pt x="256" y="468"/>
                      <a:pt x="255" y="469"/>
                      <a:pt x="253" y="470"/>
                    </a:cubicBezTo>
                    <a:close/>
                    <a:moveTo>
                      <a:pt x="157" y="434"/>
                    </a:moveTo>
                    <a:cubicBezTo>
                      <a:pt x="176" y="428"/>
                      <a:pt x="198" y="415"/>
                      <a:pt x="218" y="397"/>
                    </a:cubicBezTo>
                    <a:cubicBezTo>
                      <a:pt x="251" y="368"/>
                      <a:pt x="278" y="334"/>
                      <a:pt x="295" y="293"/>
                    </a:cubicBezTo>
                    <a:cubicBezTo>
                      <a:pt x="296" y="291"/>
                      <a:pt x="296" y="287"/>
                      <a:pt x="295" y="286"/>
                    </a:cubicBezTo>
                    <a:cubicBezTo>
                      <a:pt x="292" y="280"/>
                      <a:pt x="288" y="276"/>
                      <a:pt x="284" y="270"/>
                    </a:cubicBezTo>
                    <a:cubicBezTo>
                      <a:pt x="280" y="276"/>
                      <a:pt x="277" y="282"/>
                      <a:pt x="274" y="287"/>
                    </a:cubicBezTo>
                    <a:cubicBezTo>
                      <a:pt x="272" y="289"/>
                      <a:pt x="271" y="292"/>
                      <a:pt x="269" y="294"/>
                    </a:cubicBezTo>
                    <a:cubicBezTo>
                      <a:pt x="246" y="318"/>
                      <a:pt x="222" y="341"/>
                      <a:pt x="198" y="365"/>
                    </a:cubicBezTo>
                    <a:cubicBezTo>
                      <a:pt x="193" y="370"/>
                      <a:pt x="189" y="377"/>
                      <a:pt x="184" y="382"/>
                    </a:cubicBezTo>
                    <a:cubicBezTo>
                      <a:pt x="179" y="386"/>
                      <a:pt x="179" y="396"/>
                      <a:pt x="170" y="396"/>
                    </a:cubicBezTo>
                    <a:cubicBezTo>
                      <a:pt x="166" y="408"/>
                      <a:pt x="161" y="420"/>
                      <a:pt x="157" y="434"/>
                    </a:cubicBezTo>
                    <a:close/>
                    <a:moveTo>
                      <a:pt x="97" y="765"/>
                    </a:moveTo>
                    <a:cubicBezTo>
                      <a:pt x="114" y="767"/>
                      <a:pt x="130" y="770"/>
                      <a:pt x="147" y="770"/>
                    </a:cubicBezTo>
                    <a:cubicBezTo>
                      <a:pt x="162" y="770"/>
                      <a:pt x="178" y="768"/>
                      <a:pt x="194" y="766"/>
                    </a:cubicBezTo>
                    <a:cubicBezTo>
                      <a:pt x="196" y="766"/>
                      <a:pt x="198" y="763"/>
                      <a:pt x="198" y="761"/>
                    </a:cubicBezTo>
                    <a:cubicBezTo>
                      <a:pt x="198" y="737"/>
                      <a:pt x="197" y="712"/>
                      <a:pt x="197" y="688"/>
                    </a:cubicBezTo>
                    <a:cubicBezTo>
                      <a:pt x="197" y="688"/>
                      <a:pt x="196" y="687"/>
                      <a:pt x="194" y="685"/>
                    </a:cubicBezTo>
                    <a:cubicBezTo>
                      <a:pt x="160" y="710"/>
                      <a:pt x="125" y="733"/>
                      <a:pt x="97" y="765"/>
                    </a:cubicBezTo>
                    <a:close/>
                  </a:path>
                </a:pathLst>
              </a:custGeom>
              <a:solidFill>
                <a:srgbClr val="7CD5F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50" name="组合 49"/>
            <p:cNvGrpSpPr/>
            <p:nvPr userDrawn="1"/>
          </p:nvGrpSpPr>
          <p:grpSpPr>
            <a:xfrm>
              <a:off x="4203931" y="451691"/>
              <a:ext cx="1483309" cy="503245"/>
              <a:chOff x="-4167187" y="5441950"/>
              <a:chExt cx="2049462" cy="695325"/>
            </a:xfrm>
          </p:grpSpPr>
          <p:sp>
            <p:nvSpPr>
              <p:cNvPr id="51" name="Freeform 25"/>
              <p:cNvSpPr>
                <a:spLocks/>
              </p:cNvSpPr>
              <p:nvPr userDrawn="1"/>
            </p:nvSpPr>
            <p:spPr bwMode="auto">
              <a:xfrm>
                <a:off x="-3113088" y="5441950"/>
                <a:ext cx="325437" cy="284162"/>
              </a:xfrm>
              <a:custGeom>
                <a:avLst/>
                <a:gdLst>
                  <a:gd name="T0" fmla="*/ 280 w 462"/>
                  <a:gd name="T1" fmla="*/ 284 h 403"/>
                  <a:gd name="T2" fmla="*/ 454 w 462"/>
                  <a:gd name="T3" fmla="*/ 394 h 403"/>
                  <a:gd name="T4" fmla="*/ 454 w 462"/>
                  <a:gd name="T5" fmla="*/ 365 h 403"/>
                  <a:gd name="T6" fmla="*/ 432 w 462"/>
                  <a:gd name="T7" fmla="*/ 316 h 403"/>
                  <a:gd name="T8" fmla="*/ 331 w 462"/>
                  <a:gd name="T9" fmla="*/ 220 h 403"/>
                  <a:gd name="T10" fmla="*/ 299 w 462"/>
                  <a:gd name="T11" fmla="*/ 163 h 403"/>
                  <a:gd name="T12" fmla="*/ 462 w 462"/>
                  <a:gd name="T13" fmla="*/ 163 h 403"/>
                  <a:gd name="T14" fmla="*/ 462 w 462"/>
                  <a:gd name="T15" fmla="*/ 103 h 403"/>
                  <a:gd name="T16" fmla="*/ 279 w 462"/>
                  <a:gd name="T17" fmla="*/ 103 h 403"/>
                  <a:gd name="T18" fmla="*/ 279 w 462"/>
                  <a:gd name="T19" fmla="*/ 0 h 403"/>
                  <a:gd name="T20" fmla="*/ 177 w 462"/>
                  <a:gd name="T21" fmla="*/ 0 h 403"/>
                  <a:gd name="T22" fmla="*/ 177 w 462"/>
                  <a:gd name="T23" fmla="*/ 103 h 403"/>
                  <a:gd name="T24" fmla="*/ 34 w 462"/>
                  <a:gd name="T25" fmla="*/ 103 h 403"/>
                  <a:gd name="T26" fmla="*/ 34 w 462"/>
                  <a:gd name="T27" fmla="*/ 163 h 403"/>
                  <a:gd name="T28" fmla="*/ 156 w 462"/>
                  <a:gd name="T29" fmla="*/ 163 h 403"/>
                  <a:gd name="T30" fmla="*/ 128 w 462"/>
                  <a:gd name="T31" fmla="*/ 219 h 403"/>
                  <a:gd name="T32" fmla="*/ 16 w 462"/>
                  <a:gd name="T33" fmla="*/ 326 h 403"/>
                  <a:gd name="T34" fmla="*/ 2 w 462"/>
                  <a:gd name="T35" fmla="*/ 343 h 403"/>
                  <a:gd name="T36" fmla="*/ 2 w 462"/>
                  <a:gd name="T37" fmla="*/ 395 h 403"/>
                  <a:gd name="T38" fmla="*/ 178 w 462"/>
                  <a:gd name="T39" fmla="*/ 287 h 403"/>
                  <a:gd name="T40" fmla="*/ 178 w 462"/>
                  <a:gd name="T41" fmla="*/ 403 h 403"/>
                  <a:gd name="T42" fmla="*/ 280 w 462"/>
                  <a:gd name="T43" fmla="*/ 403 h 403"/>
                  <a:gd name="T44" fmla="*/ 280 w 462"/>
                  <a:gd name="T45" fmla="*/ 284 h 4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62" h="403">
                    <a:moveTo>
                      <a:pt x="280" y="284"/>
                    </a:moveTo>
                    <a:cubicBezTo>
                      <a:pt x="333" y="335"/>
                      <a:pt x="390" y="368"/>
                      <a:pt x="454" y="394"/>
                    </a:cubicBezTo>
                    <a:cubicBezTo>
                      <a:pt x="454" y="382"/>
                      <a:pt x="453" y="373"/>
                      <a:pt x="454" y="365"/>
                    </a:cubicBezTo>
                    <a:cubicBezTo>
                      <a:pt x="456" y="344"/>
                      <a:pt x="448" y="330"/>
                      <a:pt x="432" y="316"/>
                    </a:cubicBezTo>
                    <a:cubicBezTo>
                      <a:pt x="396" y="286"/>
                      <a:pt x="363" y="254"/>
                      <a:pt x="331" y="220"/>
                    </a:cubicBezTo>
                    <a:cubicBezTo>
                      <a:pt x="318" y="205"/>
                      <a:pt x="311" y="185"/>
                      <a:pt x="299" y="163"/>
                    </a:cubicBezTo>
                    <a:cubicBezTo>
                      <a:pt x="357" y="163"/>
                      <a:pt x="409" y="163"/>
                      <a:pt x="462" y="163"/>
                    </a:cubicBezTo>
                    <a:cubicBezTo>
                      <a:pt x="462" y="142"/>
                      <a:pt x="462" y="123"/>
                      <a:pt x="462" y="103"/>
                    </a:cubicBezTo>
                    <a:cubicBezTo>
                      <a:pt x="401" y="103"/>
                      <a:pt x="342" y="103"/>
                      <a:pt x="279" y="103"/>
                    </a:cubicBezTo>
                    <a:cubicBezTo>
                      <a:pt x="279" y="67"/>
                      <a:pt x="279" y="33"/>
                      <a:pt x="279" y="0"/>
                    </a:cubicBezTo>
                    <a:cubicBezTo>
                      <a:pt x="244" y="0"/>
                      <a:pt x="211" y="0"/>
                      <a:pt x="177" y="0"/>
                    </a:cubicBezTo>
                    <a:cubicBezTo>
                      <a:pt x="177" y="34"/>
                      <a:pt x="177" y="68"/>
                      <a:pt x="177" y="103"/>
                    </a:cubicBezTo>
                    <a:cubicBezTo>
                      <a:pt x="128" y="103"/>
                      <a:pt x="81" y="103"/>
                      <a:pt x="34" y="103"/>
                    </a:cubicBezTo>
                    <a:cubicBezTo>
                      <a:pt x="34" y="124"/>
                      <a:pt x="34" y="143"/>
                      <a:pt x="34" y="163"/>
                    </a:cubicBezTo>
                    <a:cubicBezTo>
                      <a:pt x="74" y="163"/>
                      <a:pt x="113" y="163"/>
                      <a:pt x="156" y="163"/>
                    </a:cubicBezTo>
                    <a:cubicBezTo>
                      <a:pt x="146" y="184"/>
                      <a:pt x="139" y="203"/>
                      <a:pt x="128" y="219"/>
                    </a:cubicBezTo>
                    <a:cubicBezTo>
                      <a:pt x="99" y="263"/>
                      <a:pt x="58" y="295"/>
                      <a:pt x="16" y="326"/>
                    </a:cubicBezTo>
                    <a:cubicBezTo>
                      <a:pt x="10" y="330"/>
                      <a:pt x="3" y="337"/>
                      <a:pt x="2" y="343"/>
                    </a:cubicBezTo>
                    <a:cubicBezTo>
                      <a:pt x="0" y="359"/>
                      <a:pt x="2" y="375"/>
                      <a:pt x="2" y="395"/>
                    </a:cubicBezTo>
                    <a:cubicBezTo>
                      <a:pt x="69" y="371"/>
                      <a:pt x="125" y="336"/>
                      <a:pt x="178" y="287"/>
                    </a:cubicBezTo>
                    <a:cubicBezTo>
                      <a:pt x="178" y="329"/>
                      <a:pt x="178" y="366"/>
                      <a:pt x="178" y="403"/>
                    </a:cubicBezTo>
                    <a:cubicBezTo>
                      <a:pt x="212" y="403"/>
                      <a:pt x="245" y="403"/>
                      <a:pt x="280" y="403"/>
                    </a:cubicBezTo>
                    <a:cubicBezTo>
                      <a:pt x="280" y="365"/>
                      <a:pt x="280" y="327"/>
                      <a:pt x="280" y="28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52" name="Freeform 26"/>
              <p:cNvSpPr>
                <a:spLocks/>
              </p:cNvSpPr>
              <p:nvPr userDrawn="1"/>
            </p:nvSpPr>
            <p:spPr bwMode="auto">
              <a:xfrm>
                <a:off x="-2711450" y="5441950"/>
                <a:ext cx="234950" cy="366712"/>
              </a:xfrm>
              <a:custGeom>
                <a:avLst/>
                <a:gdLst>
                  <a:gd name="T0" fmla="*/ 232 w 334"/>
                  <a:gd name="T1" fmla="*/ 520 h 520"/>
                  <a:gd name="T2" fmla="*/ 232 w 334"/>
                  <a:gd name="T3" fmla="*/ 335 h 520"/>
                  <a:gd name="T4" fmla="*/ 327 w 334"/>
                  <a:gd name="T5" fmla="*/ 404 h 520"/>
                  <a:gd name="T6" fmla="*/ 306 w 334"/>
                  <a:gd name="T7" fmla="*/ 318 h 520"/>
                  <a:gd name="T8" fmla="*/ 252 w 334"/>
                  <a:gd name="T9" fmla="*/ 187 h 520"/>
                  <a:gd name="T10" fmla="*/ 334 w 334"/>
                  <a:gd name="T11" fmla="*/ 187 h 520"/>
                  <a:gd name="T12" fmla="*/ 334 w 334"/>
                  <a:gd name="T13" fmla="*/ 127 h 520"/>
                  <a:gd name="T14" fmla="*/ 231 w 334"/>
                  <a:gd name="T15" fmla="*/ 127 h 520"/>
                  <a:gd name="T16" fmla="*/ 231 w 334"/>
                  <a:gd name="T17" fmla="*/ 0 h 520"/>
                  <a:gd name="T18" fmla="*/ 128 w 334"/>
                  <a:gd name="T19" fmla="*/ 0 h 520"/>
                  <a:gd name="T20" fmla="*/ 128 w 334"/>
                  <a:gd name="T21" fmla="*/ 128 h 520"/>
                  <a:gd name="T22" fmla="*/ 24 w 334"/>
                  <a:gd name="T23" fmla="*/ 128 h 520"/>
                  <a:gd name="T24" fmla="*/ 24 w 334"/>
                  <a:gd name="T25" fmla="*/ 188 h 520"/>
                  <a:gd name="T26" fmla="*/ 103 w 334"/>
                  <a:gd name="T27" fmla="*/ 188 h 520"/>
                  <a:gd name="T28" fmla="*/ 103 w 334"/>
                  <a:gd name="T29" fmla="*/ 199 h 520"/>
                  <a:gd name="T30" fmla="*/ 23 w 334"/>
                  <a:gd name="T31" fmla="*/ 369 h 520"/>
                  <a:gd name="T32" fmla="*/ 5 w 334"/>
                  <a:gd name="T33" fmla="*/ 451 h 520"/>
                  <a:gd name="T34" fmla="*/ 129 w 334"/>
                  <a:gd name="T35" fmla="*/ 354 h 520"/>
                  <a:gd name="T36" fmla="*/ 129 w 334"/>
                  <a:gd name="T37" fmla="*/ 520 h 520"/>
                  <a:gd name="T38" fmla="*/ 232 w 334"/>
                  <a:gd name="T39" fmla="*/ 520 h 5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34" h="520">
                    <a:moveTo>
                      <a:pt x="232" y="520"/>
                    </a:moveTo>
                    <a:cubicBezTo>
                      <a:pt x="232" y="458"/>
                      <a:pt x="232" y="399"/>
                      <a:pt x="232" y="335"/>
                    </a:cubicBezTo>
                    <a:cubicBezTo>
                      <a:pt x="260" y="367"/>
                      <a:pt x="288" y="393"/>
                      <a:pt x="327" y="404"/>
                    </a:cubicBezTo>
                    <a:cubicBezTo>
                      <a:pt x="332" y="359"/>
                      <a:pt x="331" y="353"/>
                      <a:pt x="306" y="318"/>
                    </a:cubicBezTo>
                    <a:cubicBezTo>
                      <a:pt x="279" y="279"/>
                      <a:pt x="260" y="236"/>
                      <a:pt x="252" y="187"/>
                    </a:cubicBezTo>
                    <a:cubicBezTo>
                      <a:pt x="281" y="187"/>
                      <a:pt x="308" y="187"/>
                      <a:pt x="334" y="187"/>
                    </a:cubicBezTo>
                    <a:cubicBezTo>
                      <a:pt x="334" y="166"/>
                      <a:pt x="334" y="148"/>
                      <a:pt x="334" y="127"/>
                    </a:cubicBezTo>
                    <a:cubicBezTo>
                      <a:pt x="300" y="127"/>
                      <a:pt x="266" y="127"/>
                      <a:pt x="231" y="127"/>
                    </a:cubicBezTo>
                    <a:cubicBezTo>
                      <a:pt x="231" y="83"/>
                      <a:pt x="231" y="42"/>
                      <a:pt x="231" y="0"/>
                    </a:cubicBezTo>
                    <a:cubicBezTo>
                      <a:pt x="196" y="0"/>
                      <a:pt x="163" y="0"/>
                      <a:pt x="128" y="0"/>
                    </a:cubicBezTo>
                    <a:cubicBezTo>
                      <a:pt x="128" y="42"/>
                      <a:pt x="128" y="84"/>
                      <a:pt x="128" y="128"/>
                    </a:cubicBezTo>
                    <a:cubicBezTo>
                      <a:pt x="92" y="128"/>
                      <a:pt x="58" y="128"/>
                      <a:pt x="24" y="128"/>
                    </a:cubicBezTo>
                    <a:cubicBezTo>
                      <a:pt x="24" y="149"/>
                      <a:pt x="24" y="168"/>
                      <a:pt x="24" y="188"/>
                    </a:cubicBezTo>
                    <a:cubicBezTo>
                      <a:pt x="52" y="188"/>
                      <a:pt x="77" y="188"/>
                      <a:pt x="103" y="188"/>
                    </a:cubicBezTo>
                    <a:cubicBezTo>
                      <a:pt x="103" y="193"/>
                      <a:pt x="104" y="196"/>
                      <a:pt x="103" y="199"/>
                    </a:cubicBezTo>
                    <a:cubicBezTo>
                      <a:pt x="91" y="262"/>
                      <a:pt x="66" y="320"/>
                      <a:pt x="23" y="369"/>
                    </a:cubicBezTo>
                    <a:cubicBezTo>
                      <a:pt x="0" y="394"/>
                      <a:pt x="4" y="420"/>
                      <a:pt x="5" y="451"/>
                    </a:cubicBezTo>
                    <a:cubicBezTo>
                      <a:pt x="53" y="429"/>
                      <a:pt x="91" y="396"/>
                      <a:pt x="129" y="354"/>
                    </a:cubicBezTo>
                    <a:cubicBezTo>
                      <a:pt x="129" y="413"/>
                      <a:pt x="129" y="467"/>
                      <a:pt x="129" y="520"/>
                    </a:cubicBezTo>
                    <a:cubicBezTo>
                      <a:pt x="164" y="520"/>
                      <a:pt x="196" y="520"/>
                      <a:pt x="232" y="52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53" name="Freeform 27"/>
              <p:cNvSpPr>
                <a:spLocks/>
              </p:cNvSpPr>
              <p:nvPr userDrawn="1"/>
            </p:nvSpPr>
            <p:spPr bwMode="auto">
              <a:xfrm>
                <a:off x="-3384550" y="5441950"/>
                <a:ext cx="274637" cy="285750"/>
              </a:xfrm>
              <a:custGeom>
                <a:avLst/>
                <a:gdLst>
                  <a:gd name="T0" fmla="*/ 290 w 390"/>
                  <a:gd name="T1" fmla="*/ 163 h 404"/>
                  <a:gd name="T2" fmla="*/ 390 w 390"/>
                  <a:gd name="T3" fmla="*/ 163 h 404"/>
                  <a:gd name="T4" fmla="*/ 390 w 390"/>
                  <a:gd name="T5" fmla="*/ 102 h 404"/>
                  <a:gd name="T6" fmla="*/ 261 w 390"/>
                  <a:gd name="T7" fmla="*/ 102 h 404"/>
                  <a:gd name="T8" fmla="*/ 261 w 390"/>
                  <a:gd name="T9" fmla="*/ 0 h 404"/>
                  <a:gd name="T10" fmla="*/ 160 w 390"/>
                  <a:gd name="T11" fmla="*/ 0 h 404"/>
                  <a:gd name="T12" fmla="*/ 160 w 390"/>
                  <a:gd name="T13" fmla="*/ 103 h 404"/>
                  <a:gd name="T14" fmla="*/ 23 w 390"/>
                  <a:gd name="T15" fmla="*/ 103 h 404"/>
                  <a:gd name="T16" fmla="*/ 23 w 390"/>
                  <a:gd name="T17" fmla="*/ 164 h 404"/>
                  <a:gd name="T18" fmla="*/ 119 w 390"/>
                  <a:gd name="T19" fmla="*/ 164 h 404"/>
                  <a:gd name="T20" fmla="*/ 116 w 390"/>
                  <a:gd name="T21" fmla="*/ 180 h 404"/>
                  <a:gd name="T22" fmla="*/ 112 w 390"/>
                  <a:gd name="T23" fmla="*/ 193 h 404"/>
                  <a:gd name="T24" fmla="*/ 16 w 390"/>
                  <a:gd name="T25" fmla="*/ 331 h 404"/>
                  <a:gd name="T26" fmla="*/ 2 w 390"/>
                  <a:gd name="T27" fmla="*/ 351 h 404"/>
                  <a:gd name="T28" fmla="*/ 1 w 390"/>
                  <a:gd name="T29" fmla="*/ 404 h 404"/>
                  <a:gd name="T30" fmla="*/ 161 w 390"/>
                  <a:gd name="T31" fmla="*/ 290 h 404"/>
                  <a:gd name="T32" fmla="*/ 161 w 390"/>
                  <a:gd name="T33" fmla="*/ 403 h 404"/>
                  <a:gd name="T34" fmla="*/ 262 w 390"/>
                  <a:gd name="T35" fmla="*/ 403 h 404"/>
                  <a:gd name="T36" fmla="*/ 262 w 390"/>
                  <a:gd name="T37" fmla="*/ 274 h 404"/>
                  <a:gd name="T38" fmla="*/ 373 w 390"/>
                  <a:gd name="T39" fmla="*/ 354 h 404"/>
                  <a:gd name="T40" fmla="*/ 373 w 390"/>
                  <a:gd name="T41" fmla="*/ 326 h 404"/>
                  <a:gd name="T42" fmla="*/ 353 w 390"/>
                  <a:gd name="T43" fmla="*/ 275 h 404"/>
                  <a:gd name="T44" fmla="*/ 290 w 390"/>
                  <a:gd name="T45" fmla="*/ 163 h 4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90" h="404">
                    <a:moveTo>
                      <a:pt x="290" y="163"/>
                    </a:moveTo>
                    <a:cubicBezTo>
                      <a:pt x="325" y="163"/>
                      <a:pt x="357" y="163"/>
                      <a:pt x="390" y="163"/>
                    </a:cubicBezTo>
                    <a:cubicBezTo>
                      <a:pt x="390" y="142"/>
                      <a:pt x="390" y="123"/>
                      <a:pt x="390" y="102"/>
                    </a:cubicBezTo>
                    <a:cubicBezTo>
                      <a:pt x="347" y="102"/>
                      <a:pt x="305" y="102"/>
                      <a:pt x="261" y="102"/>
                    </a:cubicBezTo>
                    <a:cubicBezTo>
                      <a:pt x="261" y="67"/>
                      <a:pt x="261" y="34"/>
                      <a:pt x="261" y="0"/>
                    </a:cubicBezTo>
                    <a:cubicBezTo>
                      <a:pt x="226" y="0"/>
                      <a:pt x="194" y="0"/>
                      <a:pt x="160" y="0"/>
                    </a:cubicBezTo>
                    <a:cubicBezTo>
                      <a:pt x="160" y="34"/>
                      <a:pt x="160" y="67"/>
                      <a:pt x="160" y="103"/>
                    </a:cubicBezTo>
                    <a:cubicBezTo>
                      <a:pt x="113" y="103"/>
                      <a:pt x="68" y="103"/>
                      <a:pt x="23" y="103"/>
                    </a:cubicBezTo>
                    <a:cubicBezTo>
                      <a:pt x="23" y="124"/>
                      <a:pt x="23" y="143"/>
                      <a:pt x="23" y="164"/>
                    </a:cubicBezTo>
                    <a:cubicBezTo>
                      <a:pt x="56" y="164"/>
                      <a:pt x="87" y="164"/>
                      <a:pt x="119" y="164"/>
                    </a:cubicBezTo>
                    <a:cubicBezTo>
                      <a:pt x="118" y="171"/>
                      <a:pt x="117" y="176"/>
                      <a:pt x="116" y="180"/>
                    </a:cubicBezTo>
                    <a:cubicBezTo>
                      <a:pt x="115" y="184"/>
                      <a:pt x="114" y="189"/>
                      <a:pt x="112" y="193"/>
                    </a:cubicBezTo>
                    <a:cubicBezTo>
                      <a:pt x="95" y="249"/>
                      <a:pt x="58" y="292"/>
                      <a:pt x="16" y="331"/>
                    </a:cubicBezTo>
                    <a:cubicBezTo>
                      <a:pt x="10" y="336"/>
                      <a:pt x="3" y="344"/>
                      <a:pt x="2" y="351"/>
                    </a:cubicBezTo>
                    <a:cubicBezTo>
                      <a:pt x="0" y="368"/>
                      <a:pt x="1" y="385"/>
                      <a:pt x="1" y="404"/>
                    </a:cubicBezTo>
                    <a:cubicBezTo>
                      <a:pt x="66" y="382"/>
                      <a:pt x="114" y="341"/>
                      <a:pt x="161" y="290"/>
                    </a:cubicBezTo>
                    <a:cubicBezTo>
                      <a:pt x="161" y="331"/>
                      <a:pt x="161" y="367"/>
                      <a:pt x="161" y="403"/>
                    </a:cubicBezTo>
                    <a:cubicBezTo>
                      <a:pt x="195" y="403"/>
                      <a:pt x="227" y="403"/>
                      <a:pt x="262" y="403"/>
                    </a:cubicBezTo>
                    <a:cubicBezTo>
                      <a:pt x="262" y="360"/>
                      <a:pt x="262" y="319"/>
                      <a:pt x="262" y="274"/>
                    </a:cubicBezTo>
                    <a:cubicBezTo>
                      <a:pt x="297" y="306"/>
                      <a:pt x="329" y="336"/>
                      <a:pt x="373" y="354"/>
                    </a:cubicBezTo>
                    <a:cubicBezTo>
                      <a:pt x="373" y="342"/>
                      <a:pt x="372" y="334"/>
                      <a:pt x="373" y="326"/>
                    </a:cubicBezTo>
                    <a:cubicBezTo>
                      <a:pt x="376" y="305"/>
                      <a:pt x="369" y="290"/>
                      <a:pt x="353" y="275"/>
                    </a:cubicBezTo>
                    <a:cubicBezTo>
                      <a:pt x="321" y="246"/>
                      <a:pt x="300" y="209"/>
                      <a:pt x="290" y="1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54" name="Freeform 28"/>
              <p:cNvSpPr>
                <a:spLocks/>
              </p:cNvSpPr>
              <p:nvPr userDrawn="1"/>
            </p:nvSpPr>
            <p:spPr bwMode="auto">
              <a:xfrm>
                <a:off x="-2552700" y="5835650"/>
                <a:ext cx="295275" cy="180975"/>
              </a:xfrm>
              <a:custGeom>
                <a:avLst/>
                <a:gdLst>
                  <a:gd name="T0" fmla="*/ 337 w 419"/>
                  <a:gd name="T1" fmla="*/ 197 h 257"/>
                  <a:gd name="T2" fmla="*/ 99 w 419"/>
                  <a:gd name="T3" fmla="*/ 197 h 257"/>
                  <a:gd name="T4" fmla="*/ 99 w 419"/>
                  <a:gd name="T5" fmla="*/ 0 h 257"/>
                  <a:gd name="T6" fmla="*/ 0 w 419"/>
                  <a:gd name="T7" fmla="*/ 0 h 257"/>
                  <a:gd name="T8" fmla="*/ 0 w 419"/>
                  <a:gd name="T9" fmla="*/ 257 h 257"/>
                  <a:gd name="T10" fmla="*/ 419 w 419"/>
                  <a:gd name="T11" fmla="*/ 257 h 257"/>
                  <a:gd name="T12" fmla="*/ 419 w 419"/>
                  <a:gd name="T13" fmla="*/ 66 h 257"/>
                  <a:gd name="T14" fmla="*/ 337 w 419"/>
                  <a:gd name="T15" fmla="*/ 66 h 257"/>
                  <a:gd name="T16" fmla="*/ 337 w 419"/>
                  <a:gd name="T17" fmla="*/ 197 h 2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19" h="257">
                    <a:moveTo>
                      <a:pt x="337" y="197"/>
                    </a:moveTo>
                    <a:cubicBezTo>
                      <a:pt x="257" y="197"/>
                      <a:pt x="179" y="197"/>
                      <a:pt x="99" y="197"/>
                    </a:cubicBezTo>
                    <a:cubicBezTo>
                      <a:pt x="99" y="131"/>
                      <a:pt x="99" y="65"/>
                      <a:pt x="99" y="0"/>
                    </a:cubicBezTo>
                    <a:cubicBezTo>
                      <a:pt x="64" y="0"/>
                      <a:pt x="32" y="0"/>
                      <a:pt x="0" y="0"/>
                    </a:cubicBezTo>
                    <a:cubicBezTo>
                      <a:pt x="0" y="87"/>
                      <a:pt x="0" y="172"/>
                      <a:pt x="0" y="257"/>
                    </a:cubicBezTo>
                    <a:cubicBezTo>
                      <a:pt x="140" y="257"/>
                      <a:pt x="279" y="257"/>
                      <a:pt x="419" y="257"/>
                    </a:cubicBezTo>
                    <a:cubicBezTo>
                      <a:pt x="419" y="193"/>
                      <a:pt x="419" y="130"/>
                      <a:pt x="419" y="66"/>
                    </a:cubicBezTo>
                    <a:cubicBezTo>
                      <a:pt x="392" y="66"/>
                      <a:pt x="365" y="66"/>
                      <a:pt x="337" y="66"/>
                    </a:cubicBezTo>
                    <a:cubicBezTo>
                      <a:pt x="337" y="110"/>
                      <a:pt x="337" y="153"/>
                      <a:pt x="337" y="19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55" name="Freeform 29"/>
              <p:cNvSpPr>
                <a:spLocks/>
              </p:cNvSpPr>
              <p:nvPr userDrawn="1"/>
            </p:nvSpPr>
            <p:spPr bwMode="auto">
              <a:xfrm>
                <a:off x="-2708275" y="5835650"/>
                <a:ext cx="142875" cy="174625"/>
              </a:xfrm>
              <a:custGeom>
                <a:avLst/>
                <a:gdLst>
                  <a:gd name="T0" fmla="*/ 0 w 202"/>
                  <a:gd name="T1" fmla="*/ 245 h 247"/>
                  <a:gd name="T2" fmla="*/ 60 w 202"/>
                  <a:gd name="T3" fmla="*/ 246 h 247"/>
                  <a:gd name="T4" fmla="*/ 94 w 202"/>
                  <a:gd name="T5" fmla="*/ 230 h 247"/>
                  <a:gd name="T6" fmla="*/ 134 w 202"/>
                  <a:gd name="T7" fmla="*/ 168 h 247"/>
                  <a:gd name="T8" fmla="*/ 202 w 202"/>
                  <a:gd name="T9" fmla="*/ 0 h 247"/>
                  <a:gd name="T10" fmla="*/ 93 w 202"/>
                  <a:gd name="T11" fmla="*/ 0 h 247"/>
                  <a:gd name="T12" fmla="*/ 0 w 202"/>
                  <a:gd name="T13" fmla="*/ 245 h 2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2" h="247">
                    <a:moveTo>
                      <a:pt x="0" y="245"/>
                    </a:moveTo>
                    <a:cubicBezTo>
                      <a:pt x="23" y="245"/>
                      <a:pt x="41" y="245"/>
                      <a:pt x="60" y="246"/>
                    </a:cubicBezTo>
                    <a:cubicBezTo>
                      <a:pt x="75" y="247"/>
                      <a:pt x="86" y="242"/>
                      <a:pt x="94" y="230"/>
                    </a:cubicBezTo>
                    <a:cubicBezTo>
                      <a:pt x="107" y="209"/>
                      <a:pt x="122" y="189"/>
                      <a:pt x="134" y="168"/>
                    </a:cubicBezTo>
                    <a:cubicBezTo>
                      <a:pt x="164" y="115"/>
                      <a:pt x="187" y="60"/>
                      <a:pt x="202" y="0"/>
                    </a:cubicBezTo>
                    <a:cubicBezTo>
                      <a:pt x="165" y="0"/>
                      <a:pt x="130" y="0"/>
                      <a:pt x="93" y="0"/>
                    </a:cubicBezTo>
                    <a:cubicBezTo>
                      <a:pt x="80" y="87"/>
                      <a:pt x="53" y="168"/>
                      <a:pt x="0" y="24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56" name="Freeform 30"/>
              <p:cNvSpPr>
                <a:spLocks/>
              </p:cNvSpPr>
              <p:nvPr userDrawn="1"/>
            </p:nvSpPr>
            <p:spPr bwMode="auto">
              <a:xfrm>
                <a:off x="-2270125" y="5834063"/>
                <a:ext cx="152400" cy="166687"/>
              </a:xfrm>
              <a:custGeom>
                <a:avLst/>
                <a:gdLst>
                  <a:gd name="T0" fmla="*/ 215 w 216"/>
                  <a:gd name="T1" fmla="*/ 235 h 236"/>
                  <a:gd name="T2" fmla="*/ 215 w 216"/>
                  <a:gd name="T3" fmla="*/ 225 h 236"/>
                  <a:gd name="T4" fmla="*/ 113 w 216"/>
                  <a:gd name="T5" fmla="*/ 9 h 236"/>
                  <a:gd name="T6" fmla="*/ 104 w 216"/>
                  <a:gd name="T7" fmla="*/ 1 h 236"/>
                  <a:gd name="T8" fmla="*/ 0 w 216"/>
                  <a:gd name="T9" fmla="*/ 0 h 236"/>
                  <a:gd name="T10" fmla="*/ 49 w 216"/>
                  <a:gd name="T11" fmla="*/ 72 h 236"/>
                  <a:gd name="T12" fmla="*/ 132 w 216"/>
                  <a:gd name="T13" fmla="*/ 220 h 236"/>
                  <a:gd name="T14" fmla="*/ 147 w 216"/>
                  <a:gd name="T15" fmla="*/ 235 h 236"/>
                  <a:gd name="T16" fmla="*/ 215 w 216"/>
                  <a:gd name="T17" fmla="*/ 235 h 2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16" h="236">
                    <a:moveTo>
                      <a:pt x="215" y="235"/>
                    </a:moveTo>
                    <a:cubicBezTo>
                      <a:pt x="215" y="231"/>
                      <a:pt x="216" y="228"/>
                      <a:pt x="215" y="225"/>
                    </a:cubicBezTo>
                    <a:cubicBezTo>
                      <a:pt x="181" y="153"/>
                      <a:pt x="147" y="81"/>
                      <a:pt x="113" y="9"/>
                    </a:cubicBezTo>
                    <a:cubicBezTo>
                      <a:pt x="111" y="6"/>
                      <a:pt x="107" y="1"/>
                      <a:pt x="104" y="1"/>
                    </a:cubicBezTo>
                    <a:cubicBezTo>
                      <a:pt x="70" y="0"/>
                      <a:pt x="36" y="0"/>
                      <a:pt x="0" y="0"/>
                    </a:cubicBezTo>
                    <a:cubicBezTo>
                      <a:pt x="18" y="26"/>
                      <a:pt x="35" y="48"/>
                      <a:pt x="49" y="72"/>
                    </a:cubicBezTo>
                    <a:cubicBezTo>
                      <a:pt x="78" y="121"/>
                      <a:pt x="104" y="171"/>
                      <a:pt x="132" y="220"/>
                    </a:cubicBezTo>
                    <a:cubicBezTo>
                      <a:pt x="135" y="226"/>
                      <a:pt x="142" y="234"/>
                      <a:pt x="147" y="235"/>
                    </a:cubicBezTo>
                    <a:cubicBezTo>
                      <a:pt x="170" y="236"/>
                      <a:pt x="192" y="235"/>
                      <a:pt x="215" y="23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57" name="Freeform 31"/>
              <p:cNvSpPr>
                <a:spLocks/>
              </p:cNvSpPr>
              <p:nvPr userDrawn="1"/>
            </p:nvSpPr>
            <p:spPr bwMode="auto">
              <a:xfrm>
                <a:off x="-2466975" y="5813425"/>
                <a:ext cx="123825" cy="112712"/>
              </a:xfrm>
              <a:custGeom>
                <a:avLst/>
                <a:gdLst>
                  <a:gd name="T0" fmla="*/ 176 w 176"/>
                  <a:gd name="T1" fmla="*/ 159 h 159"/>
                  <a:gd name="T2" fmla="*/ 112 w 176"/>
                  <a:gd name="T3" fmla="*/ 11 h 159"/>
                  <a:gd name="T4" fmla="*/ 100 w 176"/>
                  <a:gd name="T5" fmla="*/ 1 h 159"/>
                  <a:gd name="T6" fmla="*/ 1 w 176"/>
                  <a:gd name="T7" fmla="*/ 0 h 159"/>
                  <a:gd name="T8" fmla="*/ 1 w 176"/>
                  <a:gd name="T9" fmla="*/ 6 h 159"/>
                  <a:gd name="T10" fmla="*/ 93 w 176"/>
                  <a:gd name="T11" fmla="*/ 151 h 159"/>
                  <a:gd name="T12" fmla="*/ 105 w 176"/>
                  <a:gd name="T13" fmla="*/ 159 h 159"/>
                  <a:gd name="T14" fmla="*/ 176 w 176"/>
                  <a:gd name="T15" fmla="*/ 159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76" h="159">
                    <a:moveTo>
                      <a:pt x="176" y="159"/>
                    </a:moveTo>
                    <a:cubicBezTo>
                      <a:pt x="154" y="107"/>
                      <a:pt x="133" y="59"/>
                      <a:pt x="112" y="11"/>
                    </a:cubicBezTo>
                    <a:cubicBezTo>
                      <a:pt x="110" y="6"/>
                      <a:pt x="104" y="1"/>
                      <a:pt x="100" y="1"/>
                    </a:cubicBezTo>
                    <a:cubicBezTo>
                      <a:pt x="67" y="0"/>
                      <a:pt x="34" y="0"/>
                      <a:pt x="1" y="0"/>
                    </a:cubicBezTo>
                    <a:cubicBezTo>
                      <a:pt x="1" y="4"/>
                      <a:pt x="0" y="5"/>
                      <a:pt x="1" y="6"/>
                    </a:cubicBezTo>
                    <a:cubicBezTo>
                      <a:pt x="31" y="54"/>
                      <a:pt x="62" y="103"/>
                      <a:pt x="93" y="151"/>
                    </a:cubicBezTo>
                    <a:cubicBezTo>
                      <a:pt x="95" y="154"/>
                      <a:pt x="101" y="158"/>
                      <a:pt x="105" y="159"/>
                    </a:cubicBezTo>
                    <a:cubicBezTo>
                      <a:pt x="128" y="159"/>
                      <a:pt x="150" y="159"/>
                      <a:pt x="176" y="15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58" name="Freeform 32"/>
              <p:cNvSpPr>
                <a:spLocks noEditPoints="1"/>
              </p:cNvSpPr>
              <p:nvPr userDrawn="1"/>
            </p:nvSpPr>
            <p:spPr bwMode="auto">
              <a:xfrm>
                <a:off x="-2451100" y="5462588"/>
                <a:ext cx="269875" cy="336550"/>
              </a:xfrm>
              <a:custGeom>
                <a:avLst/>
                <a:gdLst>
                  <a:gd name="T0" fmla="*/ 0 w 382"/>
                  <a:gd name="T1" fmla="*/ 0 h 478"/>
                  <a:gd name="T2" fmla="*/ 382 w 382"/>
                  <a:gd name="T3" fmla="*/ 0 h 478"/>
                  <a:gd name="T4" fmla="*/ 382 w 382"/>
                  <a:gd name="T5" fmla="*/ 478 h 478"/>
                  <a:gd name="T6" fmla="*/ 0 w 382"/>
                  <a:gd name="T7" fmla="*/ 478 h 478"/>
                  <a:gd name="T8" fmla="*/ 0 w 382"/>
                  <a:gd name="T9" fmla="*/ 0 h 478"/>
                  <a:gd name="T10" fmla="*/ 289 w 382"/>
                  <a:gd name="T11" fmla="*/ 140 h 478"/>
                  <a:gd name="T12" fmla="*/ 289 w 382"/>
                  <a:gd name="T13" fmla="*/ 61 h 478"/>
                  <a:gd name="T14" fmla="*/ 93 w 382"/>
                  <a:gd name="T15" fmla="*/ 61 h 478"/>
                  <a:gd name="T16" fmla="*/ 93 w 382"/>
                  <a:gd name="T17" fmla="*/ 140 h 478"/>
                  <a:gd name="T18" fmla="*/ 289 w 382"/>
                  <a:gd name="T19" fmla="*/ 140 h 478"/>
                  <a:gd name="T20" fmla="*/ 92 w 382"/>
                  <a:gd name="T21" fmla="*/ 277 h 478"/>
                  <a:gd name="T22" fmla="*/ 289 w 382"/>
                  <a:gd name="T23" fmla="*/ 277 h 478"/>
                  <a:gd name="T24" fmla="*/ 289 w 382"/>
                  <a:gd name="T25" fmla="*/ 201 h 478"/>
                  <a:gd name="T26" fmla="*/ 92 w 382"/>
                  <a:gd name="T27" fmla="*/ 201 h 478"/>
                  <a:gd name="T28" fmla="*/ 92 w 382"/>
                  <a:gd name="T29" fmla="*/ 277 h 478"/>
                  <a:gd name="T30" fmla="*/ 92 w 382"/>
                  <a:gd name="T31" fmla="*/ 340 h 478"/>
                  <a:gd name="T32" fmla="*/ 92 w 382"/>
                  <a:gd name="T33" fmla="*/ 417 h 478"/>
                  <a:gd name="T34" fmla="*/ 290 w 382"/>
                  <a:gd name="T35" fmla="*/ 417 h 478"/>
                  <a:gd name="T36" fmla="*/ 290 w 382"/>
                  <a:gd name="T37" fmla="*/ 340 h 478"/>
                  <a:gd name="T38" fmla="*/ 92 w 382"/>
                  <a:gd name="T39" fmla="*/ 340 h 4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82" h="478">
                    <a:moveTo>
                      <a:pt x="0" y="0"/>
                    </a:moveTo>
                    <a:cubicBezTo>
                      <a:pt x="127" y="0"/>
                      <a:pt x="254" y="0"/>
                      <a:pt x="382" y="0"/>
                    </a:cubicBezTo>
                    <a:cubicBezTo>
                      <a:pt x="382" y="159"/>
                      <a:pt x="382" y="318"/>
                      <a:pt x="382" y="478"/>
                    </a:cubicBezTo>
                    <a:cubicBezTo>
                      <a:pt x="254" y="478"/>
                      <a:pt x="127" y="478"/>
                      <a:pt x="0" y="478"/>
                    </a:cubicBezTo>
                    <a:cubicBezTo>
                      <a:pt x="0" y="319"/>
                      <a:pt x="0" y="161"/>
                      <a:pt x="0" y="0"/>
                    </a:cubicBezTo>
                    <a:close/>
                    <a:moveTo>
                      <a:pt x="289" y="140"/>
                    </a:moveTo>
                    <a:cubicBezTo>
                      <a:pt x="289" y="113"/>
                      <a:pt x="289" y="87"/>
                      <a:pt x="289" y="61"/>
                    </a:cubicBezTo>
                    <a:cubicBezTo>
                      <a:pt x="223" y="61"/>
                      <a:pt x="158" y="61"/>
                      <a:pt x="93" y="61"/>
                    </a:cubicBezTo>
                    <a:cubicBezTo>
                      <a:pt x="93" y="88"/>
                      <a:pt x="93" y="114"/>
                      <a:pt x="93" y="140"/>
                    </a:cubicBezTo>
                    <a:cubicBezTo>
                      <a:pt x="159" y="140"/>
                      <a:pt x="223" y="140"/>
                      <a:pt x="289" y="140"/>
                    </a:cubicBezTo>
                    <a:close/>
                    <a:moveTo>
                      <a:pt x="92" y="277"/>
                    </a:moveTo>
                    <a:cubicBezTo>
                      <a:pt x="159" y="277"/>
                      <a:pt x="225" y="277"/>
                      <a:pt x="289" y="277"/>
                    </a:cubicBezTo>
                    <a:cubicBezTo>
                      <a:pt x="289" y="251"/>
                      <a:pt x="289" y="226"/>
                      <a:pt x="289" y="201"/>
                    </a:cubicBezTo>
                    <a:cubicBezTo>
                      <a:pt x="223" y="201"/>
                      <a:pt x="158" y="201"/>
                      <a:pt x="92" y="201"/>
                    </a:cubicBezTo>
                    <a:cubicBezTo>
                      <a:pt x="92" y="227"/>
                      <a:pt x="92" y="251"/>
                      <a:pt x="92" y="277"/>
                    </a:cubicBezTo>
                    <a:close/>
                    <a:moveTo>
                      <a:pt x="92" y="340"/>
                    </a:moveTo>
                    <a:cubicBezTo>
                      <a:pt x="92" y="366"/>
                      <a:pt x="92" y="391"/>
                      <a:pt x="92" y="417"/>
                    </a:cubicBezTo>
                    <a:cubicBezTo>
                      <a:pt x="158" y="417"/>
                      <a:pt x="224" y="417"/>
                      <a:pt x="290" y="417"/>
                    </a:cubicBezTo>
                    <a:cubicBezTo>
                      <a:pt x="290" y="391"/>
                      <a:pt x="290" y="365"/>
                      <a:pt x="290" y="340"/>
                    </a:cubicBezTo>
                    <a:cubicBezTo>
                      <a:pt x="223" y="340"/>
                      <a:pt x="158" y="340"/>
                      <a:pt x="92" y="34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59" name="Freeform 33"/>
              <p:cNvSpPr>
                <a:spLocks noEditPoints="1"/>
              </p:cNvSpPr>
              <p:nvPr userDrawn="1"/>
            </p:nvSpPr>
            <p:spPr bwMode="auto">
              <a:xfrm>
                <a:off x="-3365500" y="5721350"/>
                <a:ext cx="495300" cy="311150"/>
              </a:xfrm>
              <a:custGeom>
                <a:avLst/>
                <a:gdLst>
                  <a:gd name="T0" fmla="*/ 288 w 701"/>
                  <a:gd name="T1" fmla="*/ 316 h 441"/>
                  <a:gd name="T2" fmla="*/ 269 w 701"/>
                  <a:gd name="T3" fmla="*/ 302 h 441"/>
                  <a:gd name="T4" fmla="*/ 173 w 701"/>
                  <a:gd name="T5" fmla="*/ 208 h 441"/>
                  <a:gd name="T6" fmla="*/ 141 w 701"/>
                  <a:gd name="T7" fmla="*/ 202 h 441"/>
                  <a:gd name="T8" fmla="*/ 20 w 701"/>
                  <a:gd name="T9" fmla="*/ 249 h 441"/>
                  <a:gd name="T10" fmla="*/ 1 w 701"/>
                  <a:gd name="T11" fmla="*/ 253 h 441"/>
                  <a:gd name="T12" fmla="*/ 1 w 701"/>
                  <a:gd name="T13" fmla="*/ 204 h 441"/>
                  <a:gd name="T14" fmla="*/ 14 w 701"/>
                  <a:gd name="T15" fmla="*/ 189 h 441"/>
                  <a:gd name="T16" fmla="*/ 165 w 701"/>
                  <a:gd name="T17" fmla="*/ 100 h 441"/>
                  <a:gd name="T18" fmla="*/ 242 w 701"/>
                  <a:gd name="T19" fmla="*/ 0 h 441"/>
                  <a:gd name="T20" fmla="*/ 353 w 701"/>
                  <a:gd name="T21" fmla="*/ 0 h 441"/>
                  <a:gd name="T22" fmla="*/ 326 w 701"/>
                  <a:gd name="T23" fmla="*/ 58 h 441"/>
                  <a:gd name="T24" fmla="*/ 696 w 701"/>
                  <a:gd name="T25" fmla="*/ 58 h 441"/>
                  <a:gd name="T26" fmla="*/ 679 w 701"/>
                  <a:gd name="T27" fmla="*/ 142 h 441"/>
                  <a:gd name="T28" fmla="*/ 371 w 701"/>
                  <a:gd name="T29" fmla="*/ 364 h 441"/>
                  <a:gd name="T30" fmla="*/ 61 w 701"/>
                  <a:gd name="T31" fmla="*/ 436 h 441"/>
                  <a:gd name="T32" fmla="*/ 14 w 701"/>
                  <a:gd name="T33" fmla="*/ 441 h 441"/>
                  <a:gd name="T34" fmla="*/ 14 w 701"/>
                  <a:gd name="T35" fmla="*/ 382 h 441"/>
                  <a:gd name="T36" fmla="*/ 288 w 701"/>
                  <a:gd name="T37" fmla="*/ 316 h 441"/>
                  <a:gd name="T38" fmla="*/ 205 w 701"/>
                  <a:gd name="T39" fmla="*/ 171 h 441"/>
                  <a:gd name="T40" fmla="*/ 216 w 701"/>
                  <a:gd name="T41" fmla="*/ 172 h 441"/>
                  <a:gd name="T42" fmla="*/ 307 w 701"/>
                  <a:gd name="T43" fmla="*/ 219 h 441"/>
                  <a:gd name="T44" fmla="*/ 356 w 701"/>
                  <a:gd name="T45" fmla="*/ 288 h 441"/>
                  <a:gd name="T46" fmla="*/ 560 w 701"/>
                  <a:gd name="T47" fmla="*/ 121 h 441"/>
                  <a:gd name="T48" fmla="*/ 550 w 701"/>
                  <a:gd name="T49" fmla="*/ 118 h 441"/>
                  <a:gd name="T50" fmla="*/ 282 w 701"/>
                  <a:gd name="T51" fmla="*/ 118 h 441"/>
                  <a:gd name="T52" fmla="*/ 267 w 701"/>
                  <a:gd name="T53" fmla="*/ 123 h 441"/>
                  <a:gd name="T54" fmla="*/ 205 w 701"/>
                  <a:gd name="T55" fmla="*/ 171 h 4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701" h="441">
                    <a:moveTo>
                      <a:pt x="288" y="316"/>
                    </a:moveTo>
                    <a:cubicBezTo>
                      <a:pt x="281" y="311"/>
                      <a:pt x="274" y="307"/>
                      <a:pt x="269" y="302"/>
                    </a:cubicBezTo>
                    <a:cubicBezTo>
                      <a:pt x="237" y="271"/>
                      <a:pt x="204" y="240"/>
                      <a:pt x="173" y="208"/>
                    </a:cubicBezTo>
                    <a:cubicBezTo>
                      <a:pt x="163" y="197"/>
                      <a:pt x="155" y="196"/>
                      <a:pt x="141" y="202"/>
                    </a:cubicBezTo>
                    <a:cubicBezTo>
                      <a:pt x="101" y="219"/>
                      <a:pt x="60" y="234"/>
                      <a:pt x="20" y="249"/>
                    </a:cubicBezTo>
                    <a:cubicBezTo>
                      <a:pt x="15" y="251"/>
                      <a:pt x="9" y="252"/>
                      <a:pt x="1" y="253"/>
                    </a:cubicBezTo>
                    <a:cubicBezTo>
                      <a:pt x="1" y="235"/>
                      <a:pt x="0" y="219"/>
                      <a:pt x="1" y="204"/>
                    </a:cubicBezTo>
                    <a:cubicBezTo>
                      <a:pt x="2" y="198"/>
                      <a:pt x="9" y="192"/>
                      <a:pt x="14" y="189"/>
                    </a:cubicBezTo>
                    <a:cubicBezTo>
                      <a:pt x="64" y="159"/>
                      <a:pt x="116" y="132"/>
                      <a:pt x="165" y="100"/>
                    </a:cubicBezTo>
                    <a:cubicBezTo>
                      <a:pt x="201" y="76"/>
                      <a:pt x="228" y="43"/>
                      <a:pt x="242" y="0"/>
                    </a:cubicBezTo>
                    <a:cubicBezTo>
                      <a:pt x="278" y="0"/>
                      <a:pt x="314" y="0"/>
                      <a:pt x="353" y="0"/>
                    </a:cubicBezTo>
                    <a:cubicBezTo>
                      <a:pt x="344" y="20"/>
                      <a:pt x="335" y="38"/>
                      <a:pt x="326" y="58"/>
                    </a:cubicBezTo>
                    <a:cubicBezTo>
                      <a:pt x="449" y="58"/>
                      <a:pt x="571" y="58"/>
                      <a:pt x="696" y="58"/>
                    </a:cubicBezTo>
                    <a:cubicBezTo>
                      <a:pt x="696" y="88"/>
                      <a:pt x="701" y="115"/>
                      <a:pt x="679" y="142"/>
                    </a:cubicBezTo>
                    <a:cubicBezTo>
                      <a:pt x="597" y="245"/>
                      <a:pt x="493" y="317"/>
                      <a:pt x="371" y="364"/>
                    </a:cubicBezTo>
                    <a:cubicBezTo>
                      <a:pt x="271" y="403"/>
                      <a:pt x="167" y="425"/>
                      <a:pt x="61" y="436"/>
                    </a:cubicBezTo>
                    <a:cubicBezTo>
                      <a:pt x="46" y="438"/>
                      <a:pt x="31" y="439"/>
                      <a:pt x="14" y="441"/>
                    </a:cubicBezTo>
                    <a:cubicBezTo>
                      <a:pt x="14" y="420"/>
                      <a:pt x="14" y="402"/>
                      <a:pt x="14" y="382"/>
                    </a:cubicBezTo>
                    <a:cubicBezTo>
                      <a:pt x="107" y="366"/>
                      <a:pt x="200" y="349"/>
                      <a:pt x="288" y="316"/>
                    </a:cubicBezTo>
                    <a:close/>
                    <a:moveTo>
                      <a:pt x="205" y="171"/>
                    </a:moveTo>
                    <a:cubicBezTo>
                      <a:pt x="211" y="171"/>
                      <a:pt x="213" y="172"/>
                      <a:pt x="216" y="172"/>
                    </a:cubicBezTo>
                    <a:cubicBezTo>
                      <a:pt x="259" y="162"/>
                      <a:pt x="286" y="182"/>
                      <a:pt x="307" y="219"/>
                    </a:cubicBezTo>
                    <a:cubicBezTo>
                      <a:pt x="321" y="244"/>
                      <a:pt x="340" y="265"/>
                      <a:pt x="356" y="288"/>
                    </a:cubicBezTo>
                    <a:cubicBezTo>
                      <a:pt x="439" y="248"/>
                      <a:pt x="510" y="199"/>
                      <a:pt x="560" y="121"/>
                    </a:cubicBezTo>
                    <a:cubicBezTo>
                      <a:pt x="555" y="119"/>
                      <a:pt x="552" y="118"/>
                      <a:pt x="550" y="118"/>
                    </a:cubicBezTo>
                    <a:cubicBezTo>
                      <a:pt x="461" y="118"/>
                      <a:pt x="371" y="118"/>
                      <a:pt x="282" y="118"/>
                    </a:cubicBezTo>
                    <a:cubicBezTo>
                      <a:pt x="277" y="118"/>
                      <a:pt x="271" y="120"/>
                      <a:pt x="267" y="123"/>
                    </a:cubicBezTo>
                    <a:cubicBezTo>
                      <a:pt x="247" y="138"/>
                      <a:pt x="227" y="153"/>
                      <a:pt x="205" y="17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60" name="Freeform 34"/>
              <p:cNvSpPr>
                <a:spLocks/>
              </p:cNvSpPr>
              <p:nvPr userDrawn="1"/>
            </p:nvSpPr>
            <p:spPr bwMode="auto">
              <a:xfrm>
                <a:off x="-3113088" y="5441950"/>
                <a:ext cx="325437" cy="284162"/>
              </a:xfrm>
              <a:custGeom>
                <a:avLst/>
                <a:gdLst>
                  <a:gd name="T0" fmla="*/ 280 w 462"/>
                  <a:gd name="T1" fmla="*/ 284 h 403"/>
                  <a:gd name="T2" fmla="*/ 280 w 462"/>
                  <a:gd name="T3" fmla="*/ 403 h 403"/>
                  <a:gd name="T4" fmla="*/ 178 w 462"/>
                  <a:gd name="T5" fmla="*/ 403 h 403"/>
                  <a:gd name="T6" fmla="*/ 178 w 462"/>
                  <a:gd name="T7" fmla="*/ 287 h 403"/>
                  <a:gd name="T8" fmla="*/ 2 w 462"/>
                  <a:gd name="T9" fmla="*/ 395 h 403"/>
                  <a:gd name="T10" fmla="*/ 2 w 462"/>
                  <a:gd name="T11" fmla="*/ 343 h 403"/>
                  <a:gd name="T12" fmla="*/ 16 w 462"/>
                  <a:gd name="T13" fmla="*/ 326 h 403"/>
                  <a:gd name="T14" fmla="*/ 128 w 462"/>
                  <a:gd name="T15" fmla="*/ 219 h 403"/>
                  <a:gd name="T16" fmla="*/ 156 w 462"/>
                  <a:gd name="T17" fmla="*/ 163 h 403"/>
                  <a:gd name="T18" fmla="*/ 34 w 462"/>
                  <a:gd name="T19" fmla="*/ 163 h 403"/>
                  <a:gd name="T20" fmla="*/ 34 w 462"/>
                  <a:gd name="T21" fmla="*/ 103 h 403"/>
                  <a:gd name="T22" fmla="*/ 177 w 462"/>
                  <a:gd name="T23" fmla="*/ 103 h 403"/>
                  <a:gd name="T24" fmla="*/ 177 w 462"/>
                  <a:gd name="T25" fmla="*/ 0 h 403"/>
                  <a:gd name="T26" fmla="*/ 279 w 462"/>
                  <a:gd name="T27" fmla="*/ 0 h 403"/>
                  <a:gd name="T28" fmla="*/ 279 w 462"/>
                  <a:gd name="T29" fmla="*/ 103 h 403"/>
                  <a:gd name="T30" fmla="*/ 462 w 462"/>
                  <a:gd name="T31" fmla="*/ 103 h 403"/>
                  <a:gd name="T32" fmla="*/ 462 w 462"/>
                  <a:gd name="T33" fmla="*/ 163 h 403"/>
                  <a:gd name="T34" fmla="*/ 299 w 462"/>
                  <a:gd name="T35" fmla="*/ 163 h 403"/>
                  <a:gd name="T36" fmla="*/ 331 w 462"/>
                  <a:gd name="T37" fmla="*/ 220 h 403"/>
                  <a:gd name="T38" fmla="*/ 432 w 462"/>
                  <a:gd name="T39" fmla="*/ 316 h 403"/>
                  <a:gd name="T40" fmla="*/ 454 w 462"/>
                  <a:gd name="T41" fmla="*/ 365 h 403"/>
                  <a:gd name="T42" fmla="*/ 454 w 462"/>
                  <a:gd name="T43" fmla="*/ 394 h 403"/>
                  <a:gd name="T44" fmla="*/ 280 w 462"/>
                  <a:gd name="T45" fmla="*/ 284 h 4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62" h="403">
                    <a:moveTo>
                      <a:pt x="280" y="284"/>
                    </a:moveTo>
                    <a:cubicBezTo>
                      <a:pt x="280" y="327"/>
                      <a:pt x="280" y="365"/>
                      <a:pt x="280" y="403"/>
                    </a:cubicBezTo>
                    <a:cubicBezTo>
                      <a:pt x="245" y="403"/>
                      <a:pt x="212" y="403"/>
                      <a:pt x="178" y="403"/>
                    </a:cubicBezTo>
                    <a:cubicBezTo>
                      <a:pt x="178" y="366"/>
                      <a:pt x="178" y="329"/>
                      <a:pt x="178" y="287"/>
                    </a:cubicBezTo>
                    <a:cubicBezTo>
                      <a:pt x="125" y="336"/>
                      <a:pt x="69" y="371"/>
                      <a:pt x="2" y="395"/>
                    </a:cubicBezTo>
                    <a:cubicBezTo>
                      <a:pt x="2" y="375"/>
                      <a:pt x="0" y="359"/>
                      <a:pt x="2" y="343"/>
                    </a:cubicBezTo>
                    <a:cubicBezTo>
                      <a:pt x="3" y="337"/>
                      <a:pt x="10" y="330"/>
                      <a:pt x="16" y="326"/>
                    </a:cubicBezTo>
                    <a:cubicBezTo>
                      <a:pt x="58" y="295"/>
                      <a:pt x="99" y="263"/>
                      <a:pt x="128" y="219"/>
                    </a:cubicBezTo>
                    <a:cubicBezTo>
                      <a:pt x="139" y="203"/>
                      <a:pt x="146" y="184"/>
                      <a:pt x="156" y="163"/>
                    </a:cubicBezTo>
                    <a:cubicBezTo>
                      <a:pt x="113" y="163"/>
                      <a:pt x="74" y="163"/>
                      <a:pt x="34" y="163"/>
                    </a:cubicBezTo>
                    <a:cubicBezTo>
                      <a:pt x="34" y="143"/>
                      <a:pt x="34" y="124"/>
                      <a:pt x="34" y="103"/>
                    </a:cubicBezTo>
                    <a:cubicBezTo>
                      <a:pt x="81" y="103"/>
                      <a:pt x="128" y="103"/>
                      <a:pt x="177" y="103"/>
                    </a:cubicBezTo>
                    <a:cubicBezTo>
                      <a:pt x="177" y="68"/>
                      <a:pt x="177" y="34"/>
                      <a:pt x="177" y="0"/>
                    </a:cubicBezTo>
                    <a:cubicBezTo>
                      <a:pt x="211" y="0"/>
                      <a:pt x="244" y="0"/>
                      <a:pt x="279" y="0"/>
                    </a:cubicBezTo>
                    <a:cubicBezTo>
                      <a:pt x="279" y="33"/>
                      <a:pt x="279" y="67"/>
                      <a:pt x="279" y="103"/>
                    </a:cubicBezTo>
                    <a:cubicBezTo>
                      <a:pt x="342" y="103"/>
                      <a:pt x="401" y="103"/>
                      <a:pt x="462" y="103"/>
                    </a:cubicBezTo>
                    <a:cubicBezTo>
                      <a:pt x="462" y="123"/>
                      <a:pt x="462" y="142"/>
                      <a:pt x="462" y="163"/>
                    </a:cubicBezTo>
                    <a:cubicBezTo>
                      <a:pt x="409" y="163"/>
                      <a:pt x="357" y="163"/>
                      <a:pt x="299" y="163"/>
                    </a:cubicBezTo>
                    <a:cubicBezTo>
                      <a:pt x="311" y="185"/>
                      <a:pt x="318" y="205"/>
                      <a:pt x="331" y="220"/>
                    </a:cubicBezTo>
                    <a:cubicBezTo>
                      <a:pt x="363" y="254"/>
                      <a:pt x="396" y="286"/>
                      <a:pt x="432" y="316"/>
                    </a:cubicBezTo>
                    <a:cubicBezTo>
                      <a:pt x="448" y="330"/>
                      <a:pt x="456" y="344"/>
                      <a:pt x="454" y="365"/>
                    </a:cubicBezTo>
                    <a:cubicBezTo>
                      <a:pt x="453" y="373"/>
                      <a:pt x="454" y="382"/>
                      <a:pt x="454" y="394"/>
                    </a:cubicBezTo>
                    <a:cubicBezTo>
                      <a:pt x="390" y="368"/>
                      <a:pt x="333" y="335"/>
                      <a:pt x="280" y="28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61" name="Freeform 35"/>
              <p:cNvSpPr>
                <a:spLocks/>
              </p:cNvSpPr>
              <p:nvPr userDrawn="1"/>
            </p:nvSpPr>
            <p:spPr bwMode="auto">
              <a:xfrm>
                <a:off x="-2711450" y="5441950"/>
                <a:ext cx="234950" cy="366712"/>
              </a:xfrm>
              <a:custGeom>
                <a:avLst/>
                <a:gdLst>
                  <a:gd name="T0" fmla="*/ 232 w 334"/>
                  <a:gd name="T1" fmla="*/ 520 h 520"/>
                  <a:gd name="T2" fmla="*/ 129 w 334"/>
                  <a:gd name="T3" fmla="*/ 520 h 520"/>
                  <a:gd name="T4" fmla="*/ 129 w 334"/>
                  <a:gd name="T5" fmla="*/ 354 h 520"/>
                  <a:gd name="T6" fmla="*/ 5 w 334"/>
                  <a:gd name="T7" fmla="*/ 451 h 520"/>
                  <a:gd name="T8" fmla="*/ 23 w 334"/>
                  <a:gd name="T9" fmla="*/ 369 h 520"/>
                  <a:gd name="T10" fmla="*/ 103 w 334"/>
                  <a:gd name="T11" fmla="*/ 199 h 520"/>
                  <a:gd name="T12" fmla="*/ 103 w 334"/>
                  <a:gd name="T13" fmla="*/ 188 h 520"/>
                  <a:gd name="T14" fmla="*/ 24 w 334"/>
                  <a:gd name="T15" fmla="*/ 188 h 520"/>
                  <a:gd name="T16" fmla="*/ 24 w 334"/>
                  <a:gd name="T17" fmla="*/ 128 h 520"/>
                  <a:gd name="T18" fmla="*/ 128 w 334"/>
                  <a:gd name="T19" fmla="*/ 128 h 520"/>
                  <a:gd name="T20" fmla="*/ 128 w 334"/>
                  <a:gd name="T21" fmla="*/ 0 h 520"/>
                  <a:gd name="T22" fmla="*/ 231 w 334"/>
                  <a:gd name="T23" fmla="*/ 0 h 520"/>
                  <a:gd name="T24" fmla="*/ 231 w 334"/>
                  <a:gd name="T25" fmla="*/ 127 h 520"/>
                  <a:gd name="T26" fmla="*/ 334 w 334"/>
                  <a:gd name="T27" fmla="*/ 127 h 520"/>
                  <a:gd name="T28" fmla="*/ 334 w 334"/>
                  <a:gd name="T29" fmla="*/ 187 h 520"/>
                  <a:gd name="T30" fmla="*/ 252 w 334"/>
                  <a:gd name="T31" fmla="*/ 187 h 520"/>
                  <a:gd name="T32" fmla="*/ 306 w 334"/>
                  <a:gd name="T33" fmla="*/ 318 h 520"/>
                  <a:gd name="T34" fmla="*/ 327 w 334"/>
                  <a:gd name="T35" fmla="*/ 404 h 520"/>
                  <a:gd name="T36" fmla="*/ 232 w 334"/>
                  <a:gd name="T37" fmla="*/ 335 h 520"/>
                  <a:gd name="T38" fmla="*/ 232 w 334"/>
                  <a:gd name="T39" fmla="*/ 520 h 5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34" h="520">
                    <a:moveTo>
                      <a:pt x="232" y="520"/>
                    </a:moveTo>
                    <a:cubicBezTo>
                      <a:pt x="196" y="520"/>
                      <a:pt x="164" y="520"/>
                      <a:pt x="129" y="520"/>
                    </a:cubicBezTo>
                    <a:cubicBezTo>
                      <a:pt x="129" y="467"/>
                      <a:pt x="129" y="413"/>
                      <a:pt x="129" y="354"/>
                    </a:cubicBezTo>
                    <a:cubicBezTo>
                      <a:pt x="91" y="396"/>
                      <a:pt x="53" y="429"/>
                      <a:pt x="5" y="451"/>
                    </a:cubicBezTo>
                    <a:cubicBezTo>
                      <a:pt x="4" y="420"/>
                      <a:pt x="0" y="394"/>
                      <a:pt x="23" y="369"/>
                    </a:cubicBezTo>
                    <a:cubicBezTo>
                      <a:pt x="66" y="320"/>
                      <a:pt x="91" y="262"/>
                      <a:pt x="103" y="199"/>
                    </a:cubicBezTo>
                    <a:cubicBezTo>
                      <a:pt x="104" y="196"/>
                      <a:pt x="103" y="193"/>
                      <a:pt x="103" y="188"/>
                    </a:cubicBezTo>
                    <a:cubicBezTo>
                      <a:pt x="77" y="188"/>
                      <a:pt x="52" y="188"/>
                      <a:pt x="24" y="188"/>
                    </a:cubicBezTo>
                    <a:cubicBezTo>
                      <a:pt x="24" y="168"/>
                      <a:pt x="24" y="149"/>
                      <a:pt x="24" y="128"/>
                    </a:cubicBezTo>
                    <a:cubicBezTo>
                      <a:pt x="58" y="128"/>
                      <a:pt x="92" y="128"/>
                      <a:pt x="128" y="128"/>
                    </a:cubicBezTo>
                    <a:cubicBezTo>
                      <a:pt x="128" y="84"/>
                      <a:pt x="128" y="42"/>
                      <a:pt x="128" y="0"/>
                    </a:cubicBezTo>
                    <a:cubicBezTo>
                      <a:pt x="163" y="0"/>
                      <a:pt x="196" y="0"/>
                      <a:pt x="231" y="0"/>
                    </a:cubicBezTo>
                    <a:cubicBezTo>
                      <a:pt x="231" y="42"/>
                      <a:pt x="231" y="83"/>
                      <a:pt x="231" y="127"/>
                    </a:cubicBezTo>
                    <a:cubicBezTo>
                      <a:pt x="266" y="127"/>
                      <a:pt x="300" y="127"/>
                      <a:pt x="334" y="127"/>
                    </a:cubicBezTo>
                    <a:cubicBezTo>
                      <a:pt x="334" y="148"/>
                      <a:pt x="334" y="166"/>
                      <a:pt x="334" y="187"/>
                    </a:cubicBezTo>
                    <a:cubicBezTo>
                      <a:pt x="308" y="187"/>
                      <a:pt x="281" y="187"/>
                      <a:pt x="252" y="187"/>
                    </a:cubicBezTo>
                    <a:cubicBezTo>
                      <a:pt x="260" y="236"/>
                      <a:pt x="279" y="279"/>
                      <a:pt x="306" y="318"/>
                    </a:cubicBezTo>
                    <a:cubicBezTo>
                      <a:pt x="331" y="353"/>
                      <a:pt x="332" y="359"/>
                      <a:pt x="327" y="404"/>
                    </a:cubicBezTo>
                    <a:cubicBezTo>
                      <a:pt x="288" y="393"/>
                      <a:pt x="260" y="367"/>
                      <a:pt x="232" y="335"/>
                    </a:cubicBezTo>
                    <a:cubicBezTo>
                      <a:pt x="232" y="399"/>
                      <a:pt x="232" y="458"/>
                      <a:pt x="232" y="52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62" name="Freeform 36"/>
              <p:cNvSpPr>
                <a:spLocks/>
              </p:cNvSpPr>
              <p:nvPr userDrawn="1"/>
            </p:nvSpPr>
            <p:spPr bwMode="auto">
              <a:xfrm>
                <a:off x="-3384550" y="5441950"/>
                <a:ext cx="274637" cy="285750"/>
              </a:xfrm>
              <a:custGeom>
                <a:avLst/>
                <a:gdLst>
                  <a:gd name="T0" fmla="*/ 290 w 390"/>
                  <a:gd name="T1" fmla="*/ 163 h 404"/>
                  <a:gd name="T2" fmla="*/ 353 w 390"/>
                  <a:gd name="T3" fmla="*/ 275 h 404"/>
                  <a:gd name="T4" fmla="*/ 373 w 390"/>
                  <a:gd name="T5" fmla="*/ 326 h 404"/>
                  <a:gd name="T6" fmla="*/ 373 w 390"/>
                  <a:gd name="T7" fmla="*/ 354 h 404"/>
                  <a:gd name="T8" fmla="*/ 262 w 390"/>
                  <a:gd name="T9" fmla="*/ 274 h 404"/>
                  <a:gd name="T10" fmla="*/ 262 w 390"/>
                  <a:gd name="T11" fmla="*/ 403 h 404"/>
                  <a:gd name="T12" fmla="*/ 161 w 390"/>
                  <a:gd name="T13" fmla="*/ 403 h 404"/>
                  <a:gd name="T14" fmla="*/ 161 w 390"/>
                  <a:gd name="T15" fmla="*/ 290 h 404"/>
                  <a:gd name="T16" fmla="*/ 1 w 390"/>
                  <a:gd name="T17" fmla="*/ 404 h 404"/>
                  <a:gd name="T18" fmla="*/ 2 w 390"/>
                  <a:gd name="T19" fmla="*/ 351 h 404"/>
                  <a:gd name="T20" fmla="*/ 16 w 390"/>
                  <a:gd name="T21" fmla="*/ 331 h 404"/>
                  <a:gd name="T22" fmla="*/ 112 w 390"/>
                  <a:gd name="T23" fmla="*/ 193 h 404"/>
                  <a:gd name="T24" fmla="*/ 116 w 390"/>
                  <a:gd name="T25" fmla="*/ 180 h 404"/>
                  <a:gd name="T26" fmla="*/ 119 w 390"/>
                  <a:gd name="T27" fmla="*/ 164 h 404"/>
                  <a:gd name="T28" fmla="*/ 23 w 390"/>
                  <a:gd name="T29" fmla="*/ 164 h 404"/>
                  <a:gd name="T30" fmla="*/ 23 w 390"/>
                  <a:gd name="T31" fmla="*/ 103 h 404"/>
                  <a:gd name="T32" fmla="*/ 160 w 390"/>
                  <a:gd name="T33" fmla="*/ 103 h 404"/>
                  <a:gd name="T34" fmla="*/ 160 w 390"/>
                  <a:gd name="T35" fmla="*/ 0 h 404"/>
                  <a:gd name="T36" fmla="*/ 261 w 390"/>
                  <a:gd name="T37" fmla="*/ 0 h 404"/>
                  <a:gd name="T38" fmla="*/ 261 w 390"/>
                  <a:gd name="T39" fmla="*/ 102 h 404"/>
                  <a:gd name="T40" fmla="*/ 390 w 390"/>
                  <a:gd name="T41" fmla="*/ 102 h 404"/>
                  <a:gd name="T42" fmla="*/ 390 w 390"/>
                  <a:gd name="T43" fmla="*/ 163 h 404"/>
                  <a:gd name="T44" fmla="*/ 290 w 390"/>
                  <a:gd name="T45" fmla="*/ 163 h 4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90" h="404">
                    <a:moveTo>
                      <a:pt x="290" y="163"/>
                    </a:moveTo>
                    <a:cubicBezTo>
                      <a:pt x="300" y="209"/>
                      <a:pt x="321" y="246"/>
                      <a:pt x="353" y="275"/>
                    </a:cubicBezTo>
                    <a:cubicBezTo>
                      <a:pt x="369" y="290"/>
                      <a:pt x="376" y="305"/>
                      <a:pt x="373" y="326"/>
                    </a:cubicBezTo>
                    <a:cubicBezTo>
                      <a:pt x="372" y="334"/>
                      <a:pt x="373" y="342"/>
                      <a:pt x="373" y="354"/>
                    </a:cubicBezTo>
                    <a:cubicBezTo>
                      <a:pt x="329" y="336"/>
                      <a:pt x="297" y="306"/>
                      <a:pt x="262" y="274"/>
                    </a:cubicBezTo>
                    <a:cubicBezTo>
                      <a:pt x="262" y="319"/>
                      <a:pt x="262" y="360"/>
                      <a:pt x="262" y="403"/>
                    </a:cubicBezTo>
                    <a:cubicBezTo>
                      <a:pt x="227" y="403"/>
                      <a:pt x="195" y="403"/>
                      <a:pt x="161" y="403"/>
                    </a:cubicBezTo>
                    <a:cubicBezTo>
                      <a:pt x="161" y="367"/>
                      <a:pt x="161" y="331"/>
                      <a:pt x="161" y="290"/>
                    </a:cubicBezTo>
                    <a:cubicBezTo>
                      <a:pt x="114" y="341"/>
                      <a:pt x="66" y="382"/>
                      <a:pt x="1" y="404"/>
                    </a:cubicBezTo>
                    <a:cubicBezTo>
                      <a:pt x="1" y="385"/>
                      <a:pt x="0" y="368"/>
                      <a:pt x="2" y="351"/>
                    </a:cubicBezTo>
                    <a:cubicBezTo>
                      <a:pt x="3" y="344"/>
                      <a:pt x="10" y="336"/>
                      <a:pt x="16" y="331"/>
                    </a:cubicBezTo>
                    <a:cubicBezTo>
                      <a:pt x="58" y="292"/>
                      <a:pt x="95" y="249"/>
                      <a:pt x="112" y="193"/>
                    </a:cubicBezTo>
                    <a:cubicBezTo>
                      <a:pt x="114" y="189"/>
                      <a:pt x="115" y="184"/>
                      <a:pt x="116" y="180"/>
                    </a:cubicBezTo>
                    <a:cubicBezTo>
                      <a:pt x="117" y="176"/>
                      <a:pt x="118" y="171"/>
                      <a:pt x="119" y="164"/>
                    </a:cubicBezTo>
                    <a:cubicBezTo>
                      <a:pt x="87" y="164"/>
                      <a:pt x="56" y="164"/>
                      <a:pt x="23" y="164"/>
                    </a:cubicBezTo>
                    <a:cubicBezTo>
                      <a:pt x="23" y="143"/>
                      <a:pt x="23" y="124"/>
                      <a:pt x="23" y="103"/>
                    </a:cubicBezTo>
                    <a:cubicBezTo>
                      <a:pt x="68" y="103"/>
                      <a:pt x="113" y="103"/>
                      <a:pt x="160" y="103"/>
                    </a:cubicBezTo>
                    <a:cubicBezTo>
                      <a:pt x="160" y="67"/>
                      <a:pt x="160" y="34"/>
                      <a:pt x="160" y="0"/>
                    </a:cubicBezTo>
                    <a:cubicBezTo>
                      <a:pt x="194" y="0"/>
                      <a:pt x="226" y="0"/>
                      <a:pt x="261" y="0"/>
                    </a:cubicBezTo>
                    <a:cubicBezTo>
                      <a:pt x="261" y="34"/>
                      <a:pt x="261" y="67"/>
                      <a:pt x="261" y="102"/>
                    </a:cubicBezTo>
                    <a:cubicBezTo>
                      <a:pt x="305" y="102"/>
                      <a:pt x="347" y="102"/>
                      <a:pt x="390" y="102"/>
                    </a:cubicBezTo>
                    <a:cubicBezTo>
                      <a:pt x="390" y="123"/>
                      <a:pt x="390" y="142"/>
                      <a:pt x="390" y="163"/>
                    </a:cubicBezTo>
                    <a:cubicBezTo>
                      <a:pt x="357" y="163"/>
                      <a:pt x="325" y="163"/>
                      <a:pt x="290" y="1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63" name="Freeform 37"/>
              <p:cNvSpPr>
                <a:spLocks/>
              </p:cNvSpPr>
              <p:nvPr userDrawn="1"/>
            </p:nvSpPr>
            <p:spPr bwMode="auto">
              <a:xfrm>
                <a:off x="-2552700" y="5835650"/>
                <a:ext cx="295275" cy="180975"/>
              </a:xfrm>
              <a:custGeom>
                <a:avLst/>
                <a:gdLst>
                  <a:gd name="T0" fmla="*/ 337 w 419"/>
                  <a:gd name="T1" fmla="*/ 197 h 257"/>
                  <a:gd name="T2" fmla="*/ 337 w 419"/>
                  <a:gd name="T3" fmla="*/ 66 h 257"/>
                  <a:gd name="T4" fmla="*/ 419 w 419"/>
                  <a:gd name="T5" fmla="*/ 66 h 257"/>
                  <a:gd name="T6" fmla="*/ 419 w 419"/>
                  <a:gd name="T7" fmla="*/ 257 h 257"/>
                  <a:gd name="T8" fmla="*/ 0 w 419"/>
                  <a:gd name="T9" fmla="*/ 257 h 257"/>
                  <a:gd name="T10" fmla="*/ 0 w 419"/>
                  <a:gd name="T11" fmla="*/ 0 h 257"/>
                  <a:gd name="T12" fmla="*/ 99 w 419"/>
                  <a:gd name="T13" fmla="*/ 0 h 257"/>
                  <a:gd name="T14" fmla="*/ 99 w 419"/>
                  <a:gd name="T15" fmla="*/ 197 h 257"/>
                  <a:gd name="T16" fmla="*/ 337 w 419"/>
                  <a:gd name="T17" fmla="*/ 197 h 2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19" h="257">
                    <a:moveTo>
                      <a:pt x="337" y="197"/>
                    </a:moveTo>
                    <a:cubicBezTo>
                      <a:pt x="337" y="153"/>
                      <a:pt x="337" y="110"/>
                      <a:pt x="337" y="66"/>
                    </a:cubicBezTo>
                    <a:cubicBezTo>
                      <a:pt x="365" y="66"/>
                      <a:pt x="392" y="66"/>
                      <a:pt x="419" y="66"/>
                    </a:cubicBezTo>
                    <a:cubicBezTo>
                      <a:pt x="419" y="130"/>
                      <a:pt x="419" y="193"/>
                      <a:pt x="419" y="257"/>
                    </a:cubicBezTo>
                    <a:cubicBezTo>
                      <a:pt x="279" y="257"/>
                      <a:pt x="140" y="257"/>
                      <a:pt x="0" y="257"/>
                    </a:cubicBezTo>
                    <a:cubicBezTo>
                      <a:pt x="0" y="172"/>
                      <a:pt x="0" y="87"/>
                      <a:pt x="0" y="0"/>
                    </a:cubicBezTo>
                    <a:cubicBezTo>
                      <a:pt x="32" y="0"/>
                      <a:pt x="64" y="0"/>
                      <a:pt x="99" y="0"/>
                    </a:cubicBezTo>
                    <a:cubicBezTo>
                      <a:pt x="99" y="65"/>
                      <a:pt x="99" y="131"/>
                      <a:pt x="99" y="197"/>
                    </a:cubicBezTo>
                    <a:cubicBezTo>
                      <a:pt x="179" y="197"/>
                      <a:pt x="257" y="197"/>
                      <a:pt x="337" y="19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64" name="Freeform 38"/>
              <p:cNvSpPr>
                <a:spLocks/>
              </p:cNvSpPr>
              <p:nvPr userDrawn="1"/>
            </p:nvSpPr>
            <p:spPr bwMode="auto">
              <a:xfrm>
                <a:off x="-2708275" y="5835650"/>
                <a:ext cx="142875" cy="174625"/>
              </a:xfrm>
              <a:custGeom>
                <a:avLst/>
                <a:gdLst>
                  <a:gd name="T0" fmla="*/ 0 w 202"/>
                  <a:gd name="T1" fmla="*/ 245 h 247"/>
                  <a:gd name="T2" fmla="*/ 93 w 202"/>
                  <a:gd name="T3" fmla="*/ 0 h 247"/>
                  <a:gd name="T4" fmla="*/ 202 w 202"/>
                  <a:gd name="T5" fmla="*/ 0 h 247"/>
                  <a:gd name="T6" fmla="*/ 134 w 202"/>
                  <a:gd name="T7" fmla="*/ 168 h 247"/>
                  <a:gd name="T8" fmla="*/ 94 w 202"/>
                  <a:gd name="T9" fmla="*/ 230 h 247"/>
                  <a:gd name="T10" fmla="*/ 60 w 202"/>
                  <a:gd name="T11" fmla="*/ 246 h 247"/>
                  <a:gd name="T12" fmla="*/ 0 w 202"/>
                  <a:gd name="T13" fmla="*/ 245 h 2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2" h="247">
                    <a:moveTo>
                      <a:pt x="0" y="245"/>
                    </a:moveTo>
                    <a:cubicBezTo>
                      <a:pt x="53" y="168"/>
                      <a:pt x="80" y="87"/>
                      <a:pt x="93" y="0"/>
                    </a:cubicBezTo>
                    <a:cubicBezTo>
                      <a:pt x="130" y="0"/>
                      <a:pt x="165" y="0"/>
                      <a:pt x="202" y="0"/>
                    </a:cubicBezTo>
                    <a:cubicBezTo>
                      <a:pt x="187" y="60"/>
                      <a:pt x="164" y="115"/>
                      <a:pt x="134" y="168"/>
                    </a:cubicBezTo>
                    <a:cubicBezTo>
                      <a:pt x="122" y="189"/>
                      <a:pt x="107" y="209"/>
                      <a:pt x="94" y="230"/>
                    </a:cubicBezTo>
                    <a:cubicBezTo>
                      <a:pt x="86" y="242"/>
                      <a:pt x="75" y="247"/>
                      <a:pt x="60" y="246"/>
                    </a:cubicBezTo>
                    <a:cubicBezTo>
                      <a:pt x="41" y="245"/>
                      <a:pt x="23" y="245"/>
                      <a:pt x="0" y="24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65" name="Freeform 39"/>
              <p:cNvSpPr>
                <a:spLocks/>
              </p:cNvSpPr>
              <p:nvPr userDrawn="1"/>
            </p:nvSpPr>
            <p:spPr bwMode="auto">
              <a:xfrm>
                <a:off x="-2270125" y="5834063"/>
                <a:ext cx="152400" cy="166687"/>
              </a:xfrm>
              <a:custGeom>
                <a:avLst/>
                <a:gdLst>
                  <a:gd name="T0" fmla="*/ 215 w 216"/>
                  <a:gd name="T1" fmla="*/ 235 h 236"/>
                  <a:gd name="T2" fmla="*/ 147 w 216"/>
                  <a:gd name="T3" fmla="*/ 235 h 236"/>
                  <a:gd name="T4" fmla="*/ 132 w 216"/>
                  <a:gd name="T5" fmla="*/ 220 h 236"/>
                  <a:gd name="T6" fmla="*/ 49 w 216"/>
                  <a:gd name="T7" fmla="*/ 72 h 236"/>
                  <a:gd name="T8" fmla="*/ 0 w 216"/>
                  <a:gd name="T9" fmla="*/ 0 h 236"/>
                  <a:gd name="T10" fmla="*/ 104 w 216"/>
                  <a:gd name="T11" fmla="*/ 1 h 236"/>
                  <a:gd name="T12" fmla="*/ 113 w 216"/>
                  <a:gd name="T13" fmla="*/ 9 h 236"/>
                  <a:gd name="T14" fmla="*/ 215 w 216"/>
                  <a:gd name="T15" fmla="*/ 225 h 236"/>
                  <a:gd name="T16" fmla="*/ 215 w 216"/>
                  <a:gd name="T17" fmla="*/ 235 h 2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16" h="236">
                    <a:moveTo>
                      <a:pt x="215" y="235"/>
                    </a:moveTo>
                    <a:cubicBezTo>
                      <a:pt x="192" y="235"/>
                      <a:pt x="170" y="236"/>
                      <a:pt x="147" y="235"/>
                    </a:cubicBezTo>
                    <a:cubicBezTo>
                      <a:pt x="142" y="234"/>
                      <a:pt x="135" y="226"/>
                      <a:pt x="132" y="220"/>
                    </a:cubicBezTo>
                    <a:cubicBezTo>
                      <a:pt x="104" y="171"/>
                      <a:pt x="78" y="121"/>
                      <a:pt x="49" y="72"/>
                    </a:cubicBezTo>
                    <a:cubicBezTo>
                      <a:pt x="35" y="48"/>
                      <a:pt x="18" y="26"/>
                      <a:pt x="0" y="0"/>
                    </a:cubicBezTo>
                    <a:cubicBezTo>
                      <a:pt x="36" y="0"/>
                      <a:pt x="70" y="0"/>
                      <a:pt x="104" y="1"/>
                    </a:cubicBezTo>
                    <a:cubicBezTo>
                      <a:pt x="107" y="1"/>
                      <a:pt x="111" y="6"/>
                      <a:pt x="113" y="9"/>
                    </a:cubicBezTo>
                    <a:cubicBezTo>
                      <a:pt x="147" y="81"/>
                      <a:pt x="181" y="153"/>
                      <a:pt x="215" y="225"/>
                    </a:cubicBezTo>
                    <a:cubicBezTo>
                      <a:pt x="216" y="228"/>
                      <a:pt x="215" y="231"/>
                      <a:pt x="215" y="23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66" name="Freeform 40"/>
              <p:cNvSpPr>
                <a:spLocks/>
              </p:cNvSpPr>
              <p:nvPr userDrawn="1"/>
            </p:nvSpPr>
            <p:spPr bwMode="auto">
              <a:xfrm>
                <a:off x="-2466975" y="5813425"/>
                <a:ext cx="123825" cy="112712"/>
              </a:xfrm>
              <a:custGeom>
                <a:avLst/>
                <a:gdLst>
                  <a:gd name="T0" fmla="*/ 176 w 176"/>
                  <a:gd name="T1" fmla="*/ 159 h 159"/>
                  <a:gd name="T2" fmla="*/ 105 w 176"/>
                  <a:gd name="T3" fmla="*/ 159 h 159"/>
                  <a:gd name="T4" fmla="*/ 93 w 176"/>
                  <a:gd name="T5" fmla="*/ 151 h 159"/>
                  <a:gd name="T6" fmla="*/ 1 w 176"/>
                  <a:gd name="T7" fmla="*/ 6 h 159"/>
                  <a:gd name="T8" fmla="*/ 1 w 176"/>
                  <a:gd name="T9" fmla="*/ 0 h 159"/>
                  <a:gd name="T10" fmla="*/ 100 w 176"/>
                  <a:gd name="T11" fmla="*/ 1 h 159"/>
                  <a:gd name="T12" fmla="*/ 112 w 176"/>
                  <a:gd name="T13" fmla="*/ 11 h 159"/>
                  <a:gd name="T14" fmla="*/ 176 w 176"/>
                  <a:gd name="T15" fmla="*/ 159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76" h="159">
                    <a:moveTo>
                      <a:pt x="176" y="159"/>
                    </a:moveTo>
                    <a:cubicBezTo>
                      <a:pt x="150" y="159"/>
                      <a:pt x="128" y="159"/>
                      <a:pt x="105" y="159"/>
                    </a:cubicBezTo>
                    <a:cubicBezTo>
                      <a:pt x="101" y="158"/>
                      <a:pt x="95" y="154"/>
                      <a:pt x="93" y="151"/>
                    </a:cubicBezTo>
                    <a:cubicBezTo>
                      <a:pt x="62" y="103"/>
                      <a:pt x="31" y="54"/>
                      <a:pt x="1" y="6"/>
                    </a:cubicBezTo>
                    <a:cubicBezTo>
                      <a:pt x="0" y="5"/>
                      <a:pt x="1" y="4"/>
                      <a:pt x="1" y="0"/>
                    </a:cubicBezTo>
                    <a:cubicBezTo>
                      <a:pt x="34" y="0"/>
                      <a:pt x="67" y="0"/>
                      <a:pt x="100" y="1"/>
                    </a:cubicBezTo>
                    <a:cubicBezTo>
                      <a:pt x="104" y="1"/>
                      <a:pt x="110" y="6"/>
                      <a:pt x="112" y="11"/>
                    </a:cubicBezTo>
                    <a:cubicBezTo>
                      <a:pt x="133" y="59"/>
                      <a:pt x="154" y="107"/>
                      <a:pt x="176" y="15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67" name="Freeform 41"/>
              <p:cNvSpPr>
                <a:spLocks noEditPoints="1"/>
              </p:cNvSpPr>
              <p:nvPr userDrawn="1"/>
            </p:nvSpPr>
            <p:spPr bwMode="auto">
              <a:xfrm>
                <a:off x="-4167187" y="5448300"/>
                <a:ext cx="644525" cy="688975"/>
              </a:xfrm>
              <a:custGeom>
                <a:avLst/>
                <a:gdLst>
                  <a:gd name="T0" fmla="*/ 359 w 913"/>
                  <a:gd name="T1" fmla="*/ 497 h 975"/>
                  <a:gd name="T2" fmla="*/ 356 w 913"/>
                  <a:gd name="T3" fmla="*/ 579 h 975"/>
                  <a:gd name="T4" fmla="*/ 302 w 913"/>
                  <a:gd name="T5" fmla="*/ 753 h 975"/>
                  <a:gd name="T6" fmla="*/ 171 w 913"/>
                  <a:gd name="T7" fmla="*/ 867 h 975"/>
                  <a:gd name="T8" fmla="*/ 121 w 913"/>
                  <a:gd name="T9" fmla="*/ 797 h 975"/>
                  <a:gd name="T10" fmla="*/ 37 w 913"/>
                  <a:gd name="T11" fmla="*/ 839 h 975"/>
                  <a:gd name="T12" fmla="*/ 22 w 913"/>
                  <a:gd name="T13" fmla="*/ 760 h 975"/>
                  <a:gd name="T14" fmla="*/ 88 w 913"/>
                  <a:gd name="T15" fmla="*/ 691 h 975"/>
                  <a:gd name="T16" fmla="*/ 194 w 913"/>
                  <a:gd name="T17" fmla="*/ 623 h 975"/>
                  <a:gd name="T18" fmla="*/ 92 w 913"/>
                  <a:gd name="T19" fmla="*/ 601 h 975"/>
                  <a:gd name="T20" fmla="*/ 131 w 913"/>
                  <a:gd name="T21" fmla="*/ 535 h 975"/>
                  <a:gd name="T22" fmla="*/ 23 w 913"/>
                  <a:gd name="T23" fmla="*/ 515 h 975"/>
                  <a:gd name="T24" fmla="*/ 100 w 913"/>
                  <a:gd name="T25" fmla="*/ 440 h 975"/>
                  <a:gd name="T26" fmla="*/ 109 w 913"/>
                  <a:gd name="T27" fmla="*/ 374 h 975"/>
                  <a:gd name="T28" fmla="*/ 277 w 913"/>
                  <a:gd name="T29" fmla="*/ 266 h 975"/>
                  <a:gd name="T30" fmla="*/ 210 w 913"/>
                  <a:gd name="T31" fmla="*/ 260 h 975"/>
                  <a:gd name="T32" fmla="*/ 69 w 913"/>
                  <a:gd name="T33" fmla="*/ 274 h 975"/>
                  <a:gd name="T34" fmla="*/ 106 w 913"/>
                  <a:gd name="T35" fmla="*/ 194 h 975"/>
                  <a:gd name="T36" fmla="*/ 164 w 913"/>
                  <a:gd name="T37" fmla="*/ 124 h 975"/>
                  <a:gd name="T38" fmla="*/ 161 w 913"/>
                  <a:gd name="T39" fmla="*/ 18 h 975"/>
                  <a:gd name="T40" fmla="*/ 300 w 913"/>
                  <a:gd name="T41" fmla="*/ 15 h 975"/>
                  <a:gd name="T42" fmla="*/ 254 w 913"/>
                  <a:gd name="T43" fmla="*/ 125 h 975"/>
                  <a:gd name="T44" fmla="*/ 262 w 913"/>
                  <a:gd name="T45" fmla="*/ 140 h 975"/>
                  <a:gd name="T46" fmla="*/ 415 w 913"/>
                  <a:gd name="T47" fmla="*/ 171 h 975"/>
                  <a:gd name="T48" fmla="*/ 387 w 913"/>
                  <a:gd name="T49" fmla="*/ 245 h 975"/>
                  <a:gd name="T50" fmla="*/ 330 w 913"/>
                  <a:gd name="T51" fmla="*/ 339 h 975"/>
                  <a:gd name="T52" fmla="*/ 350 w 913"/>
                  <a:gd name="T53" fmla="*/ 348 h 975"/>
                  <a:gd name="T54" fmla="*/ 466 w 913"/>
                  <a:gd name="T55" fmla="*/ 352 h 975"/>
                  <a:gd name="T56" fmla="*/ 495 w 913"/>
                  <a:gd name="T57" fmla="*/ 290 h 975"/>
                  <a:gd name="T58" fmla="*/ 687 w 913"/>
                  <a:gd name="T59" fmla="*/ 117 h 975"/>
                  <a:gd name="T60" fmla="*/ 751 w 913"/>
                  <a:gd name="T61" fmla="*/ 52 h 975"/>
                  <a:gd name="T62" fmla="*/ 821 w 913"/>
                  <a:gd name="T63" fmla="*/ 133 h 975"/>
                  <a:gd name="T64" fmla="*/ 717 w 913"/>
                  <a:gd name="T65" fmla="*/ 237 h 975"/>
                  <a:gd name="T66" fmla="*/ 648 w 913"/>
                  <a:gd name="T67" fmla="*/ 271 h 975"/>
                  <a:gd name="T68" fmla="*/ 539 w 913"/>
                  <a:gd name="T69" fmla="*/ 311 h 975"/>
                  <a:gd name="T70" fmla="*/ 626 w 913"/>
                  <a:gd name="T71" fmla="*/ 403 h 975"/>
                  <a:gd name="T72" fmla="*/ 788 w 913"/>
                  <a:gd name="T73" fmla="*/ 350 h 975"/>
                  <a:gd name="T74" fmla="*/ 913 w 913"/>
                  <a:gd name="T75" fmla="*/ 428 h 975"/>
                  <a:gd name="T76" fmla="*/ 802 w 913"/>
                  <a:gd name="T77" fmla="*/ 467 h 975"/>
                  <a:gd name="T78" fmla="*/ 728 w 913"/>
                  <a:gd name="T79" fmla="*/ 546 h 975"/>
                  <a:gd name="T80" fmla="*/ 716 w 913"/>
                  <a:gd name="T81" fmla="*/ 736 h 975"/>
                  <a:gd name="T82" fmla="*/ 700 w 913"/>
                  <a:gd name="T83" fmla="*/ 811 h 975"/>
                  <a:gd name="T84" fmla="*/ 659 w 913"/>
                  <a:gd name="T85" fmla="*/ 924 h 975"/>
                  <a:gd name="T86" fmla="*/ 644 w 913"/>
                  <a:gd name="T87" fmla="*/ 902 h 975"/>
                  <a:gd name="T88" fmla="*/ 638 w 913"/>
                  <a:gd name="T89" fmla="*/ 808 h 975"/>
                  <a:gd name="T90" fmla="*/ 625 w 913"/>
                  <a:gd name="T91" fmla="*/ 497 h 975"/>
                  <a:gd name="T92" fmla="*/ 474 w 913"/>
                  <a:gd name="T93" fmla="*/ 642 h 975"/>
                  <a:gd name="T94" fmla="*/ 436 w 913"/>
                  <a:gd name="T95" fmla="*/ 623 h 975"/>
                  <a:gd name="T96" fmla="*/ 400 w 913"/>
                  <a:gd name="T97" fmla="*/ 734 h 975"/>
                  <a:gd name="T98" fmla="*/ 310 w 913"/>
                  <a:gd name="T99" fmla="*/ 649 h 975"/>
                  <a:gd name="T100" fmla="*/ 468 w 913"/>
                  <a:gd name="T101" fmla="*/ 557 h 975"/>
                  <a:gd name="T102" fmla="*/ 489 w 913"/>
                  <a:gd name="T103" fmla="*/ 390 h 975"/>
                  <a:gd name="T104" fmla="*/ 428 w 913"/>
                  <a:gd name="T105" fmla="*/ 431 h 975"/>
                  <a:gd name="T106" fmla="*/ 311 w 913"/>
                  <a:gd name="T107" fmla="*/ 450 h 975"/>
                  <a:gd name="T108" fmla="*/ 295 w 913"/>
                  <a:gd name="T109" fmla="*/ 293 h 975"/>
                  <a:gd name="T110" fmla="*/ 170 w 913"/>
                  <a:gd name="T111" fmla="*/ 396 h 975"/>
                  <a:gd name="T112" fmla="*/ 194 w 913"/>
                  <a:gd name="T113" fmla="*/ 685 h 9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913" h="975">
                    <a:moveTo>
                      <a:pt x="253" y="470"/>
                    </a:moveTo>
                    <a:cubicBezTo>
                      <a:pt x="264" y="473"/>
                      <a:pt x="270" y="480"/>
                      <a:pt x="274" y="488"/>
                    </a:cubicBezTo>
                    <a:cubicBezTo>
                      <a:pt x="277" y="492"/>
                      <a:pt x="279" y="492"/>
                      <a:pt x="283" y="490"/>
                    </a:cubicBezTo>
                    <a:cubicBezTo>
                      <a:pt x="289" y="487"/>
                      <a:pt x="295" y="483"/>
                      <a:pt x="301" y="482"/>
                    </a:cubicBezTo>
                    <a:cubicBezTo>
                      <a:pt x="315" y="481"/>
                      <a:pt x="329" y="480"/>
                      <a:pt x="342" y="481"/>
                    </a:cubicBezTo>
                    <a:cubicBezTo>
                      <a:pt x="348" y="481"/>
                      <a:pt x="354" y="486"/>
                      <a:pt x="360" y="488"/>
                    </a:cubicBezTo>
                    <a:cubicBezTo>
                      <a:pt x="359" y="491"/>
                      <a:pt x="359" y="493"/>
                      <a:pt x="359" y="497"/>
                    </a:cubicBezTo>
                    <a:cubicBezTo>
                      <a:pt x="367" y="499"/>
                      <a:pt x="376" y="501"/>
                      <a:pt x="385" y="505"/>
                    </a:cubicBezTo>
                    <a:cubicBezTo>
                      <a:pt x="391" y="507"/>
                      <a:pt x="396" y="511"/>
                      <a:pt x="401" y="515"/>
                    </a:cubicBezTo>
                    <a:cubicBezTo>
                      <a:pt x="402" y="516"/>
                      <a:pt x="402" y="519"/>
                      <a:pt x="402" y="521"/>
                    </a:cubicBezTo>
                    <a:cubicBezTo>
                      <a:pt x="401" y="526"/>
                      <a:pt x="400" y="530"/>
                      <a:pt x="398" y="534"/>
                    </a:cubicBezTo>
                    <a:cubicBezTo>
                      <a:pt x="397" y="538"/>
                      <a:pt x="396" y="542"/>
                      <a:pt x="394" y="545"/>
                    </a:cubicBezTo>
                    <a:cubicBezTo>
                      <a:pt x="390" y="550"/>
                      <a:pt x="386" y="555"/>
                      <a:pt x="383" y="560"/>
                    </a:cubicBezTo>
                    <a:cubicBezTo>
                      <a:pt x="376" y="570"/>
                      <a:pt x="367" y="575"/>
                      <a:pt x="356" y="579"/>
                    </a:cubicBezTo>
                    <a:cubicBezTo>
                      <a:pt x="333" y="588"/>
                      <a:pt x="309" y="589"/>
                      <a:pt x="286" y="594"/>
                    </a:cubicBezTo>
                    <a:cubicBezTo>
                      <a:pt x="284" y="594"/>
                      <a:pt x="281" y="596"/>
                      <a:pt x="280" y="598"/>
                    </a:cubicBezTo>
                    <a:cubicBezTo>
                      <a:pt x="275" y="608"/>
                      <a:pt x="275" y="619"/>
                      <a:pt x="276" y="630"/>
                    </a:cubicBezTo>
                    <a:cubicBezTo>
                      <a:pt x="278" y="646"/>
                      <a:pt x="278" y="662"/>
                      <a:pt x="280" y="678"/>
                    </a:cubicBezTo>
                    <a:cubicBezTo>
                      <a:pt x="281" y="690"/>
                      <a:pt x="285" y="702"/>
                      <a:pt x="288" y="714"/>
                    </a:cubicBezTo>
                    <a:cubicBezTo>
                      <a:pt x="289" y="718"/>
                      <a:pt x="291" y="721"/>
                      <a:pt x="294" y="725"/>
                    </a:cubicBezTo>
                    <a:cubicBezTo>
                      <a:pt x="301" y="733"/>
                      <a:pt x="302" y="743"/>
                      <a:pt x="302" y="753"/>
                    </a:cubicBezTo>
                    <a:cubicBezTo>
                      <a:pt x="303" y="764"/>
                      <a:pt x="306" y="774"/>
                      <a:pt x="308" y="784"/>
                    </a:cubicBezTo>
                    <a:cubicBezTo>
                      <a:pt x="309" y="791"/>
                      <a:pt x="309" y="798"/>
                      <a:pt x="305" y="804"/>
                    </a:cubicBezTo>
                    <a:cubicBezTo>
                      <a:pt x="286" y="834"/>
                      <a:pt x="263" y="859"/>
                      <a:pt x="242" y="886"/>
                    </a:cubicBezTo>
                    <a:cubicBezTo>
                      <a:pt x="233" y="897"/>
                      <a:pt x="222" y="905"/>
                      <a:pt x="208" y="908"/>
                    </a:cubicBezTo>
                    <a:cubicBezTo>
                      <a:pt x="196" y="911"/>
                      <a:pt x="186" y="907"/>
                      <a:pt x="178" y="898"/>
                    </a:cubicBezTo>
                    <a:cubicBezTo>
                      <a:pt x="174" y="894"/>
                      <a:pt x="170" y="891"/>
                      <a:pt x="172" y="884"/>
                    </a:cubicBezTo>
                    <a:cubicBezTo>
                      <a:pt x="173" y="878"/>
                      <a:pt x="172" y="872"/>
                      <a:pt x="171" y="867"/>
                    </a:cubicBezTo>
                    <a:cubicBezTo>
                      <a:pt x="171" y="866"/>
                      <a:pt x="168" y="865"/>
                      <a:pt x="167" y="865"/>
                    </a:cubicBezTo>
                    <a:cubicBezTo>
                      <a:pt x="165" y="858"/>
                      <a:pt x="163" y="852"/>
                      <a:pt x="162" y="846"/>
                    </a:cubicBezTo>
                    <a:cubicBezTo>
                      <a:pt x="161" y="845"/>
                      <a:pt x="161" y="844"/>
                      <a:pt x="162" y="844"/>
                    </a:cubicBezTo>
                    <a:cubicBezTo>
                      <a:pt x="168" y="838"/>
                      <a:pt x="165" y="831"/>
                      <a:pt x="164" y="826"/>
                    </a:cubicBezTo>
                    <a:cubicBezTo>
                      <a:pt x="157" y="821"/>
                      <a:pt x="148" y="820"/>
                      <a:pt x="146" y="810"/>
                    </a:cubicBezTo>
                    <a:cubicBezTo>
                      <a:pt x="145" y="808"/>
                      <a:pt x="140" y="806"/>
                      <a:pt x="137" y="805"/>
                    </a:cubicBezTo>
                    <a:cubicBezTo>
                      <a:pt x="131" y="803"/>
                      <a:pt x="125" y="804"/>
                      <a:pt x="121" y="797"/>
                    </a:cubicBezTo>
                    <a:cubicBezTo>
                      <a:pt x="119" y="795"/>
                      <a:pt x="113" y="793"/>
                      <a:pt x="110" y="789"/>
                    </a:cubicBezTo>
                    <a:cubicBezTo>
                      <a:pt x="110" y="788"/>
                      <a:pt x="109" y="788"/>
                      <a:pt x="108" y="788"/>
                    </a:cubicBezTo>
                    <a:cubicBezTo>
                      <a:pt x="101" y="789"/>
                      <a:pt x="96" y="786"/>
                      <a:pt x="90" y="782"/>
                    </a:cubicBezTo>
                    <a:cubicBezTo>
                      <a:pt x="87" y="779"/>
                      <a:pt x="78" y="781"/>
                      <a:pt x="75" y="784"/>
                    </a:cubicBezTo>
                    <a:cubicBezTo>
                      <a:pt x="70" y="790"/>
                      <a:pt x="65" y="795"/>
                      <a:pt x="60" y="799"/>
                    </a:cubicBezTo>
                    <a:cubicBezTo>
                      <a:pt x="50" y="806"/>
                      <a:pt x="46" y="816"/>
                      <a:pt x="42" y="827"/>
                    </a:cubicBezTo>
                    <a:cubicBezTo>
                      <a:pt x="40" y="831"/>
                      <a:pt x="38" y="835"/>
                      <a:pt x="37" y="839"/>
                    </a:cubicBezTo>
                    <a:cubicBezTo>
                      <a:pt x="29" y="842"/>
                      <a:pt x="24" y="840"/>
                      <a:pt x="21" y="832"/>
                    </a:cubicBezTo>
                    <a:cubicBezTo>
                      <a:pt x="19" y="824"/>
                      <a:pt x="17" y="816"/>
                      <a:pt x="15" y="807"/>
                    </a:cubicBezTo>
                    <a:cubicBezTo>
                      <a:pt x="15" y="801"/>
                      <a:pt x="13" y="797"/>
                      <a:pt x="8" y="794"/>
                    </a:cubicBezTo>
                    <a:cubicBezTo>
                      <a:pt x="0" y="789"/>
                      <a:pt x="0" y="788"/>
                      <a:pt x="8" y="782"/>
                    </a:cubicBezTo>
                    <a:cubicBezTo>
                      <a:pt x="10" y="780"/>
                      <a:pt x="13" y="779"/>
                      <a:pt x="14" y="778"/>
                    </a:cubicBezTo>
                    <a:cubicBezTo>
                      <a:pt x="16" y="773"/>
                      <a:pt x="18" y="768"/>
                      <a:pt x="21" y="764"/>
                    </a:cubicBezTo>
                    <a:cubicBezTo>
                      <a:pt x="21" y="763"/>
                      <a:pt x="22" y="761"/>
                      <a:pt x="22" y="760"/>
                    </a:cubicBezTo>
                    <a:cubicBezTo>
                      <a:pt x="21" y="747"/>
                      <a:pt x="28" y="737"/>
                      <a:pt x="33" y="727"/>
                    </a:cubicBezTo>
                    <a:cubicBezTo>
                      <a:pt x="37" y="719"/>
                      <a:pt x="43" y="712"/>
                      <a:pt x="39" y="702"/>
                    </a:cubicBezTo>
                    <a:cubicBezTo>
                      <a:pt x="39" y="701"/>
                      <a:pt x="40" y="699"/>
                      <a:pt x="41" y="698"/>
                    </a:cubicBezTo>
                    <a:cubicBezTo>
                      <a:pt x="51" y="689"/>
                      <a:pt x="64" y="684"/>
                      <a:pt x="77" y="680"/>
                    </a:cubicBezTo>
                    <a:cubicBezTo>
                      <a:pt x="75" y="681"/>
                      <a:pt x="73" y="683"/>
                      <a:pt x="69" y="685"/>
                    </a:cubicBezTo>
                    <a:cubicBezTo>
                      <a:pt x="74" y="685"/>
                      <a:pt x="77" y="686"/>
                      <a:pt x="79" y="687"/>
                    </a:cubicBezTo>
                    <a:cubicBezTo>
                      <a:pt x="83" y="688"/>
                      <a:pt x="86" y="689"/>
                      <a:pt x="88" y="691"/>
                    </a:cubicBezTo>
                    <a:cubicBezTo>
                      <a:pt x="92" y="696"/>
                      <a:pt x="96" y="696"/>
                      <a:pt x="101" y="695"/>
                    </a:cubicBezTo>
                    <a:cubicBezTo>
                      <a:pt x="120" y="691"/>
                      <a:pt x="136" y="682"/>
                      <a:pt x="152" y="673"/>
                    </a:cubicBezTo>
                    <a:cubicBezTo>
                      <a:pt x="155" y="671"/>
                      <a:pt x="158" y="668"/>
                      <a:pt x="163" y="671"/>
                    </a:cubicBezTo>
                    <a:cubicBezTo>
                      <a:pt x="164" y="671"/>
                      <a:pt x="165" y="670"/>
                      <a:pt x="166" y="670"/>
                    </a:cubicBezTo>
                    <a:cubicBezTo>
                      <a:pt x="175" y="666"/>
                      <a:pt x="183" y="661"/>
                      <a:pt x="192" y="657"/>
                    </a:cubicBezTo>
                    <a:cubicBezTo>
                      <a:pt x="196" y="655"/>
                      <a:pt x="197" y="653"/>
                      <a:pt x="196" y="648"/>
                    </a:cubicBezTo>
                    <a:cubicBezTo>
                      <a:pt x="195" y="641"/>
                      <a:pt x="195" y="633"/>
                      <a:pt x="194" y="623"/>
                    </a:cubicBezTo>
                    <a:cubicBezTo>
                      <a:pt x="185" y="628"/>
                      <a:pt x="175" y="632"/>
                      <a:pt x="167" y="637"/>
                    </a:cubicBezTo>
                    <a:cubicBezTo>
                      <a:pt x="147" y="648"/>
                      <a:pt x="128" y="659"/>
                      <a:pt x="109" y="669"/>
                    </a:cubicBezTo>
                    <a:cubicBezTo>
                      <a:pt x="98" y="675"/>
                      <a:pt x="90" y="671"/>
                      <a:pt x="89" y="659"/>
                    </a:cubicBezTo>
                    <a:cubicBezTo>
                      <a:pt x="88" y="653"/>
                      <a:pt x="88" y="647"/>
                      <a:pt x="88" y="642"/>
                    </a:cubicBezTo>
                    <a:cubicBezTo>
                      <a:pt x="77" y="639"/>
                      <a:pt x="75" y="636"/>
                      <a:pt x="79" y="628"/>
                    </a:cubicBezTo>
                    <a:cubicBezTo>
                      <a:pt x="88" y="631"/>
                      <a:pt x="90" y="622"/>
                      <a:pt x="94" y="620"/>
                    </a:cubicBezTo>
                    <a:cubicBezTo>
                      <a:pt x="93" y="613"/>
                      <a:pt x="92" y="607"/>
                      <a:pt x="92" y="601"/>
                    </a:cubicBezTo>
                    <a:cubicBezTo>
                      <a:pt x="93" y="592"/>
                      <a:pt x="95" y="583"/>
                      <a:pt x="98" y="574"/>
                    </a:cubicBezTo>
                    <a:cubicBezTo>
                      <a:pt x="99" y="570"/>
                      <a:pt x="104" y="567"/>
                      <a:pt x="108" y="566"/>
                    </a:cubicBezTo>
                    <a:cubicBezTo>
                      <a:pt x="126" y="559"/>
                      <a:pt x="144" y="553"/>
                      <a:pt x="161" y="547"/>
                    </a:cubicBezTo>
                    <a:cubicBezTo>
                      <a:pt x="171" y="543"/>
                      <a:pt x="181" y="540"/>
                      <a:pt x="190" y="537"/>
                    </a:cubicBezTo>
                    <a:cubicBezTo>
                      <a:pt x="196" y="535"/>
                      <a:pt x="198" y="532"/>
                      <a:pt x="195" y="527"/>
                    </a:cubicBezTo>
                    <a:cubicBezTo>
                      <a:pt x="191" y="519"/>
                      <a:pt x="186" y="512"/>
                      <a:pt x="181" y="504"/>
                    </a:cubicBezTo>
                    <a:cubicBezTo>
                      <a:pt x="163" y="515"/>
                      <a:pt x="147" y="525"/>
                      <a:pt x="131" y="535"/>
                    </a:cubicBezTo>
                    <a:cubicBezTo>
                      <a:pt x="102" y="551"/>
                      <a:pt x="73" y="567"/>
                      <a:pt x="47" y="588"/>
                    </a:cubicBezTo>
                    <a:cubicBezTo>
                      <a:pt x="44" y="590"/>
                      <a:pt x="39" y="590"/>
                      <a:pt x="36" y="588"/>
                    </a:cubicBezTo>
                    <a:cubicBezTo>
                      <a:pt x="29" y="583"/>
                      <a:pt x="23" y="576"/>
                      <a:pt x="17" y="571"/>
                    </a:cubicBezTo>
                    <a:cubicBezTo>
                      <a:pt x="17" y="567"/>
                      <a:pt x="18" y="564"/>
                      <a:pt x="17" y="561"/>
                    </a:cubicBezTo>
                    <a:cubicBezTo>
                      <a:pt x="11" y="552"/>
                      <a:pt x="11" y="549"/>
                      <a:pt x="19" y="539"/>
                    </a:cubicBezTo>
                    <a:cubicBezTo>
                      <a:pt x="22" y="535"/>
                      <a:pt x="26" y="531"/>
                      <a:pt x="24" y="525"/>
                    </a:cubicBezTo>
                    <a:cubicBezTo>
                      <a:pt x="24" y="522"/>
                      <a:pt x="24" y="518"/>
                      <a:pt x="23" y="515"/>
                    </a:cubicBezTo>
                    <a:cubicBezTo>
                      <a:pt x="26" y="511"/>
                      <a:pt x="30" y="507"/>
                      <a:pt x="33" y="502"/>
                    </a:cubicBezTo>
                    <a:cubicBezTo>
                      <a:pt x="36" y="494"/>
                      <a:pt x="26" y="494"/>
                      <a:pt x="25" y="487"/>
                    </a:cubicBezTo>
                    <a:cubicBezTo>
                      <a:pt x="36" y="481"/>
                      <a:pt x="46" y="474"/>
                      <a:pt x="60" y="476"/>
                    </a:cubicBezTo>
                    <a:cubicBezTo>
                      <a:pt x="65" y="477"/>
                      <a:pt x="68" y="475"/>
                      <a:pt x="70" y="471"/>
                    </a:cubicBezTo>
                    <a:cubicBezTo>
                      <a:pt x="72" y="466"/>
                      <a:pt x="74" y="464"/>
                      <a:pt x="80" y="467"/>
                    </a:cubicBezTo>
                    <a:cubicBezTo>
                      <a:pt x="83" y="468"/>
                      <a:pt x="87" y="465"/>
                      <a:pt x="91" y="463"/>
                    </a:cubicBezTo>
                    <a:cubicBezTo>
                      <a:pt x="106" y="456"/>
                      <a:pt x="106" y="456"/>
                      <a:pt x="100" y="440"/>
                    </a:cubicBezTo>
                    <a:cubicBezTo>
                      <a:pt x="98" y="436"/>
                      <a:pt x="97" y="432"/>
                      <a:pt x="95" y="428"/>
                    </a:cubicBezTo>
                    <a:cubicBezTo>
                      <a:pt x="93" y="424"/>
                      <a:pt x="90" y="419"/>
                      <a:pt x="97" y="416"/>
                    </a:cubicBezTo>
                    <a:cubicBezTo>
                      <a:pt x="99" y="416"/>
                      <a:pt x="98" y="412"/>
                      <a:pt x="99" y="410"/>
                    </a:cubicBezTo>
                    <a:cubicBezTo>
                      <a:pt x="100" y="404"/>
                      <a:pt x="102" y="398"/>
                      <a:pt x="104" y="393"/>
                    </a:cubicBezTo>
                    <a:cubicBezTo>
                      <a:pt x="105" y="388"/>
                      <a:pt x="105" y="383"/>
                      <a:pt x="101" y="379"/>
                    </a:cubicBezTo>
                    <a:cubicBezTo>
                      <a:pt x="100" y="378"/>
                      <a:pt x="100" y="376"/>
                      <a:pt x="99" y="374"/>
                    </a:cubicBezTo>
                    <a:cubicBezTo>
                      <a:pt x="102" y="374"/>
                      <a:pt x="105" y="374"/>
                      <a:pt x="109" y="374"/>
                    </a:cubicBezTo>
                    <a:cubicBezTo>
                      <a:pt x="110" y="363"/>
                      <a:pt x="111" y="353"/>
                      <a:pt x="112" y="342"/>
                    </a:cubicBezTo>
                    <a:cubicBezTo>
                      <a:pt x="112" y="337"/>
                      <a:pt x="114" y="332"/>
                      <a:pt x="115" y="326"/>
                    </a:cubicBezTo>
                    <a:cubicBezTo>
                      <a:pt x="123" y="330"/>
                      <a:pt x="131" y="332"/>
                      <a:pt x="137" y="337"/>
                    </a:cubicBezTo>
                    <a:cubicBezTo>
                      <a:pt x="152" y="348"/>
                      <a:pt x="165" y="347"/>
                      <a:pt x="180" y="336"/>
                    </a:cubicBezTo>
                    <a:cubicBezTo>
                      <a:pt x="200" y="321"/>
                      <a:pt x="221" y="307"/>
                      <a:pt x="242" y="292"/>
                    </a:cubicBezTo>
                    <a:cubicBezTo>
                      <a:pt x="252" y="285"/>
                      <a:pt x="261" y="278"/>
                      <a:pt x="271" y="272"/>
                    </a:cubicBezTo>
                    <a:cubicBezTo>
                      <a:pt x="273" y="270"/>
                      <a:pt x="275" y="268"/>
                      <a:pt x="277" y="266"/>
                    </a:cubicBezTo>
                    <a:cubicBezTo>
                      <a:pt x="279" y="263"/>
                      <a:pt x="282" y="261"/>
                      <a:pt x="286" y="259"/>
                    </a:cubicBezTo>
                    <a:cubicBezTo>
                      <a:pt x="291" y="257"/>
                      <a:pt x="295" y="252"/>
                      <a:pt x="298" y="247"/>
                    </a:cubicBezTo>
                    <a:cubicBezTo>
                      <a:pt x="301" y="243"/>
                      <a:pt x="301" y="238"/>
                      <a:pt x="304" y="231"/>
                    </a:cubicBezTo>
                    <a:cubicBezTo>
                      <a:pt x="288" y="240"/>
                      <a:pt x="274" y="248"/>
                      <a:pt x="259" y="257"/>
                    </a:cubicBezTo>
                    <a:cubicBezTo>
                      <a:pt x="260" y="248"/>
                      <a:pt x="270" y="244"/>
                      <a:pt x="271" y="235"/>
                    </a:cubicBezTo>
                    <a:cubicBezTo>
                      <a:pt x="270" y="234"/>
                      <a:pt x="270" y="234"/>
                      <a:pt x="269" y="233"/>
                    </a:cubicBezTo>
                    <a:cubicBezTo>
                      <a:pt x="249" y="242"/>
                      <a:pt x="229" y="250"/>
                      <a:pt x="210" y="260"/>
                    </a:cubicBezTo>
                    <a:cubicBezTo>
                      <a:pt x="196" y="267"/>
                      <a:pt x="183" y="276"/>
                      <a:pt x="170" y="284"/>
                    </a:cubicBezTo>
                    <a:cubicBezTo>
                      <a:pt x="160" y="289"/>
                      <a:pt x="149" y="292"/>
                      <a:pt x="140" y="298"/>
                    </a:cubicBezTo>
                    <a:cubicBezTo>
                      <a:pt x="126" y="306"/>
                      <a:pt x="112" y="314"/>
                      <a:pt x="99" y="323"/>
                    </a:cubicBezTo>
                    <a:cubicBezTo>
                      <a:pt x="93" y="328"/>
                      <a:pt x="87" y="327"/>
                      <a:pt x="83" y="322"/>
                    </a:cubicBezTo>
                    <a:cubicBezTo>
                      <a:pt x="76" y="317"/>
                      <a:pt x="74" y="309"/>
                      <a:pt x="75" y="301"/>
                    </a:cubicBezTo>
                    <a:cubicBezTo>
                      <a:pt x="76" y="293"/>
                      <a:pt x="76" y="292"/>
                      <a:pt x="69" y="290"/>
                    </a:cubicBezTo>
                    <a:cubicBezTo>
                      <a:pt x="69" y="285"/>
                      <a:pt x="68" y="279"/>
                      <a:pt x="69" y="274"/>
                    </a:cubicBezTo>
                    <a:cubicBezTo>
                      <a:pt x="69" y="272"/>
                      <a:pt x="71" y="270"/>
                      <a:pt x="73" y="268"/>
                    </a:cubicBezTo>
                    <a:cubicBezTo>
                      <a:pt x="77" y="262"/>
                      <a:pt x="83" y="257"/>
                      <a:pt x="84" y="249"/>
                    </a:cubicBezTo>
                    <a:cubicBezTo>
                      <a:pt x="85" y="244"/>
                      <a:pt x="92" y="240"/>
                      <a:pt x="98" y="234"/>
                    </a:cubicBezTo>
                    <a:cubicBezTo>
                      <a:pt x="96" y="229"/>
                      <a:pt x="94" y="223"/>
                      <a:pt x="93" y="217"/>
                    </a:cubicBezTo>
                    <a:cubicBezTo>
                      <a:pt x="92" y="211"/>
                      <a:pt x="92" y="205"/>
                      <a:pt x="93" y="200"/>
                    </a:cubicBezTo>
                    <a:cubicBezTo>
                      <a:pt x="93" y="198"/>
                      <a:pt x="97" y="197"/>
                      <a:pt x="99" y="196"/>
                    </a:cubicBezTo>
                    <a:cubicBezTo>
                      <a:pt x="101" y="195"/>
                      <a:pt x="104" y="196"/>
                      <a:pt x="106" y="194"/>
                    </a:cubicBezTo>
                    <a:cubicBezTo>
                      <a:pt x="116" y="188"/>
                      <a:pt x="125" y="192"/>
                      <a:pt x="133" y="199"/>
                    </a:cubicBezTo>
                    <a:cubicBezTo>
                      <a:pt x="138" y="203"/>
                      <a:pt x="143" y="203"/>
                      <a:pt x="147" y="199"/>
                    </a:cubicBezTo>
                    <a:cubicBezTo>
                      <a:pt x="152" y="194"/>
                      <a:pt x="155" y="187"/>
                      <a:pt x="159" y="181"/>
                    </a:cubicBezTo>
                    <a:cubicBezTo>
                      <a:pt x="161" y="179"/>
                      <a:pt x="162" y="177"/>
                      <a:pt x="164" y="176"/>
                    </a:cubicBezTo>
                    <a:cubicBezTo>
                      <a:pt x="174" y="164"/>
                      <a:pt x="183" y="152"/>
                      <a:pt x="194" y="140"/>
                    </a:cubicBezTo>
                    <a:cubicBezTo>
                      <a:pt x="192" y="139"/>
                      <a:pt x="191" y="139"/>
                      <a:pt x="190" y="139"/>
                    </a:cubicBezTo>
                    <a:cubicBezTo>
                      <a:pt x="178" y="140"/>
                      <a:pt x="171" y="132"/>
                      <a:pt x="164" y="124"/>
                    </a:cubicBezTo>
                    <a:cubicBezTo>
                      <a:pt x="157" y="116"/>
                      <a:pt x="152" y="106"/>
                      <a:pt x="151" y="95"/>
                    </a:cubicBezTo>
                    <a:cubicBezTo>
                      <a:pt x="151" y="93"/>
                      <a:pt x="149" y="91"/>
                      <a:pt x="148" y="90"/>
                    </a:cubicBezTo>
                    <a:cubicBezTo>
                      <a:pt x="143" y="84"/>
                      <a:pt x="137" y="78"/>
                      <a:pt x="130" y="71"/>
                    </a:cubicBezTo>
                    <a:cubicBezTo>
                      <a:pt x="137" y="67"/>
                      <a:pt x="142" y="63"/>
                      <a:pt x="147" y="62"/>
                    </a:cubicBezTo>
                    <a:cubicBezTo>
                      <a:pt x="152" y="60"/>
                      <a:pt x="154" y="58"/>
                      <a:pt x="153" y="53"/>
                    </a:cubicBezTo>
                    <a:cubicBezTo>
                      <a:pt x="151" y="46"/>
                      <a:pt x="150" y="39"/>
                      <a:pt x="149" y="32"/>
                    </a:cubicBezTo>
                    <a:cubicBezTo>
                      <a:pt x="147" y="26"/>
                      <a:pt x="154" y="17"/>
                      <a:pt x="161" y="18"/>
                    </a:cubicBezTo>
                    <a:cubicBezTo>
                      <a:pt x="166" y="19"/>
                      <a:pt x="172" y="20"/>
                      <a:pt x="177" y="21"/>
                    </a:cubicBezTo>
                    <a:cubicBezTo>
                      <a:pt x="185" y="24"/>
                      <a:pt x="191" y="20"/>
                      <a:pt x="198" y="15"/>
                    </a:cubicBezTo>
                    <a:cubicBezTo>
                      <a:pt x="205" y="11"/>
                      <a:pt x="212" y="6"/>
                      <a:pt x="219" y="2"/>
                    </a:cubicBezTo>
                    <a:cubicBezTo>
                      <a:pt x="221" y="0"/>
                      <a:pt x="224" y="0"/>
                      <a:pt x="227" y="0"/>
                    </a:cubicBezTo>
                    <a:cubicBezTo>
                      <a:pt x="237" y="0"/>
                      <a:pt x="248" y="1"/>
                      <a:pt x="258" y="1"/>
                    </a:cubicBezTo>
                    <a:cubicBezTo>
                      <a:pt x="266" y="1"/>
                      <a:pt x="275" y="1"/>
                      <a:pt x="283" y="2"/>
                    </a:cubicBezTo>
                    <a:cubicBezTo>
                      <a:pt x="290" y="3"/>
                      <a:pt x="295" y="8"/>
                      <a:pt x="300" y="15"/>
                    </a:cubicBezTo>
                    <a:cubicBezTo>
                      <a:pt x="301" y="17"/>
                      <a:pt x="305" y="20"/>
                      <a:pt x="307" y="21"/>
                    </a:cubicBezTo>
                    <a:cubicBezTo>
                      <a:pt x="319" y="29"/>
                      <a:pt x="331" y="36"/>
                      <a:pt x="343" y="43"/>
                    </a:cubicBezTo>
                    <a:cubicBezTo>
                      <a:pt x="356" y="50"/>
                      <a:pt x="360" y="63"/>
                      <a:pt x="360" y="76"/>
                    </a:cubicBezTo>
                    <a:cubicBezTo>
                      <a:pt x="359" y="82"/>
                      <a:pt x="355" y="89"/>
                      <a:pt x="350" y="93"/>
                    </a:cubicBezTo>
                    <a:cubicBezTo>
                      <a:pt x="344" y="100"/>
                      <a:pt x="337" y="106"/>
                      <a:pt x="329" y="109"/>
                    </a:cubicBezTo>
                    <a:cubicBezTo>
                      <a:pt x="322" y="112"/>
                      <a:pt x="313" y="111"/>
                      <a:pt x="306" y="111"/>
                    </a:cubicBezTo>
                    <a:cubicBezTo>
                      <a:pt x="287" y="110"/>
                      <a:pt x="269" y="112"/>
                      <a:pt x="254" y="125"/>
                    </a:cubicBezTo>
                    <a:cubicBezTo>
                      <a:pt x="239" y="136"/>
                      <a:pt x="225" y="149"/>
                      <a:pt x="211" y="160"/>
                    </a:cubicBezTo>
                    <a:cubicBezTo>
                      <a:pt x="202" y="167"/>
                      <a:pt x="192" y="173"/>
                      <a:pt x="182" y="179"/>
                    </a:cubicBezTo>
                    <a:cubicBezTo>
                      <a:pt x="178" y="181"/>
                      <a:pt x="175" y="184"/>
                      <a:pt x="171" y="187"/>
                    </a:cubicBezTo>
                    <a:cubicBezTo>
                      <a:pt x="172" y="187"/>
                      <a:pt x="172" y="188"/>
                      <a:pt x="172" y="188"/>
                    </a:cubicBezTo>
                    <a:cubicBezTo>
                      <a:pt x="181" y="185"/>
                      <a:pt x="190" y="181"/>
                      <a:pt x="199" y="177"/>
                    </a:cubicBezTo>
                    <a:cubicBezTo>
                      <a:pt x="215" y="171"/>
                      <a:pt x="231" y="164"/>
                      <a:pt x="247" y="159"/>
                    </a:cubicBezTo>
                    <a:cubicBezTo>
                      <a:pt x="256" y="155"/>
                      <a:pt x="259" y="147"/>
                      <a:pt x="262" y="140"/>
                    </a:cubicBezTo>
                    <a:cubicBezTo>
                      <a:pt x="265" y="132"/>
                      <a:pt x="270" y="129"/>
                      <a:pt x="277" y="127"/>
                    </a:cubicBezTo>
                    <a:cubicBezTo>
                      <a:pt x="291" y="122"/>
                      <a:pt x="304" y="127"/>
                      <a:pt x="317" y="129"/>
                    </a:cubicBezTo>
                    <a:cubicBezTo>
                      <a:pt x="325" y="130"/>
                      <a:pt x="333" y="131"/>
                      <a:pt x="341" y="130"/>
                    </a:cubicBezTo>
                    <a:cubicBezTo>
                      <a:pt x="352" y="129"/>
                      <a:pt x="361" y="132"/>
                      <a:pt x="371" y="137"/>
                    </a:cubicBezTo>
                    <a:cubicBezTo>
                      <a:pt x="378" y="142"/>
                      <a:pt x="387" y="145"/>
                      <a:pt x="394" y="149"/>
                    </a:cubicBezTo>
                    <a:cubicBezTo>
                      <a:pt x="399" y="151"/>
                      <a:pt x="404" y="154"/>
                      <a:pt x="409" y="157"/>
                    </a:cubicBezTo>
                    <a:cubicBezTo>
                      <a:pt x="413" y="160"/>
                      <a:pt x="416" y="165"/>
                      <a:pt x="415" y="171"/>
                    </a:cubicBezTo>
                    <a:cubicBezTo>
                      <a:pt x="414" y="172"/>
                      <a:pt x="414" y="174"/>
                      <a:pt x="414" y="175"/>
                    </a:cubicBezTo>
                    <a:cubicBezTo>
                      <a:pt x="417" y="183"/>
                      <a:pt x="413" y="187"/>
                      <a:pt x="406" y="190"/>
                    </a:cubicBezTo>
                    <a:cubicBezTo>
                      <a:pt x="404" y="190"/>
                      <a:pt x="403" y="193"/>
                      <a:pt x="401" y="195"/>
                    </a:cubicBezTo>
                    <a:cubicBezTo>
                      <a:pt x="396" y="200"/>
                      <a:pt x="390" y="205"/>
                      <a:pt x="386" y="212"/>
                    </a:cubicBezTo>
                    <a:cubicBezTo>
                      <a:pt x="381" y="223"/>
                      <a:pt x="368" y="223"/>
                      <a:pt x="359" y="231"/>
                    </a:cubicBezTo>
                    <a:cubicBezTo>
                      <a:pt x="364" y="234"/>
                      <a:pt x="369" y="236"/>
                      <a:pt x="374" y="239"/>
                    </a:cubicBezTo>
                    <a:cubicBezTo>
                      <a:pt x="378" y="241"/>
                      <a:pt x="383" y="243"/>
                      <a:pt x="387" y="245"/>
                    </a:cubicBezTo>
                    <a:cubicBezTo>
                      <a:pt x="398" y="252"/>
                      <a:pt x="404" y="261"/>
                      <a:pt x="403" y="274"/>
                    </a:cubicBezTo>
                    <a:cubicBezTo>
                      <a:pt x="402" y="285"/>
                      <a:pt x="402" y="297"/>
                      <a:pt x="393" y="305"/>
                    </a:cubicBezTo>
                    <a:cubicBezTo>
                      <a:pt x="386" y="311"/>
                      <a:pt x="380" y="317"/>
                      <a:pt x="370" y="314"/>
                    </a:cubicBezTo>
                    <a:cubicBezTo>
                      <a:pt x="367" y="313"/>
                      <a:pt x="362" y="317"/>
                      <a:pt x="359" y="320"/>
                    </a:cubicBezTo>
                    <a:cubicBezTo>
                      <a:pt x="354" y="324"/>
                      <a:pt x="350" y="329"/>
                      <a:pt x="345" y="333"/>
                    </a:cubicBezTo>
                    <a:cubicBezTo>
                      <a:pt x="342" y="336"/>
                      <a:pt x="337" y="336"/>
                      <a:pt x="333" y="338"/>
                    </a:cubicBezTo>
                    <a:cubicBezTo>
                      <a:pt x="332" y="338"/>
                      <a:pt x="331" y="338"/>
                      <a:pt x="330" y="339"/>
                    </a:cubicBezTo>
                    <a:cubicBezTo>
                      <a:pt x="315" y="353"/>
                      <a:pt x="299" y="366"/>
                      <a:pt x="284" y="380"/>
                    </a:cubicBezTo>
                    <a:cubicBezTo>
                      <a:pt x="283" y="381"/>
                      <a:pt x="282" y="381"/>
                      <a:pt x="280" y="382"/>
                    </a:cubicBezTo>
                    <a:cubicBezTo>
                      <a:pt x="281" y="383"/>
                      <a:pt x="281" y="384"/>
                      <a:pt x="282" y="384"/>
                    </a:cubicBezTo>
                    <a:cubicBezTo>
                      <a:pt x="293" y="380"/>
                      <a:pt x="303" y="375"/>
                      <a:pt x="314" y="370"/>
                    </a:cubicBezTo>
                    <a:cubicBezTo>
                      <a:pt x="319" y="368"/>
                      <a:pt x="323" y="366"/>
                      <a:pt x="327" y="364"/>
                    </a:cubicBezTo>
                    <a:cubicBezTo>
                      <a:pt x="329" y="363"/>
                      <a:pt x="331" y="362"/>
                      <a:pt x="331" y="361"/>
                    </a:cubicBezTo>
                    <a:cubicBezTo>
                      <a:pt x="332" y="350"/>
                      <a:pt x="342" y="349"/>
                      <a:pt x="350" y="348"/>
                    </a:cubicBezTo>
                    <a:cubicBezTo>
                      <a:pt x="365" y="345"/>
                      <a:pt x="381" y="343"/>
                      <a:pt x="397" y="341"/>
                    </a:cubicBezTo>
                    <a:cubicBezTo>
                      <a:pt x="401" y="340"/>
                      <a:pt x="407" y="341"/>
                      <a:pt x="411" y="342"/>
                    </a:cubicBezTo>
                    <a:cubicBezTo>
                      <a:pt x="423" y="347"/>
                      <a:pt x="437" y="346"/>
                      <a:pt x="447" y="356"/>
                    </a:cubicBezTo>
                    <a:cubicBezTo>
                      <a:pt x="452" y="361"/>
                      <a:pt x="457" y="365"/>
                      <a:pt x="463" y="368"/>
                    </a:cubicBezTo>
                    <a:cubicBezTo>
                      <a:pt x="466" y="370"/>
                      <a:pt x="469" y="372"/>
                      <a:pt x="473" y="373"/>
                    </a:cubicBezTo>
                    <a:cubicBezTo>
                      <a:pt x="473" y="372"/>
                      <a:pt x="474" y="372"/>
                      <a:pt x="474" y="371"/>
                    </a:cubicBezTo>
                    <a:cubicBezTo>
                      <a:pt x="472" y="365"/>
                      <a:pt x="469" y="358"/>
                      <a:pt x="466" y="352"/>
                    </a:cubicBezTo>
                    <a:cubicBezTo>
                      <a:pt x="465" y="352"/>
                      <a:pt x="464" y="351"/>
                      <a:pt x="463" y="351"/>
                    </a:cubicBezTo>
                    <a:cubicBezTo>
                      <a:pt x="465" y="348"/>
                      <a:pt x="468" y="344"/>
                      <a:pt x="471" y="341"/>
                    </a:cubicBezTo>
                    <a:cubicBezTo>
                      <a:pt x="472" y="342"/>
                      <a:pt x="473" y="342"/>
                      <a:pt x="474" y="343"/>
                    </a:cubicBezTo>
                    <a:cubicBezTo>
                      <a:pt x="472" y="337"/>
                      <a:pt x="468" y="331"/>
                      <a:pt x="475" y="326"/>
                    </a:cubicBezTo>
                    <a:cubicBezTo>
                      <a:pt x="470" y="317"/>
                      <a:pt x="477" y="310"/>
                      <a:pt x="479" y="301"/>
                    </a:cubicBezTo>
                    <a:cubicBezTo>
                      <a:pt x="479" y="298"/>
                      <a:pt x="481" y="295"/>
                      <a:pt x="482" y="292"/>
                    </a:cubicBezTo>
                    <a:cubicBezTo>
                      <a:pt x="486" y="285"/>
                      <a:pt x="487" y="285"/>
                      <a:pt x="495" y="290"/>
                    </a:cubicBezTo>
                    <a:cubicBezTo>
                      <a:pt x="497" y="291"/>
                      <a:pt x="500" y="291"/>
                      <a:pt x="503" y="290"/>
                    </a:cubicBezTo>
                    <a:cubicBezTo>
                      <a:pt x="507" y="290"/>
                      <a:pt x="510" y="290"/>
                      <a:pt x="515" y="293"/>
                    </a:cubicBezTo>
                    <a:cubicBezTo>
                      <a:pt x="518" y="295"/>
                      <a:pt x="527" y="295"/>
                      <a:pt x="531" y="292"/>
                    </a:cubicBezTo>
                    <a:cubicBezTo>
                      <a:pt x="574" y="256"/>
                      <a:pt x="617" y="219"/>
                      <a:pt x="653" y="175"/>
                    </a:cubicBezTo>
                    <a:cubicBezTo>
                      <a:pt x="663" y="163"/>
                      <a:pt x="672" y="150"/>
                      <a:pt x="675" y="134"/>
                    </a:cubicBezTo>
                    <a:cubicBezTo>
                      <a:pt x="675" y="134"/>
                      <a:pt x="676" y="133"/>
                      <a:pt x="676" y="133"/>
                    </a:cubicBezTo>
                    <a:cubicBezTo>
                      <a:pt x="678" y="123"/>
                      <a:pt x="678" y="123"/>
                      <a:pt x="687" y="117"/>
                    </a:cubicBezTo>
                    <a:cubicBezTo>
                      <a:pt x="685" y="112"/>
                      <a:pt x="683" y="107"/>
                      <a:pt x="689" y="103"/>
                    </a:cubicBezTo>
                    <a:cubicBezTo>
                      <a:pt x="690" y="103"/>
                      <a:pt x="689" y="100"/>
                      <a:pt x="689" y="98"/>
                    </a:cubicBezTo>
                    <a:cubicBezTo>
                      <a:pt x="688" y="94"/>
                      <a:pt x="687" y="90"/>
                      <a:pt x="686" y="86"/>
                    </a:cubicBezTo>
                    <a:cubicBezTo>
                      <a:pt x="686" y="86"/>
                      <a:pt x="687" y="85"/>
                      <a:pt x="687" y="85"/>
                    </a:cubicBezTo>
                    <a:cubicBezTo>
                      <a:pt x="700" y="83"/>
                      <a:pt x="708" y="74"/>
                      <a:pt x="716" y="64"/>
                    </a:cubicBezTo>
                    <a:cubicBezTo>
                      <a:pt x="720" y="59"/>
                      <a:pt x="726" y="55"/>
                      <a:pt x="732" y="51"/>
                    </a:cubicBezTo>
                    <a:cubicBezTo>
                      <a:pt x="738" y="48"/>
                      <a:pt x="745" y="48"/>
                      <a:pt x="751" y="52"/>
                    </a:cubicBezTo>
                    <a:cubicBezTo>
                      <a:pt x="756" y="57"/>
                      <a:pt x="757" y="63"/>
                      <a:pt x="755" y="69"/>
                    </a:cubicBezTo>
                    <a:cubicBezTo>
                      <a:pt x="755" y="71"/>
                      <a:pt x="756" y="74"/>
                      <a:pt x="757" y="75"/>
                    </a:cubicBezTo>
                    <a:cubicBezTo>
                      <a:pt x="763" y="81"/>
                      <a:pt x="770" y="86"/>
                      <a:pt x="777" y="92"/>
                    </a:cubicBezTo>
                    <a:cubicBezTo>
                      <a:pt x="781" y="89"/>
                      <a:pt x="785" y="90"/>
                      <a:pt x="788" y="97"/>
                    </a:cubicBezTo>
                    <a:cubicBezTo>
                      <a:pt x="788" y="99"/>
                      <a:pt x="791" y="101"/>
                      <a:pt x="794" y="102"/>
                    </a:cubicBezTo>
                    <a:cubicBezTo>
                      <a:pt x="798" y="104"/>
                      <a:pt x="803" y="105"/>
                      <a:pt x="807" y="107"/>
                    </a:cubicBezTo>
                    <a:cubicBezTo>
                      <a:pt x="816" y="112"/>
                      <a:pt x="821" y="122"/>
                      <a:pt x="821" y="133"/>
                    </a:cubicBezTo>
                    <a:cubicBezTo>
                      <a:pt x="821" y="138"/>
                      <a:pt x="819" y="142"/>
                      <a:pt x="818" y="146"/>
                    </a:cubicBezTo>
                    <a:cubicBezTo>
                      <a:pt x="817" y="152"/>
                      <a:pt x="818" y="159"/>
                      <a:pt x="820" y="165"/>
                    </a:cubicBezTo>
                    <a:cubicBezTo>
                      <a:pt x="827" y="185"/>
                      <a:pt x="820" y="201"/>
                      <a:pt x="805" y="214"/>
                    </a:cubicBezTo>
                    <a:cubicBezTo>
                      <a:pt x="802" y="217"/>
                      <a:pt x="795" y="218"/>
                      <a:pt x="790" y="218"/>
                    </a:cubicBezTo>
                    <a:cubicBezTo>
                      <a:pt x="775" y="215"/>
                      <a:pt x="761" y="218"/>
                      <a:pt x="747" y="224"/>
                    </a:cubicBezTo>
                    <a:cubicBezTo>
                      <a:pt x="742" y="226"/>
                      <a:pt x="736" y="228"/>
                      <a:pt x="731" y="230"/>
                    </a:cubicBezTo>
                    <a:cubicBezTo>
                      <a:pt x="726" y="232"/>
                      <a:pt x="722" y="237"/>
                      <a:pt x="717" y="237"/>
                    </a:cubicBezTo>
                    <a:cubicBezTo>
                      <a:pt x="710" y="237"/>
                      <a:pt x="706" y="240"/>
                      <a:pt x="700" y="243"/>
                    </a:cubicBezTo>
                    <a:cubicBezTo>
                      <a:pt x="697" y="245"/>
                      <a:pt x="695" y="247"/>
                      <a:pt x="692" y="249"/>
                    </a:cubicBezTo>
                    <a:cubicBezTo>
                      <a:pt x="691" y="247"/>
                      <a:pt x="689" y="246"/>
                      <a:pt x="687" y="243"/>
                    </a:cubicBezTo>
                    <a:cubicBezTo>
                      <a:pt x="683" y="247"/>
                      <a:pt x="680" y="250"/>
                      <a:pt x="677" y="254"/>
                    </a:cubicBezTo>
                    <a:cubicBezTo>
                      <a:pt x="677" y="254"/>
                      <a:pt x="677" y="254"/>
                      <a:pt x="677" y="254"/>
                    </a:cubicBezTo>
                    <a:cubicBezTo>
                      <a:pt x="673" y="257"/>
                      <a:pt x="669" y="261"/>
                      <a:pt x="666" y="265"/>
                    </a:cubicBezTo>
                    <a:cubicBezTo>
                      <a:pt x="661" y="271"/>
                      <a:pt x="656" y="272"/>
                      <a:pt x="648" y="271"/>
                    </a:cubicBezTo>
                    <a:cubicBezTo>
                      <a:pt x="642" y="270"/>
                      <a:pt x="635" y="268"/>
                      <a:pt x="628" y="274"/>
                    </a:cubicBezTo>
                    <a:cubicBezTo>
                      <a:pt x="627" y="275"/>
                      <a:pt x="624" y="273"/>
                      <a:pt x="621" y="273"/>
                    </a:cubicBezTo>
                    <a:cubicBezTo>
                      <a:pt x="619" y="273"/>
                      <a:pt x="616" y="273"/>
                      <a:pt x="612" y="274"/>
                    </a:cubicBezTo>
                    <a:cubicBezTo>
                      <a:pt x="616" y="277"/>
                      <a:pt x="617" y="279"/>
                      <a:pt x="619" y="281"/>
                    </a:cubicBezTo>
                    <a:cubicBezTo>
                      <a:pt x="601" y="275"/>
                      <a:pt x="588" y="289"/>
                      <a:pt x="573" y="292"/>
                    </a:cubicBezTo>
                    <a:cubicBezTo>
                      <a:pt x="565" y="294"/>
                      <a:pt x="556" y="297"/>
                      <a:pt x="549" y="300"/>
                    </a:cubicBezTo>
                    <a:cubicBezTo>
                      <a:pt x="545" y="302"/>
                      <a:pt x="543" y="306"/>
                      <a:pt x="539" y="311"/>
                    </a:cubicBezTo>
                    <a:cubicBezTo>
                      <a:pt x="552" y="316"/>
                      <a:pt x="564" y="321"/>
                      <a:pt x="576" y="325"/>
                    </a:cubicBezTo>
                    <a:cubicBezTo>
                      <a:pt x="592" y="330"/>
                      <a:pt x="604" y="342"/>
                      <a:pt x="614" y="355"/>
                    </a:cubicBezTo>
                    <a:cubicBezTo>
                      <a:pt x="617" y="359"/>
                      <a:pt x="615" y="370"/>
                      <a:pt x="612" y="375"/>
                    </a:cubicBezTo>
                    <a:cubicBezTo>
                      <a:pt x="602" y="387"/>
                      <a:pt x="591" y="400"/>
                      <a:pt x="586" y="416"/>
                    </a:cubicBezTo>
                    <a:cubicBezTo>
                      <a:pt x="586" y="419"/>
                      <a:pt x="585" y="422"/>
                      <a:pt x="584" y="427"/>
                    </a:cubicBezTo>
                    <a:cubicBezTo>
                      <a:pt x="592" y="424"/>
                      <a:pt x="599" y="422"/>
                      <a:pt x="604" y="419"/>
                    </a:cubicBezTo>
                    <a:cubicBezTo>
                      <a:pt x="612" y="414"/>
                      <a:pt x="619" y="408"/>
                      <a:pt x="626" y="403"/>
                    </a:cubicBezTo>
                    <a:cubicBezTo>
                      <a:pt x="628" y="402"/>
                      <a:pt x="630" y="400"/>
                      <a:pt x="632" y="400"/>
                    </a:cubicBezTo>
                    <a:cubicBezTo>
                      <a:pt x="648" y="405"/>
                      <a:pt x="662" y="397"/>
                      <a:pt x="677" y="395"/>
                    </a:cubicBezTo>
                    <a:cubicBezTo>
                      <a:pt x="686" y="393"/>
                      <a:pt x="695" y="390"/>
                      <a:pt x="703" y="388"/>
                    </a:cubicBezTo>
                    <a:cubicBezTo>
                      <a:pt x="714" y="384"/>
                      <a:pt x="722" y="378"/>
                      <a:pt x="729" y="368"/>
                    </a:cubicBezTo>
                    <a:cubicBezTo>
                      <a:pt x="732" y="363"/>
                      <a:pt x="737" y="358"/>
                      <a:pt x="742" y="356"/>
                    </a:cubicBezTo>
                    <a:cubicBezTo>
                      <a:pt x="750" y="353"/>
                      <a:pt x="760" y="352"/>
                      <a:pt x="768" y="351"/>
                    </a:cubicBezTo>
                    <a:cubicBezTo>
                      <a:pt x="775" y="351"/>
                      <a:pt x="782" y="352"/>
                      <a:pt x="788" y="350"/>
                    </a:cubicBezTo>
                    <a:cubicBezTo>
                      <a:pt x="813" y="340"/>
                      <a:pt x="832" y="350"/>
                      <a:pt x="851" y="366"/>
                    </a:cubicBezTo>
                    <a:cubicBezTo>
                      <a:pt x="856" y="370"/>
                      <a:pt x="861" y="372"/>
                      <a:pt x="867" y="376"/>
                    </a:cubicBezTo>
                    <a:cubicBezTo>
                      <a:pt x="875" y="381"/>
                      <a:pt x="883" y="387"/>
                      <a:pt x="891" y="393"/>
                    </a:cubicBezTo>
                    <a:cubicBezTo>
                      <a:pt x="896" y="396"/>
                      <a:pt x="899" y="401"/>
                      <a:pt x="899" y="407"/>
                    </a:cubicBezTo>
                    <a:cubicBezTo>
                      <a:pt x="899" y="409"/>
                      <a:pt x="902" y="411"/>
                      <a:pt x="903" y="413"/>
                    </a:cubicBezTo>
                    <a:cubicBezTo>
                      <a:pt x="904" y="414"/>
                      <a:pt x="906" y="416"/>
                      <a:pt x="907" y="418"/>
                    </a:cubicBezTo>
                    <a:cubicBezTo>
                      <a:pt x="908" y="421"/>
                      <a:pt x="910" y="424"/>
                      <a:pt x="913" y="428"/>
                    </a:cubicBezTo>
                    <a:cubicBezTo>
                      <a:pt x="907" y="432"/>
                      <a:pt x="900" y="436"/>
                      <a:pt x="894" y="441"/>
                    </a:cubicBezTo>
                    <a:cubicBezTo>
                      <a:pt x="888" y="445"/>
                      <a:pt x="879" y="447"/>
                      <a:pt x="880" y="458"/>
                    </a:cubicBezTo>
                    <a:cubicBezTo>
                      <a:pt x="875" y="454"/>
                      <a:pt x="873" y="457"/>
                      <a:pt x="873" y="461"/>
                    </a:cubicBezTo>
                    <a:cubicBezTo>
                      <a:pt x="872" y="466"/>
                      <a:pt x="869" y="468"/>
                      <a:pt x="864" y="469"/>
                    </a:cubicBezTo>
                    <a:cubicBezTo>
                      <a:pt x="858" y="471"/>
                      <a:pt x="852" y="476"/>
                      <a:pt x="846" y="479"/>
                    </a:cubicBezTo>
                    <a:cubicBezTo>
                      <a:pt x="842" y="481"/>
                      <a:pt x="839" y="484"/>
                      <a:pt x="834" y="487"/>
                    </a:cubicBezTo>
                    <a:cubicBezTo>
                      <a:pt x="829" y="470"/>
                      <a:pt x="815" y="469"/>
                      <a:pt x="802" y="467"/>
                    </a:cubicBezTo>
                    <a:cubicBezTo>
                      <a:pt x="800" y="467"/>
                      <a:pt x="798" y="467"/>
                      <a:pt x="798" y="466"/>
                    </a:cubicBezTo>
                    <a:cubicBezTo>
                      <a:pt x="795" y="458"/>
                      <a:pt x="789" y="462"/>
                      <a:pt x="783" y="462"/>
                    </a:cubicBezTo>
                    <a:cubicBezTo>
                      <a:pt x="779" y="462"/>
                      <a:pt x="775" y="461"/>
                      <a:pt x="770" y="459"/>
                    </a:cubicBezTo>
                    <a:cubicBezTo>
                      <a:pt x="760" y="455"/>
                      <a:pt x="751" y="461"/>
                      <a:pt x="750" y="472"/>
                    </a:cubicBezTo>
                    <a:cubicBezTo>
                      <a:pt x="749" y="482"/>
                      <a:pt x="746" y="492"/>
                      <a:pt x="745" y="503"/>
                    </a:cubicBezTo>
                    <a:cubicBezTo>
                      <a:pt x="745" y="513"/>
                      <a:pt x="741" y="520"/>
                      <a:pt x="733" y="527"/>
                    </a:cubicBezTo>
                    <a:cubicBezTo>
                      <a:pt x="729" y="530"/>
                      <a:pt x="730" y="540"/>
                      <a:pt x="728" y="546"/>
                    </a:cubicBezTo>
                    <a:cubicBezTo>
                      <a:pt x="727" y="556"/>
                      <a:pt x="725" y="566"/>
                      <a:pt x="724" y="575"/>
                    </a:cubicBezTo>
                    <a:cubicBezTo>
                      <a:pt x="724" y="587"/>
                      <a:pt x="725" y="598"/>
                      <a:pt x="726" y="610"/>
                    </a:cubicBezTo>
                    <a:cubicBezTo>
                      <a:pt x="726" y="618"/>
                      <a:pt x="726" y="625"/>
                      <a:pt x="724" y="632"/>
                    </a:cubicBezTo>
                    <a:cubicBezTo>
                      <a:pt x="721" y="639"/>
                      <a:pt x="723" y="648"/>
                      <a:pt x="723" y="656"/>
                    </a:cubicBezTo>
                    <a:cubicBezTo>
                      <a:pt x="723" y="660"/>
                      <a:pt x="725" y="665"/>
                      <a:pt x="725" y="670"/>
                    </a:cubicBezTo>
                    <a:cubicBezTo>
                      <a:pt x="726" y="684"/>
                      <a:pt x="726" y="698"/>
                      <a:pt x="725" y="712"/>
                    </a:cubicBezTo>
                    <a:cubicBezTo>
                      <a:pt x="724" y="720"/>
                      <a:pt x="725" y="730"/>
                      <a:pt x="716" y="736"/>
                    </a:cubicBezTo>
                    <a:cubicBezTo>
                      <a:pt x="715" y="737"/>
                      <a:pt x="715" y="740"/>
                      <a:pt x="715" y="742"/>
                    </a:cubicBezTo>
                    <a:cubicBezTo>
                      <a:pt x="715" y="748"/>
                      <a:pt x="718" y="755"/>
                      <a:pt x="708" y="756"/>
                    </a:cubicBezTo>
                    <a:cubicBezTo>
                      <a:pt x="705" y="756"/>
                      <a:pt x="704" y="763"/>
                      <a:pt x="701" y="768"/>
                    </a:cubicBezTo>
                    <a:cubicBezTo>
                      <a:pt x="705" y="769"/>
                      <a:pt x="708" y="771"/>
                      <a:pt x="711" y="772"/>
                    </a:cubicBezTo>
                    <a:cubicBezTo>
                      <a:pt x="708" y="776"/>
                      <a:pt x="705" y="780"/>
                      <a:pt x="702" y="784"/>
                    </a:cubicBezTo>
                    <a:cubicBezTo>
                      <a:pt x="702" y="783"/>
                      <a:pt x="702" y="785"/>
                      <a:pt x="702" y="785"/>
                    </a:cubicBezTo>
                    <a:cubicBezTo>
                      <a:pt x="710" y="794"/>
                      <a:pt x="704" y="802"/>
                      <a:pt x="700" y="811"/>
                    </a:cubicBezTo>
                    <a:cubicBezTo>
                      <a:pt x="697" y="818"/>
                      <a:pt x="695" y="826"/>
                      <a:pt x="693" y="834"/>
                    </a:cubicBezTo>
                    <a:cubicBezTo>
                      <a:pt x="690" y="845"/>
                      <a:pt x="687" y="855"/>
                      <a:pt x="685" y="866"/>
                    </a:cubicBezTo>
                    <a:cubicBezTo>
                      <a:pt x="685" y="866"/>
                      <a:pt x="684" y="867"/>
                      <a:pt x="684" y="867"/>
                    </a:cubicBezTo>
                    <a:cubicBezTo>
                      <a:pt x="676" y="871"/>
                      <a:pt x="680" y="879"/>
                      <a:pt x="677" y="885"/>
                    </a:cubicBezTo>
                    <a:cubicBezTo>
                      <a:pt x="674" y="891"/>
                      <a:pt x="671" y="898"/>
                      <a:pt x="670" y="904"/>
                    </a:cubicBezTo>
                    <a:cubicBezTo>
                      <a:pt x="668" y="911"/>
                      <a:pt x="668" y="918"/>
                      <a:pt x="661" y="921"/>
                    </a:cubicBezTo>
                    <a:cubicBezTo>
                      <a:pt x="660" y="922"/>
                      <a:pt x="660" y="923"/>
                      <a:pt x="659" y="924"/>
                    </a:cubicBezTo>
                    <a:cubicBezTo>
                      <a:pt x="656" y="935"/>
                      <a:pt x="653" y="945"/>
                      <a:pt x="651" y="956"/>
                    </a:cubicBezTo>
                    <a:cubicBezTo>
                      <a:pt x="650" y="962"/>
                      <a:pt x="650" y="969"/>
                      <a:pt x="650" y="975"/>
                    </a:cubicBezTo>
                    <a:cubicBezTo>
                      <a:pt x="649" y="975"/>
                      <a:pt x="648" y="975"/>
                      <a:pt x="646" y="975"/>
                    </a:cubicBezTo>
                    <a:cubicBezTo>
                      <a:pt x="645" y="966"/>
                      <a:pt x="643" y="957"/>
                      <a:pt x="643" y="948"/>
                    </a:cubicBezTo>
                    <a:cubicBezTo>
                      <a:pt x="642" y="940"/>
                      <a:pt x="643" y="932"/>
                      <a:pt x="644" y="924"/>
                    </a:cubicBezTo>
                    <a:cubicBezTo>
                      <a:pt x="644" y="922"/>
                      <a:pt x="645" y="919"/>
                      <a:pt x="645" y="916"/>
                    </a:cubicBezTo>
                    <a:cubicBezTo>
                      <a:pt x="645" y="912"/>
                      <a:pt x="644" y="907"/>
                      <a:pt x="644" y="902"/>
                    </a:cubicBezTo>
                    <a:cubicBezTo>
                      <a:pt x="643" y="899"/>
                      <a:pt x="642" y="896"/>
                      <a:pt x="642" y="893"/>
                    </a:cubicBezTo>
                    <a:cubicBezTo>
                      <a:pt x="642" y="888"/>
                      <a:pt x="642" y="884"/>
                      <a:pt x="642" y="880"/>
                    </a:cubicBezTo>
                    <a:cubicBezTo>
                      <a:pt x="640" y="869"/>
                      <a:pt x="638" y="857"/>
                      <a:pt x="636" y="845"/>
                    </a:cubicBezTo>
                    <a:cubicBezTo>
                      <a:pt x="636" y="841"/>
                      <a:pt x="638" y="835"/>
                      <a:pt x="638" y="830"/>
                    </a:cubicBezTo>
                    <a:cubicBezTo>
                      <a:pt x="639" y="829"/>
                      <a:pt x="638" y="828"/>
                      <a:pt x="638" y="826"/>
                    </a:cubicBezTo>
                    <a:cubicBezTo>
                      <a:pt x="637" y="822"/>
                      <a:pt x="635" y="819"/>
                      <a:pt x="638" y="815"/>
                    </a:cubicBezTo>
                    <a:cubicBezTo>
                      <a:pt x="639" y="814"/>
                      <a:pt x="638" y="810"/>
                      <a:pt x="638" y="808"/>
                    </a:cubicBezTo>
                    <a:cubicBezTo>
                      <a:pt x="637" y="803"/>
                      <a:pt x="635" y="797"/>
                      <a:pt x="635" y="791"/>
                    </a:cubicBezTo>
                    <a:cubicBezTo>
                      <a:pt x="635" y="757"/>
                      <a:pt x="636" y="723"/>
                      <a:pt x="636" y="688"/>
                    </a:cubicBezTo>
                    <a:cubicBezTo>
                      <a:pt x="636" y="671"/>
                      <a:pt x="632" y="655"/>
                      <a:pt x="631" y="638"/>
                    </a:cubicBezTo>
                    <a:cubicBezTo>
                      <a:pt x="630" y="625"/>
                      <a:pt x="630" y="611"/>
                      <a:pt x="630" y="598"/>
                    </a:cubicBezTo>
                    <a:cubicBezTo>
                      <a:pt x="630" y="584"/>
                      <a:pt x="631" y="571"/>
                      <a:pt x="631" y="558"/>
                    </a:cubicBezTo>
                    <a:cubicBezTo>
                      <a:pt x="631" y="545"/>
                      <a:pt x="630" y="532"/>
                      <a:pt x="629" y="519"/>
                    </a:cubicBezTo>
                    <a:cubicBezTo>
                      <a:pt x="628" y="512"/>
                      <a:pt x="626" y="505"/>
                      <a:pt x="625" y="497"/>
                    </a:cubicBezTo>
                    <a:cubicBezTo>
                      <a:pt x="606" y="505"/>
                      <a:pt x="589" y="511"/>
                      <a:pt x="573" y="518"/>
                    </a:cubicBezTo>
                    <a:cubicBezTo>
                      <a:pt x="568" y="521"/>
                      <a:pt x="564" y="527"/>
                      <a:pt x="562" y="532"/>
                    </a:cubicBezTo>
                    <a:cubicBezTo>
                      <a:pt x="556" y="547"/>
                      <a:pt x="552" y="562"/>
                      <a:pt x="546" y="577"/>
                    </a:cubicBezTo>
                    <a:cubicBezTo>
                      <a:pt x="545" y="581"/>
                      <a:pt x="545" y="586"/>
                      <a:pt x="538" y="587"/>
                    </a:cubicBezTo>
                    <a:cubicBezTo>
                      <a:pt x="535" y="587"/>
                      <a:pt x="532" y="593"/>
                      <a:pt x="528" y="597"/>
                    </a:cubicBezTo>
                    <a:cubicBezTo>
                      <a:pt x="521" y="591"/>
                      <a:pt x="517" y="598"/>
                      <a:pt x="514" y="603"/>
                    </a:cubicBezTo>
                    <a:cubicBezTo>
                      <a:pt x="504" y="619"/>
                      <a:pt x="490" y="631"/>
                      <a:pt x="474" y="642"/>
                    </a:cubicBezTo>
                    <a:cubicBezTo>
                      <a:pt x="465" y="648"/>
                      <a:pt x="460" y="659"/>
                      <a:pt x="452" y="665"/>
                    </a:cubicBezTo>
                    <a:cubicBezTo>
                      <a:pt x="446" y="669"/>
                      <a:pt x="443" y="675"/>
                      <a:pt x="438" y="679"/>
                    </a:cubicBezTo>
                    <a:cubicBezTo>
                      <a:pt x="432" y="686"/>
                      <a:pt x="425" y="692"/>
                      <a:pt x="417" y="699"/>
                    </a:cubicBezTo>
                    <a:cubicBezTo>
                      <a:pt x="451" y="658"/>
                      <a:pt x="466" y="609"/>
                      <a:pt x="478" y="557"/>
                    </a:cubicBezTo>
                    <a:cubicBezTo>
                      <a:pt x="466" y="566"/>
                      <a:pt x="456" y="574"/>
                      <a:pt x="451" y="588"/>
                    </a:cubicBezTo>
                    <a:cubicBezTo>
                      <a:pt x="456" y="584"/>
                      <a:pt x="459" y="582"/>
                      <a:pt x="463" y="578"/>
                    </a:cubicBezTo>
                    <a:cubicBezTo>
                      <a:pt x="460" y="597"/>
                      <a:pt x="448" y="610"/>
                      <a:pt x="436" y="623"/>
                    </a:cubicBezTo>
                    <a:cubicBezTo>
                      <a:pt x="426" y="634"/>
                      <a:pt x="416" y="644"/>
                      <a:pt x="406" y="654"/>
                    </a:cubicBezTo>
                    <a:cubicBezTo>
                      <a:pt x="402" y="658"/>
                      <a:pt x="401" y="661"/>
                      <a:pt x="404" y="665"/>
                    </a:cubicBezTo>
                    <a:cubicBezTo>
                      <a:pt x="407" y="671"/>
                      <a:pt x="410" y="677"/>
                      <a:pt x="414" y="683"/>
                    </a:cubicBezTo>
                    <a:cubicBezTo>
                      <a:pt x="418" y="688"/>
                      <a:pt x="418" y="693"/>
                      <a:pt x="415" y="699"/>
                    </a:cubicBezTo>
                    <a:cubicBezTo>
                      <a:pt x="413" y="703"/>
                      <a:pt x="412" y="707"/>
                      <a:pt x="412" y="710"/>
                    </a:cubicBezTo>
                    <a:cubicBezTo>
                      <a:pt x="414" y="720"/>
                      <a:pt x="408" y="725"/>
                      <a:pt x="403" y="732"/>
                    </a:cubicBezTo>
                    <a:cubicBezTo>
                      <a:pt x="402" y="732"/>
                      <a:pt x="401" y="733"/>
                      <a:pt x="400" y="734"/>
                    </a:cubicBezTo>
                    <a:cubicBezTo>
                      <a:pt x="394" y="746"/>
                      <a:pt x="383" y="748"/>
                      <a:pt x="371" y="751"/>
                    </a:cubicBezTo>
                    <a:cubicBezTo>
                      <a:pt x="366" y="751"/>
                      <a:pt x="355" y="745"/>
                      <a:pt x="352" y="740"/>
                    </a:cubicBezTo>
                    <a:cubicBezTo>
                      <a:pt x="342" y="725"/>
                      <a:pt x="333" y="710"/>
                      <a:pt x="323" y="695"/>
                    </a:cubicBezTo>
                    <a:cubicBezTo>
                      <a:pt x="322" y="693"/>
                      <a:pt x="321" y="691"/>
                      <a:pt x="321" y="689"/>
                    </a:cubicBezTo>
                    <a:cubicBezTo>
                      <a:pt x="322" y="679"/>
                      <a:pt x="316" y="669"/>
                      <a:pt x="307" y="665"/>
                    </a:cubicBezTo>
                    <a:cubicBezTo>
                      <a:pt x="299" y="661"/>
                      <a:pt x="298" y="660"/>
                      <a:pt x="305" y="653"/>
                    </a:cubicBezTo>
                    <a:cubicBezTo>
                      <a:pt x="306" y="652"/>
                      <a:pt x="308" y="651"/>
                      <a:pt x="310" y="649"/>
                    </a:cubicBezTo>
                    <a:cubicBezTo>
                      <a:pt x="305" y="647"/>
                      <a:pt x="302" y="646"/>
                      <a:pt x="298" y="645"/>
                    </a:cubicBezTo>
                    <a:cubicBezTo>
                      <a:pt x="299" y="643"/>
                      <a:pt x="299" y="641"/>
                      <a:pt x="300" y="640"/>
                    </a:cubicBezTo>
                    <a:cubicBezTo>
                      <a:pt x="313" y="628"/>
                      <a:pt x="326" y="618"/>
                      <a:pt x="345" y="621"/>
                    </a:cubicBezTo>
                    <a:cubicBezTo>
                      <a:pt x="352" y="622"/>
                      <a:pt x="359" y="625"/>
                      <a:pt x="367" y="627"/>
                    </a:cubicBezTo>
                    <a:cubicBezTo>
                      <a:pt x="370" y="628"/>
                      <a:pt x="374" y="628"/>
                      <a:pt x="377" y="627"/>
                    </a:cubicBezTo>
                    <a:cubicBezTo>
                      <a:pt x="396" y="615"/>
                      <a:pt x="416" y="603"/>
                      <a:pt x="434" y="589"/>
                    </a:cubicBezTo>
                    <a:cubicBezTo>
                      <a:pt x="446" y="580"/>
                      <a:pt x="456" y="568"/>
                      <a:pt x="468" y="557"/>
                    </a:cubicBezTo>
                    <a:cubicBezTo>
                      <a:pt x="468" y="557"/>
                      <a:pt x="468" y="556"/>
                      <a:pt x="469" y="556"/>
                    </a:cubicBezTo>
                    <a:cubicBezTo>
                      <a:pt x="484" y="551"/>
                      <a:pt x="482" y="538"/>
                      <a:pt x="482" y="527"/>
                    </a:cubicBezTo>
                    <a:cubicBezTo>
                      <a:pt x="482" y="522"/>
                      <a:pt x="484" y="518"/>
                      <a:pt x="484" y="514"/>
                    </a:cubicBezTo>
                    <a:cubicBezTo>
                      <a:pt x="485" y="512"/>
                      <a:pt x="486" y="510"/>
                      <a:pt x="486" y="508"/>
                    </a:cubicBezTo>
                    <a:cubicBezTo>
                      <a:pt x="483" y="496"/>
                      <a:pt x="488" y="486"/>
                      <a:pt x="489" y="475"/>
                    </a:cubicBezTo>
                    <a:cubicBezTo>
                      <a:pt x="492" y="456"/>
                      <a:pt x="492" y="437"/>
                      <a:pt x="492" y="418"/>
                    </a:cubicBezTo>
                    <a:cubicBezTo>
                      <a:pt x="492" y="408"/>
                      <a:pt x="490" y="399"/>
                      <a:pt x="489" y="390"/>
                    </a:cubicBezTo>
                    <a:cubicBezTo>
                      <a:pt x="488" y="382"/>
                      <a:pt x="484" y="378"/>
                      <a:pt x="476" y="375"/>
                    </a:cubicBezTo>
                    <a:cubicBezTo>
                      <a:pt x="477" y="382"/>
                      <a:pt x="476" y="388"/>
                      <a:pt x="467" y="389"/>
                    </a:cubicBezTo>
                    <a:cubicBezTo>
                      <a:pt x="468" y="392"/>
                      <a:pt x="469" y="395"/>
                      <a:pt x="470" y="397"/>
                    </a:cubicBezTo>
                    <a:cubicBezTo>
                      <a:pt x="465" y="402"/>
                      <a:pt x="462" y="407"/>
                      <a:pt x="458" y="411"/>
                    </a:cubicBezTo>
                    <a:cubicBezTo>
                      <a:pt x="456" y="413"/>
                      <a:pt x="452" y="414"/>
                      <a:pt x="447" y="415"/>
                    </a:cubicBezTo>
                    <a:cubicBezTo>
                      <a:pt x="445" y="422"/>
                      <a:pt x="441" y="428"/>
                      <a:pt x="432" y="428"/>
                    </a:cubicBezTo>
                    <a:cubicBezTo>
                      <a:pt x="430" y="428"/>
                      <a:pt x="429" y="430"/>
                      <a:pt x="428" y="431"/>
                    </a:cubicBezTo>
                    <a:cubicBezTo>
                      <a:pt x="429" y="432"/>
                      <a:pt x="431" y="434"/>
                      <a:pt x="433" y="438"/>
                    </a:cubicBezTo>
                    <a:cubicBezTo>
                      <a:pt x="428" y="440"/>
                      <a:pt x="424" y="442"/>
                      <a:pt x="419" y="442"/>
                    </a:cubicBezTo>
                    <a:cubicBezTo>
                      <a:pt x="403" y="443"/>
                      <a:pt x="387" y="443"/>
                      <a:pt x="371" y="443"/>
                    </a:cubicBezTo>
                    <a:cubicBezTo>
                      <a:pt x="369" y="443"/>
                      <a:pt x="368" y="444"/>
                      <a:pt x="366" y="444"/>
                    </a:cubicBezTo>
                    <a:cubicBezTo>
                      <a:pt x="350" y="450"/>
                      <a:pt x="334" y="456"/>
                      <a:pt x="318" y="461"/>
                    </a:cubicBezTo>
                    <a:cubicBezTo>
                      <a:pt x="313" y="463"/>
                      <a:pt x="307" y="462"/>
                      <a:pt x="301" y="462"/>
                    </a:cubicBezTo>
                    <a:cubicBezTo>
                      <a:pt x="305" y="458"/>
                      <a:pt x="308" y="454"/>
                      <a:pt x="311" y="450"/>
                    </a:cubicBezTo>
                    <a:cubicBezTo>
                      <a:pt x="311" y="450"/>
                      <a:pt x="311" y="450"/>
                      <a:pt x="311" y="449"/>
                    </a:cubicBezTo>
                    <a:cubicBezTo>
                      <a:pt x="302" y="452"/>
                      <a:pt x="294" y="454"/>
                      <a:pt x="286" y="457"/>
                    </a:cubicBezTo>
                    <a:cubicBezTo>
                      <a:pt x="277" y="462"/>
                      <a:pt x="265" y="460"/>
                      <a:pt x="257" y="467"/>
                    </a:cubicBezTo>
                    <a:cubicBezTo>
                      <a:pt x="256" y="468"/>
                      <a:pt x="255" y="469"/>
                      <a:pt x="253" y="470"/>
                    </a:cubicBezTo>
                    <a:close/>
                    <a:moveTo>
                      <a:pt x="157" y="434"/>
                    </a:moveTo>
                    <a:cubicBezTo>
                      <a:pt x="176" y="428"/>
                      <a:pt x="198" y="415"/>
                      <a:pt x="218" y="397"/>
                    </a:cubicBezTo>
                    <a:cubicBezTo>
                      <a:pt x="251" y="368"/>
                      <a:pt x="278" y="334"/>
                      <a:pt x="295" y="293"/>
                    </a:cubicBezTo>
                    <a:cubicBezTo>
                      <a:pt x="296" y="291"/>
                      <a:pt x="296" y="287"/>
                      <a:pt x="295" y="285"/>
                    </a:cubicBezTo>
                    <a:cubicBezTo>
                      <a:pt x="292" y="280"/>
                      <a:pt x="288" y="276"/>
                      <a:pt x="284" y="270"/>
                    </a:cubicBezTo>
                    <a:cubicBezTo>
                      <a:pt x="280" y="276"/>
                      <a:pt x="277" y="282"/>
                      <a:pt x="274" y="287"/>
                    </a:cubicBezTo>
                    <a:cubicBezTo>
                      <a:pt x="272" y="289"/>
                      <a:pt x="271" y="292"/>
                      <a:pt x="269" y="294"/>
                    </a:cubicBezTo>
                    <a:cubicBezTo>
                      <a:pt x="246" y="317"/>
                      <a:pt x="222" y="341"/>
                      <a:pt x="198" y="365"/>
                    </a:cubicBezTo>
                    <a:cubicBezTo>
                      <a:pt x="193" y="370"/>
                      <a:pt x="189" y="376"/>
                      <a:pt x="184" y="382"/>
                    </a:cubicBezTo>
                    <a:cubicBezTo>
                      <a:pt x="179" y="386"/>
                      <a:pt x="179" y="395"/>
                      <a:pt x="170" y="396"/>
                    </a:cubicBezTo>
                    <a:cubicBezTo>
                      <a:pt x="166" y="408"/>
                      <a:pt x="161" y="420"/>
                      <a:pt x="157" y="434"/>
                    </a:cubicBezTo>
                    <a:close/>
                    <a:moveTo>
                      <a:pt x="97" y="765"/>
                    </a:moveTo>
                    <a:cubicBezTo>
                      <a:pt x="114" y="767"/>
                      <a:pt x="130" y="770"/>
                      <a:pt x="147" y="770"/>
                    </a:cubicBezTo>
                    <a:cubicBezTo>
                      <a:pt x="162" y="770"/>
                      <a:pt x="178" y="768"/>
                      <a:pt x="194" y="766"/>
                    </a:cubicBezTo>
                    <a:cubicBezTo>
                      <a:pt x="196" y="766"/>
                      <a:pt x="198" y="763"/>
                      <a:pt x="198" y="761"/>
                    </a:cubicBezTo>
                    <a:cubicBezTo>
                      <a:pt x="198" y="737"/>
                      <a:pt x="197" y="712"/>
                      <a:pt x="197" y="688"/>
                    </a:cubicBezTo>
                    <a:cubicBezTo>
                      <a:pt x="197" y="688"/>
                      <a:pt x="196" y="687"/>
                      <a:pt x="194" y="685"/>
                    </a:cubicBezTo>
                    <a:cubicBezTo>
                      <a:pt x="160" y="710"/>
                      <a:pt x="125" y="733"/>
                      <a:pt x="97" y="765"/>
                    </a:cubicBezTo>
                    <a:close/>
                  </a:path>
                </a:pathLst>
              </a:custGeom>
              <a:solidFill>
                <a:srgbClr val="7CD5F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prstClr val="black"/>
                  </a:solidFill>
                </a:endParaRPr>
              </a:p>
            </p:txBody>
          </p:sp>
        </p:grpSp>
      </p:grpSp>
      <p:grpSp>
        <p:nvGrpSpPr>
          <p:cNvPr id="89" name="组合 88"/>
          <p:cNvGrpSpPr/>
          <p:nvPr userDrawn="1"/>
        </p:nvGrpSpPr>
        <p:grpSpPr>
          <a:xfrm>
            <a:off x="4357574" y="374771"/>
            <a:ext cx="1256980" cy="379391"/>
            <a:chOff x="4135152" y="322907"/>
            <a:chExt cx="1256980" cy="379391"/>
          </a:xfrm>
        </p:grpSpPr>
        <p:sp>
          <p:nvSpPr>
            <p:cNvPr id="44" name="文本框 43"/>
            <p:cNvSpPr txBox="1"/>
            <p:nvPr userDrawn="1"/>
          </p:nvSpPr>
          <p:spPr>
            <a:xfrm>
              <a:off x="4145576" y="322907"/>
              <a:ext cx="397545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zh-CN" sz="1400" b="1" dirty="0">
                  <a:solidFill>
                    <a:prstClr val="white"/>
                  </a:solidFill>
                </a:rPr>
                <a:t>2025</a:t>
              </a:r>
              <a:endParaRPr lang="zh-CN" altLang="en-US" sz="1400" b="1" dirty="0">
                <a:solidFill>
                  <a:prstClr val="white"/>
                </a:solidFill>
              </a:endParaRPr>
            </a:p>
          </p:txBody>
        </p:sp>
        <p:sp>
          <p:nvSpPr>
            <p:cNvPr id="46" name="圆角矩形 45"/>
            <p:cNvSpPr/>
            <p:nvPr userDrawn="1"/>
          </p:nvSpPr>
          <p:spPr>
            <a:xfrm>
              <a:off x="4135152" y="536188"/>
              <a:ext cx="1256980" cy="166110"/>
            </a:xfrm>
            <a:prstGeom prst="roundRect">
              <a:avLst/>
            </a:prstGeom>
            <a:solidFill>
              <a:srgbClr val="7CD5F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88" name="文本框 87"/>
            <p:cNvSpPr txBox="1"/>
            <p:nvPr userDrawn="1"/>
          </p:nvSpPr>
          <p:spPr>
            <a:xfrm>
              <a:off x="4157707" y="540146"/>
              <a:ext cx="1211870" cy="16158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zh-CN" altLang="en-US" sz="1050" b="1" dirty="0">
                  <a:solidFill>
                    <a:srgbClr val="03177E"/>
                  </a:solidFill>
                </a:rPr>
                <a:t>倍通医药年中策略会</a:t>
              </a:r>
            </a:p>
          </p:txBody>
        </p:sp>
      </p:grpSp>
      <p:grpSp>
        <p:nvGrpSpPr>
          <p:cNvPr id="95" name="组合 94">
            <a:extLst>
              <a:ext uri="{FF2B5EF4-FFF2-40B4-BE49-F238E27FC236}">
                <a16:creationId xmlns:a16="http://schemas.microsoft.com/office/drawing/2014/main" id="{C4DE6516-B5F7-4E2E-9BC8-6BB9B462D9C4}"/>
              </a:ext>
            </a:extLst>
          </p:cNvPr>
          <p:cNvGrpSpPr/>
          <p:nvPr userDrawn="1"/>
        </p:nvGrpSpPr>
        <p:grpSpPr>
          <a:xfrm>
            <a:off x="10353808" y="312324"/>
            <a:ext cx="1452004" cy="570710"/>
            <a:chOff x="10175132" y="419066"/>
            <a:chExt cx="1452004" cy="570710"/>
          </a:xfrm>
        </p:grpSpPr>
        <p:sp>
          <p:nvSpPr>
            <p:cNvPr id="96" name="副标题 2"/>
            <p:cNvSpPr txBox="1"/>
            <p:nvPr userDrawn="1"/>
          </p:nvSpPr>
          <p:spPr>
            <a:xfrm>
              <a:off x="10175132" y="654798"/>
              <a:ext cx="1452004" cy="334978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1400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1400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defRPr>
              </a:lvl2pPr>
              <a:lvl3pPr marL="1143000" indent="-228600" algn="l" defTabSz="914400" rtl="0" eaLnBrk="1" latinLnBrk="0" hangingPunct="1">
                <a:lnSpc>
                  <a:spcPct val="1400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dist">
                <a:buFont typeface="Arial" panose="020B0604020202020204" pitchFamily="34" charset="0"/>
                <a:buNone/>
              </a:pPr>
              <a:r>
                <a:rPr lang="zh-CN" altLang="en-US" sz="950" dirty="0">
                  <a:solidFill>
                    <a:prstClr val="white"/>
                  </a:solidFill>
                </a:rPr>
                <a:t>共创健康产业数字智慧</a:t>
              </a:r>
            </a:p>
          </p:txBody>
        </p:sp>
        <p:pic>
          <p:nvPicPr>
            <p:cNvPr id="97" name="图片 96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 contras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252477" y="419066"/>
              <a:ext cx="1297474" cy="260342"/>
            </a:xfrm>
            <a:prstGeom prst="rect">
              <a:avLst/>
            </a:prstGeom>
          </p:spPr>
        </p:pic>
      </p:grpSp>
      <p:sp>
        <p:nvSpPr>
          <p:cNvPr id="98" name="矩形 97"/>
          <p:cNvSpPr/>
          <p:nvPr userDrawn="1"/>
        </p:nvSpPr>
        <p:spPr>
          <a:xfrm>
            <a:off x="262759" y="1263961"/>
            <a:ext cx="11666482" cy="53470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1652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94394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0423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5878" y="1075297"/>
            <a:ext cx="4985656" cy="495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053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倍通数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53686852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-19243" y="0"/>
            <a:ext cx="12211243" cy="6869017"/>
            <a:chOff x="-19243" y="0"/>
            <a:chExt cx="12211243" cy="6869017"/>
          </a:xfrm>
        </p:grpSpPr>
        <p:pic>
          <p:nvPicPr>
            <p:cNvPr id="4" name="图片 3"/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509"/>
            <a:stretch/>
          </p:blipFill>
          <p:spPr>
            <a:xfrm>
              <a:off x="9981282" y="3720383"/>
              <a:ext cx="2203373" cy="2636349"/>
            </a:xfrm>
            <a:prstGeom prst="rect">
              <a:avLst/>
            </a:prstGeom>
          </p:spPr>
        </p:pic>
        <p:grpSp>
          <p:nvGrpSpPr>
            <p:cNvPr id="5" name="组合 4"/>
            <p:cNvGrpSpPr/>
            <p:nvPr userDrawn="1"/>
          </p:nvGrpSpPr>
          <p:grpSpPr>
            <a:xfrm>
              <a:off x="-19243" y="0"/>
              <a:ext cx="12211243" cy="6869017"/>
              <a:chOff x="-19243" y="0"/>
              <a:chExt cx="12211243" cy="6869017"/>
            </a:xfrm>
          </p:grpSpPr>
          <p:pic>
            <p:nvPicPr>
              <p:cNvPr id="6" name="图片 5"/>
              <p:cNvPicPr>
                <a:picLocks noChangeAspect="1"/>
              </p:cNvPicPr>
              <p:nvPr userDrawn="1"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29367"/>
              <a:stretch>
                <a:fillRect/>
              </a:stretch>
            </p:blipFill>
            <p:spPr>
              <a:xfrm>
                <a:off x="-19243" y="0"/>
                <a:ext cx="6520115" cy="6858000"/>
              </a:xfrm>
              <a:custGeom>
                <a:avLst/>
                <a:gdLst>
                  <a:gd name="connsiteX0" fmla="*/ 0 w 6520115"/>
                  <a:gd name="connsiteY0" fmla="*/ 0 h 6858000"/>
                  <a:gd name="connsiteX1" fmla="*/ 3570358 w 6520115"/>
                  <a:gd name="connsiteY1" fmla="*/ 0 h 6858000"/>
                  <a:gd name="connsiteX2" fmla="*/ 3654782 w 6520115"/>
                  <a:gd name="connsiteY2" fmla="*/ 0 h 6858000"/>
                  <a:gd name="connsiteX3" fmla="*/ 6520115 w 6520115"/>
                  <a:gd name="connsiteY3" fmla="*/ 0 h 6858000"/>
                  <a:gd name="connsiteX4" fmla="*/ 4130530 w 6520115"/>
                  <a:gd name="connsiteY4" fmla="*/ 6858000 h 6858000"/>
                  <a:gd name="connsiteX5" fmla="*/ 0 w 6520115"/>
                  <a:gd name="connsiteY5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520115" h="6858000">
                    <a:moveTo>
                      <a:pt x="0" y="0"/>
                    </a:moveTo>
                    <a:lnTo>
                      <a:pt x="3570358" y="0"/>
                    </a:lnTo>
                    <a:lnTo>
                      <a:pt x="3654782" y="0"/>
                    </a:lnTo>
                    <a:lnTo>
                      <a:pt x="6520115" y="0"/>
                    </a:lnTo>
                    <a:lnTo>
                      <a:pt x="4130530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</p:spPr>
          </p:pic>
          <p:sp>
            <p:nvSpPr>
              <p:cNvPr id="7" name="平行四边形 6"/>
              <p:cNvSpPr/>
              <p:nvPr userDrawn="1"/>
            </p:nvSpPr>
            <p:spPr>
              <a:xfrm>
                <a:off x="5960125" y="0"/>
                <a:ext cx="969818" cy="1553378"/>
              </a:xfrm>
              <a:prstGeom prst="parallelogram">
                <a:avLst>
                  <a:gd name="adj" fmla="val 56980"/>
                </a:avLst>
              </a:prstGeom>
              <a:solidFill>
                <a:srgbClr val="3B568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8" name="平行四边形 7"/>
              <p:cNvSpPr/>
              <p:nvPr userDrawn="1"/>
            </p:nvSpPr>
            <p:spPr>
              <a:xfrm>
                <a:off x="3399003" y="6070294"/>
                <a:ext cx="639597" cy="787706"/>
              </a:xfrm>
              <a:prstGeom prst="parallelogram">
                <a:avLst>
                  <a:gd name="adj" fmla="val 43539"/>
                </a:avLst>
              </a:prstGeom>
              <a:solidFill>
                <a:srgbClr val="45C1A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cxnSp>
            <p:nvCxnSpPr>
              <p:cNvPr id="9" name="直接连接符 8"/>
              <p:cNvCxnSpPr/>
              <p:nvPr userDrawn="1"/>
            </p:nvCxnSpPr>
            <p:spPr>
              <a:xfrm flipH="1">
                <a:off x="4142342" y="2012855"/>
                <a:ext cx="1696598" cy="4856162"/>
              </a:xfrm>
              <a:prstGeom prst="line">
                <a:avLst/>
              </a:prstGeom>
              <a:ln w="19050">
                <a:solidFill>
                  <a:srgbClr val="3B568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矩形 9"/>
              <p:cNvSpPr/>
              <p:nvPr userDrawn="1"/>
            </p:nvSpPr>
            <p:spPr>
              <a:xfrm>
                <a:off x="9962039" y="3602038"/>
                <a:ext cx="2229961" cy="2979722"/>
              </a:xfrm>
              <a:prstGeom prst="rect">
                <a:avLst/>
              </a:prstGeom>
              <a:solidFill>
                <a:schemeClr val="bg1">
                  <a:alpha val="2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</p:grpSp>
      <p:grpSp>
        <p:nvGrpSpPr>
          <p:cNvPr id="11" name="组合 10"/>
          <p:cNvGrpSpPr/>
          <p:nvPr userDrawn="1"/>
        </p:nvGrpSpPr>
        <p:grpSpPr>
          <a:xfrm>
            <a:off x="9627574" y="769121"/>
            <a:ext cx="1874794" cy="740191"/>
            <a:chOff x="10367945" y="398052"/>
            <a:chExt cx="1498753" cy="591724"/>
          </a:xfrm>
        </p:grpSpPr>
        <p:sp>
          <p:nvSpPr>
            <p:cNvPr id="12" name="副标题 2"/>
            <p:cNvSpPr txBox="1"/>
            <p:nvPr userDrawn="1"/>
          </p:nvSpPr>
          <p:spPr>
            <a:xfrm>
              <a:off x="10367945" y="654798"/>
              <a:ext cx="1498753" cy="334978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1400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1400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defRPr>
              </a:lvl2pPr>
              <a:lvl3pPr marL="1143000" indent="-228600" algn="l" defTabSz="914400" rtl="0" eaLnBrk="1" latinLnBrk="0" hangingPunct="1">
                <a:lnSpc>
                  <a:spcPct val="1400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dist">
                <a:buFont typeface="Arial" panose="020B0604020202020204" pitchFamily="34" charset="0"/>
                <a:buNone/>
              </a:pPr>
              <a:r>
                <a:rPr lang="zh-CN" altLang="en-US" sz="1150" dirty="0">
                  <a:solidFill>
                    <a:srgbClr val="093876"/>
                  </a:solidFill>
                </a:rPr>
                <a:t>共创健康产业数字智慧</a:t>
              </a:r>
            </a:p>
          </p:txBody>
        </p:sp>
        <p:pic>
          <p:nvPicPr>
            <p:cNvPr id="13" name="图片 12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423380" y="398052"/>
              <a:ext cx="1411509" cy="28322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28474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-19243" y="2"/>
            <a:ext cx="12211243" cy="6869017"/>
            <a:chOff x="-19243" y="0"/>
            <a:chExt cx="12211243" cy="6869017"/>
          </a:xfrm>
        </p:grpSpPr>
        <p:pic>
          <p:nvPicPr>
            <p:cNvPr id="4" name="图片 3"/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509"/>
            <a:stretch>
              <a:fillRect/>
            </a:stretch>
          </p:blipFill>
          <p:spPr>
            <a:xfrm>
              <a:off x="9981282" y="3720383"/>
              <a:ext cx="2203373" cy="2636349"/>
            </a:xfrm>
            <a:prstGeom prst="rect">
              <a:avLst/>
            </a:prstGeom>
          </p:spPr>
        </p:pic>
        <p:grpSp>
          <p:nvGrpSpPr>
            <p:cNvPr id="5" name="组合 4"/>
            <p:cNvGrpSpPr/>
            <p:nvPr userDrawn="1"/>
          </p:nvGrpSpPr>
          <p:grpSpPr>
            <a:xfrm>
              <a:off x="-19243" y="0"/>
              <a:ext cx="12211243" cy="6869017"/>
              <a:chOff x="-19243" y="0"/>
              <a:chExt cx="12211243" cy="6869017"/>
            </a:xfrm>
          </p:grpSpPr>
          <p:pic>
            <p:nvPicPr>
              <p:cNvPr id="6" name="图片 5"/>
              <p:cNvPicPr>
                <a:picLocks noChangeAspect="1"/>
              </p:cNvPicPr>
              <p:nvPr userDrawn="1"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29367"/>
              <a:stretch>
                <a:fillRect/>
              </a:stretch>
            </p:blipFill>
            <p:spPr>
              <a:xfrm>
                <a:off x="-19243" y="0"/>
                <a:ext cx="6520115" cy="6858000"/>
              </a:xfrm>
              <a:custGeom>
                <a:avLst/>
                <a:gdLst>
                  <a:gd name="connsiteX0" fmla="*/ 0 w 6520115"/>
                  <a:gd name="connsiteY0" fmla="*/ 0 h 6858000"/>
                  <a:gd name="connsiteX1" fmla="*/ 3570358 w 6520115"/>
                  <a:gd name="connsiteY1" fmla="*/ 0 h 6858000"/>
                  <a:gd name="connsiteX2" fmla="*/ 3654782 w 6520115"/>
                  <a:gd name="connsiteY2" fmla="*/ 0 h 6858000"/>
                  <a:gd name="connsiteX3" fmla="*/ 6520115 w 6520115"/>
                  <a:gd name="connsiteY3" fmla="*/ 0 h 6858000"/>
                  <a:gd name="connsiteX4" fmla="*/ 4130530 w 6520115"/>
                  <a:gd name="connsiteY4" fmla="*/ 6858000 h 6858000"/>
                  <a:gd name="connsiteX5" fmla="*/ 0 w 6520115"/>
                  <a:gd name="connsiteY5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520115" h="6858000">
                    <a:moveTo>
                      <a:pt x="0" y="0"/>
                    </a:moveTo>
                    <a:lnTo>
                      <a:pt x="3570358" y="0"/>
                    </a:lnTo>
                    <a:lnTo>
                      <a:pt x="3654782" y="0"/>
                    </a:lnTo>
                    <a:lnTo>
                      <a:pt x="6520115" y="0"/>
                    </a:lnTo>
                    <a:lnTo>
                      <a:pt x="4130530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</p:spPr>
          </p:pic>
          <p:sp>
            <p:nvSpPr>
              <p:cNvPr id="7" name="平行四边形 6"/>
              <p:cNvSpPr/>
              <p:nvPr userDrawn="1"/>
            </p:nvSpPr>
            <p:spPr>
              <a:xfrm>
                <a:off x="5960125" y="0"/>
                <a:ext cx="969818" cy="1553378"/>
              </a:xfrm>
              <a:prstGeom prst="parallelogram">
                <a:avLst>
                  <a:gd name="adj" fmla="val 56980"/>
                </a:avLst>
              </a:prstGeom>
              <a:solidFill>
                <a:srgbClr val="2053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0" i="0" dirty="0">
                  <a:solidFill>
                    <a:prstClr val="white"/>
                  </a:solidFill>
                  <a:ea typeface="楷体" panose="02010609060101010101" pitchFamily="49" charset="-122"/>
                </a:endParaRPr>
              </a:p>
            </p:txBody>
          </p:sp>
          <p:sp>
            <p:nvSpPr>
              <p:cNvPr id="8" name="平行四边形 7"/>
              <p:cNvSpPr/>
              <p:nvPr userDrawn="1"/>
            </p:nvSpPr>
            <p:spPr>
              <a:xfrm>
                <a:off x="3399003" y="6070294"/>
                <a:ext cx="639597" cy="787706"/>
              </a:xfrm>
              <a:prstGeom prst="parallelogram">
                <a:avLst>
                  <a:gd name="adj" fmla="val 43539"/>
                </a:avLst>
              </a:prstGeom>
              <a:solidFill>
                <a:srgbClr val="45C1A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0" i="0" dirty="0">
                  <a:solidFill>
                    <a:prstClr val="white"/>
                  </a:solidFill>
                  <a:ea typeface="楷体" panose="02010609060101010101" pitchFamily="49" charset="-122"/>
                </a:endParaRPr>
              </a:p>
            </p:txBody>
          </p:sp>
          <p:cxnSp>
            <p:nvCxnSpPr>
              <p:cNvPr id="9" name="直接连接符 8"/>
              <p:cNvCxnSpPr/>
              <p:nvPr userDrawn="1"/>
            </p:nvCxnSpPr>
            <p:spPr>
              <a:xfrm flipH="1">
                <a:off x="4142342" y="2012855"/>
                <a:ext cx="1696598" cy="4856162"/>
              </a:xfrm>
              <a:prstGeom prst="line">
                <a:avLst/>
              </a:prstGeom>
              <a:ln w="19050">
                <a:solidFill>
                  <a:srgbClr val="20538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矩形 9"/>
              <p:cNvSpPr/>
              <p:nvPr userDrawn="1"/>
            </p:nvSpPr>
            <p:spPr>
              <a:xfrm>
                <a:off x="9962039" y="3602038"/>
                <a:ext cx="2229961" cy="2979722"/>
              </a:xfrm>
              <a:prstGeom prst="rect">
                <a:avLst/>
              </a:prstGeom>
              <a:solidFill>
                <a:schemeClr val="bg1">
                  <a:alpha val="2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0" i="0" dirty="0">
                  <a:solidFill>
                    <a:prstClr val="white"/>
                  </a:solidFill>
                  <a:ea typeface="楷体" panose="02010609060101010101" pitchFamily="49" charset="-122"/>
                </a:endParaRPr>
              </a:p>
            </p:txBody>
          </p:sp>
        </p:grpSp>
      </p:grpSp>
      <p:grpSp>
        <p:nvGrpSpPr>
          <p:cNvPr id="21" name="组合 20"/>
          <p:cNvGrpSpPr/>
          <p:nvPr userDrawn="1"/>
        </p:nvGrpSpPr>
        <p:grpSpPr>
          <a:xfrm>
            <a:off x="9361461" y="615462"/>
            <a:ext cx="1986677" cy="797958"/>
            <a:chOff x="9384982" y="576566"/>
            <a:chExt cx="2083516" cy="836854"/>
          </a:xfrm>
        </p:grpSpPr>
        <p:pic>
          <p:nvPicPr>
            <p:cNvPr id="20" name="图片 19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20353" y="576566"/>
              <a:ext cx="2042122" cy="431300"/>
            </a:xfrm>
            <a:prstGeom prst="rect">
              <a:avLst/>
            </a:prstGeom>
          </p:spPr>
        </p:pic>
        <p:sp>
          <p:nvSpPr>
            <p:cNvPr id="11" name="副标题 2"/>
            <p:cNvSpPr txBox="1"/>
            <p:nvPr userDrawn="1"/>
          </p:nvSpPr>
          <p:spPr>
            <a:xfrm>
              <a:off x="9384982" y="994395"/>
              <a:ext cx="2083516" cy="419025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1400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1400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defRPr>
              </a:lvl2pPr>
              <a:lvl3pPr marL="1143000" indent="-228600" algn="l" defTabSz="914400" rtl="0" eaLnBrk="1" latinLnBrk="0" hangingPunct="1">
                <a:lnSpc>
                  <a:spcPct val="1400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dist">
                <a:buFont typeface="Arial" panose="020B0604020202020204" pitchFamily="34" charset="0"/>
                <a:buNone/>
              </a:pPr>
              <a:r>
                <a:rPr lang="zh-CN" altLang="en-US" sz="1200" dirty="0">
                  <a:solidFill>
                    <a:srgbClr val="093876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共创健康产业数字智慧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34689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2"/>
          <p:cNvSpPr>
            <a:spLocks noGrp="1"/>
          </p:cNvSpPr>
          <p:nvPr>
            <p:ph idx="1"/>
          </p:nvPr>
        </p:nvSpPr>
        <p:spPr>
          <a:xfrm>
            <a:off x="743712" y="1207008"/>
            <a:ext cx="10704576" cy="4836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  <p:sp>
        <p:nvSpPr>
          <p:cNvPr id="6" name="标题占位符 1"/>
          <p:cNvSpPr>
            <a:spLocks noGrp="1"/>
          </p:cNvSpPr>
          <p:nvPr>
            <p:ph type="title"/>
          </p:nvPr>
        </p:nvSpPr>
        <p:spPr>
          <a:xfrm>
            <a:off x="743712" y="289867"/>
            <a:ext cx="9115955" cy="62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480904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占位符 1"/>
          <p:cNvSpPr>
            <a:spLocks noGrp="1"/>
          </p:cNvSpPr>
          <p:nvPr>
            <p:ph type="title"/>
          </p:nvPr>
        </p:nvSpPr>
        <p:spPr>
          <a:xfrm>
            <a:off x="743712" y="289867"/>
            <a:ext cx="9115955" cy="62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869867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9621149" y="2490952"/>
            <a:ext cx="2570851" cy="4377559"/>
            <a:chOff x="9163014" y="2183554"/>
            <a:chExt cx="2745207" cy="4674446"/>
          </a:xfrm>
        </p:grpSpPr>
        <p:sp>
          <p:nvSpPr>
            <p:cNvPr id="4" name="平行四边形 3"/>
            <p:cNvSpPr/>
            <p:nvPr userDrawn="1"/>
          </p:nvSpPr>
          <p:spPr>
            <a:xfrm>
              <a:off x="9163014" y="4201624"/>
              <a:ext cx="1869538" cy="2656376"/>
            </a:xfrm>
            <a:prstGeom prst="parallelogram">
              <a:avLst>
                <a:gd name="adj" fmla="val 77103"/>
              </a:avLst>
            </a:prstGeom>
            <a:solidFill>
              <a:srgbClr val="003F7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457200">
                <a:defRPr/>
              </a:pPr>
              <a:endParaRPr lang="zh-CN" altLang="en-US" kern="0">
                <a:solidFill>
                  <a:srgbClr val="FFFFFF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5" name="直角三角形 4"/>
            <p:cNvSpPr/>
            <p:nvPr userDrawn="1"/>
          </p:nvSpPr>
          <p:spPr>
            <a:xfrm flipH="1">
              <a:off x="9406651" y="2183554"/>
              <a:ext cx="2501570" cy="4674446"/>
            </a:xfrm>
            <a:prstGeom prst="rtTriangle">
              <a:avLst/>
            </a:prstGeom>
            <a:solidFill>
              <a:srgbClr val="DAE8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0" i="0" dirty="0">
                <a:solidFill>
                  <a:prstClr val="white"/>
                </a:solidFill>
                <a:ea typeface="楷体" panose="02010609060101010101" pitchFamily="49" charset="-122"/>
              </a:endParaRPr>
            </a:p>
          </p:txBody>
        </p:sp>
      </p:grpSp>
      <p:grpSp>
        <p:nvGrpSpPr>
          <p:cNvPr id="6" name="组合 5"/>
          <p:cNvGrpSpPr/>
          <p:nvPr userDrawn="1"/>
        </p:nvGrpSpPr>
        <p:grpSpPr>
          <a:xfrm>
            <a:off x="-3" y="1653285"/>
            <a:ext cx="4038603" cy="2590299"/>
            <a:chOff x="-2" y="1653285"/>
            <a:chExt cx="5216026" cy="3345481"/>
          </a:xfrm>
        </p:grpSpPr>
        <p:sp>
          <p:nvSpPr>
            <p:cNvPr id="7" name="任意多边形: 形状 35"/>
            <p:cNvSpPr/>
            <p:nvPr userDrawn="1"/>
          </p:nvSpPr>
          <p:spPr>
            <a:xfrm>
              <a:off x="2" y="2840895"/>
              <a:ext cx="4434652" cy="2157871"/>
            </a:xfrm>
            <a:custGeom>
              <a:avLst/>
              <a:gdLst>
                <a:gd name="connsiteX0" fmla="*/ 0 w 5439531"/>
                <a:gd name="connsiteY0" fmla="*/ 0 h 2646838"/>
                <a:gd name="connsiteX1" fmla="*/ 27665 w 5439531"/>
                <a:gd name="connsiteY1" fmla="*/ 0 h 2646838"/>
                <a:gd name="connsiteX2" fmla="*/ 88552 w 5439531"/>
                <a:gd name="connsiteY2" fmla="*/ 0 h 2646838"/>
                <a:gd name="connsiteX3" fmla="*/ 127757 w 5439531"/>
                <a:gd name="connsiteY3" fmla="*/ 0 h 2646838"/>
                <a:gd name="connsiteX4" fmla="*/ 294403 w 5439531"/>
                <a:gd name="connsiteY4" fmla="*/ 0 h 2646838"/>
                <a:gd name="connsiteX5" fmla="*/ 452028 w 5439531"/>
                <a:gd name="connsiteY5" fmla="*/ 0 h 2646838"/>
                <a:gd name="connsiteX6" fmla="*/ 454196 w 5439531"/>
                <a:gd name="connsiteY6" fmla="*/ 0 h 2646838"/>
                <a:gd name="connsiteX7" fmla="*/ 554288 w 5439531"/>
                <a:gd name="connsiteY7" fmla="*/ 0 h 2646838"/>
                <a:gd name="connsiteX8" fmla="*/ 711433 w 5439531"/>
                <a:gd name="connsiteY8" fmla="*/ 0 h 2646838"/>
                <a:gd name="connsiteX9" fmla="*/ 878560 w 5439531"/>
                <a:gd name="connsiteY9" fmla="*/ 0 h 2646838"/>
                <a:gd name="connsiteX10" fmla="*/ 1005138 w 5439531"/>
                <a:gd name="connsiteY10" fmla="*/ 0 h 2646838"/>
                <a:gd name="connsiteX11" fmla="*/ 1137964 w 5439531"/>
                <a:gd name="connsiteY11" fmla="*/ 0 h 2646838"/>
                <a:gd name="connsiteX12" fmla="*/ 1221306 w 5439531"/>
                <a:gd name="connsiteY12" fmla="*/ 0 h 2646838"/>
                <a:gd name="connsiteX13" fmla="*/ 1431670 w 5439531"/>
                <a:gd name="connsiteY13" fmla="*/ 0 h 2646838"/>
                <a:gd name="connsiteX14" fmla="*/ 1456640 w 5439531"/>
                <a:gd name="connsiteY14" fmla="*/ 0 h 2646838"/>
                <a:gd name="connsiteX15" fmla="*/ 1647837 w 5439531"/>
                <a:gd name="connsiteY15" fmla="*/ 0 h 2646838"/>
                <a:gd name="connsiteX16" fmla="*/ 1686982 w 5439531"/>
                <a:gd name="connsiteY16" fmla="*/ 0 h 2646838"/>
                <a:gd name="connsiteX17" fmla="*/ 1752540 w 5439531"/>
                <a:gd name="connsiteY17" fmla="*/ 0 h 2646838"/>
                <a:gd name="connsiteX18" fmla="*/ 1883172 w 5439531"/>
                <a:gd name="connsiteY18" fmla="*/ 0 h 2646838"/>
                <a:gd name="connsiteX19" fmla="*/ 1946386 w 5439531"/>
                <a:gd name="connsiteY19" fmla="*/ 0 h 2646838"/>
                <a:gd name="connsiteX20" fmla="*/ 1967598 w 5439531"/>
                <a:gd name="connsiteY20" fmla="*/ 0 h 2646838"/>
                <a:gd name="connsiteX21" fmla="*/ 2113513 w 5439531"/>
                <a:gd name="connsiteY21" fmla="*/ 0 h 2646838"/>
                <a:gd name="connsiteX22" fmla="*/ 2179071 w 5439531"/>
                <a:gd name="connsiteY22" fmla="*/ 0 h 2646838"/>
                <a:gd name="connsiteX23" fmla="*/ 2223523 w 5439531"/>
                <a:gd name="connsiteY23" fmla="*/ 0 h 2646838"/>
                <a:gd name="connsiteX24" fmla="*/ 2236439 w 5439531"/>
                <a:gd name="connsiteY24" fmla="*/ 0 h 2646838"/>
                <a:gd name="connsiteX25" fmla="*/ 2372918 w 5439531"/>
                <a:gd name="connsiteY25" fmla="*/ 0 h 2646838"/>
                <a:gd name="connsiteX26" fmla="*/ 2394129 w 5439531"/>
                <a:gd name="connsiteY26" fmla="*/ 0 h 2646838"/>
                <a:gd name="connsiteX27" fmla="*/ 2438581 w 5439531"/>
                <a:gd name="connsiteY27" fmla="*/ 0 h 2646838"/>
                <a:gd name="connsiteX28" fmla="*/ 2644433 w 5439531"/>
                <a:gd name="connsiteY28" fmla="*/ 0 h 2646838"/>
                <a:gd name="connsiteX29" fmla="*/ 2650054 w 5439531"/>
                <a:gd name="connsiteY29" fmla="*/ 0 h 2646838"/>
                <a:gd name="connsiteX30" fmla="*/ 2662971 w 5439531"/>
                <a:gd name="connsiteY30" fmla="*/ 0 h 2646838"/>
                <a:gd name="connsiteX31" fmla="*/ 2804226 w 5439531"/>
                <a:gd name="connsiteY31" fmla="*/ 0 h 2646838"/>
                <a:gd name="connsiteX32" fmla="*/ 2865112 w 5439531"/>
                <a:gd name="connsiteY32" fmla="*/ 0 h 2646838"/>
                <a:gd name="connsiteX33" fmla="*/ 2904317 w 5439531"/>
                <a:gd name="connsiteY33" fmla="*/ 0 h 2646838"/>
                <a:gd name="connsiteX34" fmla="*/ 3070964 w 5439531"/>
                <a:gd name="connsiteY34" fmla="*/ 0 h 2646838"/>
                <a:gd name="connsiteX35" fmla="*/ 3228589 w 5439531"/>
                <a:gd name="connsiteY35" fmla="*/ 0 h 2646838"/>
                <a:gd name="connsiteX36" fmla="*/ 3230756 w 5439531"/>
                <a:gd name="connsiteY36" fmla="*/ 0 h 2646838"/>
                <a:gd name="connsiteX37" fmla="*/ 3330849 w 5439531"/>
                <a:gd name="connsiteY37" fmla="*/ 0 h 2646838"/>
                <a:gd name="connsiteX38" fmla="*/ 3487993 w 5439531"/>
                <a:gd name="connsiteY38" fmla="*/ 0 h 2646838"/>
                <a:gd name="connsiteX39" fmla="*/ 3655120 w 5439531"/>
                <a:gd name="connsiteY39" fmla="*/ 0 h 2646838"/>
                <a:gd name="connsiteX40" fmla="*/ 3781699 w 5439531"/>
                <a:gd name="connsiteY40" fmla="*/ 0 h 2646838"/>
                <a:gd name="connsiteX41" fmla="*/ 3914525 w 5439531"/>
                <a:gd name="connsiteY41" fmla="*/ 0 h 2646838"/>
                <a:gd name="connsiteX42" fmla="*/ 3997866 w 5439531"/>
                <a:gd name="connsiteY42" fmla="*/ 0 h 2646838"/>
                <a:gd name="connsiteX43" fmla="*/ 4208230 w 5439531"/>
                <a:gd name="connsiteY43" fmla="*/ 0 h 2646838"/>
                <a:gd name="connsiteX44" fmla="*/ 4233201 w 5439531"/>
                <a:gd name="connsiteY44" fmla="*/ 0 h 2646838"/>
                <a:gd name="connsiteX45" fmla="*/ 4424397 w 5439531"/>
                <a:gd name="connsiteY45" fmla="*/ 0 h 2646838"/>
                <a:gd name="connsiteX46" fmla="*/ 4463542 w 5439531"/>
                <a:gd name="connsiteY46" fmla="*/ 0 h 2646838"/>
                <a:gd name="connsiteX47" fmla="*/ 4659732 w 5439531"/>
                <a:gd name="connsiteY47" fmla="*/ 0 h 2646838"/>
                <a:gd name="connsiteX48" fmla="*/ 4722947 w 5439531"/>
                <a:gd name="connsiteY48" fmla="*/ 0 h 2646838"/>
                <a:gd name="connsiteX49" fmla="*/ 4890073 w 5439531"/>
                <a:gd name="connsiteY49" fmla="*/ 0 h 2646838"/>
                <a:gd name="connsiteX50" fmla="*/ 5012999 w 5439531"/>
                <a:gd name="connsiteY50" fmla="*/ 0 h 2646838"/>
                <a:gd name="connsiteX51" fmla="*/ 5149478 w 5439531"/>
                <a:gd name="connsiteY51" fmla="*/ 0 h 2646838"/>
                <a:gd name="connsiteX52" fmla="*/ 5439531 w 5439531"/>
                <a:gd name="connsiteY52" fmla="*/ 0 h 2646838"/>
                <a:gd name="connsiteX53" fmla="*/ 4003236 w 5439531"/>
                <a:gd name="connsiteY53" fmla="*/ 2646838 h 2646838"/>
                <a:gd name="connsiteX54" fmla="*/ 3713184 w 5439531"/>
                <a:gd name="connsiteY54" fmla="*/ 2646838 h 2646838"/>
                <a:gd name="connsiteX55" fmla="*/ 3576705 w 5439531"/>
                <a:gd name="connsiteY55" fmla="*/ 2646838 h 2646838"/>
                <a:gd name="connsiteX56" fmla="*/ 3453779 w 5439531"/>
                <a:gd name="connsiteY56" fmla="*/ 2646838 h 2646838"/>
                <a:gd name="connsiteX57" fmla="*/ 3286652 w 5439531"/>
                <a:gd name="connsiteY57" fmla="*/ 2646838 h 2646838"/>
                <a:gd name="connsiteX58" fmla="*/ 3223438 w 5439531"/>
                <a:gd name="connsiteY58" fmla="*/ 2646838 h 2646838"/>
                <a:gd name="connsiteX59" fmla="*/ 3027248 w 5439531"/>
                <a:gd name="connsiteY59" fmla="*/ 2646838 h 2646838"/>
                <a:gd name="connsiteX60" fmla="*/ 2988103 w 5439531"/>
                <a:gd name="connsiteY60" fmla="*/ 2646838 h 2646838"/>
                <a:gd name="connsiteX61" fmla="*/ 2796907 w 5439531"/>
                <a:gd name="connsiteY61" fmla="*/ 2646838 h 2646838"/>
                <a:gd name="connsiteX62" fmla="*/ 2771936 w 5439531"/>
                <a:gd name="connsiteY62" fmla="*/ 2646838 h 2646838"/>
                <a:gd name="connsiteX63" fmla="*/ 2561572 w 5439531"/>
                <a:gd name="connsiteY63" fmla="*/ 2646838 h 2646838"/>
                <a:gd name="connsiteX64" fmla="*/ 2478231 w 5439531"/>
                <a:gd name="connsiteY64" fmla="*/ 2646838 h 2646838"/>
                <a:gd name="connsiteX65" fmla="*/ 2345405 w 5439531"/>
                <a:gd name="connsiteY65" fmla="*/ 2646838 h 2646838"/>
                <a:gd name="connsiteX66" fmla="*/ 2218827 w 5439531"/>
                <a:gd name="connsiteY66" fmla="*/ 2646838 h 2646838"/>
                <a:gd name="connsiteX67" fmla="*/ 2051700 w 5439531"/>
                <a:gd name="connsiteY67" fmla="*/ 2646838 h 2646838"/>
                <a:gd name="connsiteX68" fmla="*/ 1894555 w 5439531"/>
                <a:gd name="connsiteY68" fmla="*/ 2646838 h 2646838"/>
                <a:gd name="connsiteX69" fmla="*/ 1794463 w 5439531"/>
                <a:gd name="connsiteY69" fmla="*/ 2646838 h 2646838"/>
                <a:gd name="connsiteX70" fmla="*/ 1792295 w 5439531"/>
                <a:gd name="connsiteY70" fmla="*/ 2646838 h 2646838"/>
                <a:gd name="connsiteX71" fmla="*/ 1634670 w 5439531"/>
                <a:gd name="connsiteY71" fmla="*/ 2646838 h 2646838"/>
                <a:gd name="connsiteX72" fmla="*/ 1468024 w 5439531"/>
                <a:gd name="connsiteY72" fmla="*/ 2646838 h 2646838"/>
                <a:gd name="connsiteX73" fmla="*/ 1428818 w 5439531"/>
                <a:gd name="connsiteY73" fmla="*/ 2646838 h 2646838"/>
                <a:gd name="connsiteX74" fmla="*/ 1367931 w 5439531"/>
                <a:gd name="connsiteY74" fmla="*/ 2646838 h 2646838"/>
                <a:gd name="connsiteX75" fmla="*/ 1226676 w 5439531"/>
                <a:gd name="connsiteY75" fmla="*/ 2646838 h 2646838"/>
                <a:gd name="connsiteX76" fmla="*/ 1213760 w 5439531"/>
                <a:gd name="connsiteY76" fmla="*/ 2646838 h 2646838"/>
                <a:gd name="connsiteX77" fmla="*/ 1208139 w 5439531"/>
                <a:gd name="connsiteY77" fmla="*/ 2646838 h 2646838"/>
                <a:gd name="connsiteX78" fmla="*/ 1002287 w 5439531"/>
                <a:gd name="connsiteY78" fmla="*/ 2646838 h 2646838"/>
                <a:gd name="connsiteX79" fmla="*/ 957835 w 5439531"/>
                <a:gd name="connsiteY79" fmla="*/ 2646838 h 2646838"/>
                <a:gd name="connsiteX80" fmla="*/ 936623 w 5439531"/>
                <a:gd name="connsiteY80" fmla="*/ 2646838 h 2646838"/>
                <a:gd name="connsiteX81" fmla="*/ 800144 w 5439531"/>
                <a:gd name="connsiteY81" fmla="*/ 2646838 h 2646838"/>
                <a:gd name="connsiteX82" fmla="*/ 787229 w 5439531"/>
                <a:gd name="connsiteY82" fmla="*/ 2646838 h 2646838"/>
                <a:gd name="connsiteX83" fmla="*/ 742777 w 5439531"/>
                <a:gd name="connsiteY83" fmla="*/ 2646838 h 2646838"/>
                <a:gd name="connsiteX84" fmla="*/ 677219 w 5439531"/>
                <a:gd name="connsiteY84" fmla="*/ 2646838 h 2646838"/>
                <a:gd name="connsiteX85" fmla="*/ 531303 w 5439531"/>
                <a:gd name="connsiteY85" fmla="*/ 2646838 h 2646838"/>
                <a:gd name="connsiteX86" fmla="*/ 510092 w 5439531"/>
                <a:gd name="connsiteY86" fmla="*/ 2646838 h 2646838"/>
                <a:gd name="connsiteX87" fmla="*/ 446877 w 5439531"/>
                <a:gd name="connsiteY87" fmla="*/ 2646838 h 2646838"/>
                <a:gd name="connsiteX88" fmla="*/ 316246 w 5439531"/>
                <a:gd name="connsiteY88" fmla="*/ 2646838 h 2646838"/>
                <a:gd name="connsiteX89" fmla="*/ 250687 w 5439531"/>
                <a:gd name="connsiteY89" fmla="*/ 2646838 h 2646838"/>
                <a:gd name="connsiteX90" fmla="*/ 211543 w 5439531"/>
                <a:gd name="connsiteY90" fmla="*/ 2646838 h 2646838"/>
                <a:gd name="connsiteX91" fmla="*/ 20346 w 5439531"/>
                <a:gd name="connsiteY91" fmla="*/ 2646838 h 2646838"/>
                <a:gd name="connsiteX92" fmla="*/ 0 w 5439531"/>
                <a:gd name="connsiteY92" fmla="*/ 2646838 h 2646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439531" h="2646838">
                  <a:moveTo>
                    <a:pt x="0" y="0"/>
                  </a:moveTo>
                  <a:lnTo>
                    <a:pt x="27665" y="0"/>
                  </a:lnTo>
                  <a:lnTo>
                    <a:pt x="88552" y="0"/>
                  </a:lnTo>
                  <a:lnTo>
                    <a:pt x="127757" y="0"/>
                  </a:lnTo>
                  <a:lnTo>
                    <a:pt x="294403" y="0"/>
                  </a:lnTo>
                  <a:lnTo>
                    <a:pt x="452028" y="0"/>
                  </a:lnTo>
                  <a:lnTo>
                    <a:pt x="454196" y="0"/>
                  </a:lnTo>
                  <a:lnTo>
                    <a:pt x="554288" y="0"/>
                  </a:lnTo>
                  <a:lnTo>
                    <a:pt x="711433" y="0"/>
                  </a:lnTo>
                  <a:lnTo>
                    <a:pt x="878560" y="0"/>
                  </a:lnTo>
                  <a:lnTo>
                    <a:pt x="1005138" y="0"/>
                  </a:lnTo>
                  <a:lnTo>
                    <a:pt x="1137964" y="0"/>
                  </a:lnTo>
                  <a:lnTo>
                    <a:pt x="1221306" y="0"/>
                  </a:lnTo>
                  <a:lnTo>
                    <a:pt x="1431670" y="0"/>
                  </a:lnTo>
                  <a:lnTo>
                    <a:pt x="1456640" y="0"/>
                  </a:lnTo>
                  <a:lnTo>
                    <a:pt x="1647837" y="0"/>
                  </a:lnTo>
                  <a:lnTo>
                    <a:pt x="1686982" y="0"/>
                  </a:lnTo>
                  <a:lnTo>
                    <a:pt x="1752540" y="0"/>
                  </a:lnTo>
                  <a:lnTo>
                    <a:pt x="1883172" y="0"/>
                  </a:lnTo>
                  <a:lnTo>
                    <a:pt x="1946386" y="0"/>
                  </a:lnTo>
                  <a:lnTo>
                    <a:pt x="1967598" y="0"/>
                  </a:lnTo>
                  <a:lnTo>
                    <a:pt x="2113513" y="0"/>
                  </a:lnTo>
                  <a:lnTo>
                    <a:pt x="2179071" y="0"/>
                  </a:lnTo>
                  <a:lnTo>
                    <a:pt x="2223523" y="0"/>
                  </a:lnTo>
                  <a:lnTo>
                    <a:pt x="2236439" y="0"/>
                  </a:lnTo>
                  <a:lnTo>
                    <a:pt x="2372918" y="0"/>
                  </a:lnTo>
                  <a:lnTo>
                    <a:pt x="2394129" y="0"/>
                  </a:lnTo>
                  <a:lnTo>
                    <a:pt x="2438581" y="0"/>
                  </a:lnTo>
                  <a:lnTo>
                    <a:pt x="2644433" y="0"/>
                  </a:lnTo>
                  <a:lnTo>
                    <a:pt x="2650054" y="0"/>
                  </a:lnTo>
                  <a:lnTo>
                    <a:pt x="2662971" y="0"/>
                  </a:lnTo>
                  <a:lnTo>
                    <a:pt x="2804226" y="0"/>
                  </a:lnTo>
                  <a:lnTo>
                    <a:pt x="2865112" y="0"/>
                  </a:lnTo>
                  <a:lnTo>
                    <a:pt x="2904317" y="0"/>
                  </a:lnTo>
                  <a:lnTo>
                    <a:pt x="3070964" y="0"/>
                  </a:lnTo>
                  <a:lnTo>
                    <a:pt x="3228589" y="0"/>
                  </a:lnTo>
                  <a:lnTo>
                    <a:pt x="3230756" y="0"/>
                  </a:lnTo>
                  <a:lnTo>
                    <a:pt x="3330849" y="0"/>
                  </a:lnTo>
                  <a:lnTo>
                    <a:pt x="3487993" y="0"/>
                  </a:lnTo>
                  <a:lnTo>
                    <a:pt x="3655120" y="0"/>
                  </a:lnTo>
                  <a:lnTo>
                    <a:pt x="3781699" y="0"/>
                  </a:lnTo>
                  <a:lnTo>
                    <a:pt x="3914525" y="0"/>
                  </a:lnTo>
                  <a:lnTo>
                    <a:pt x="3997866" y="0"/>
                  </a:lnTo>
                  <a:lnTo>
                    <a:pt x="4208230" y="0"/>
                  </a:lnTo>
                  <a:lnTo>
                    <a:pt x="4233201" y="0"/>
                  </a:lnTo>
                  <a:lnTo>
                    <a:pt x="4424397" y="0"/>
                  </a:lnTo>
                  <a:lnTo>
                    <a:pt x="4463542" y="0"/>
                  </a:lnTo>
                  <a:lnTo>
                    <a:pt x="4659732" y="0"/>
                  </a:lnTo>
                  <a:lnTo>
                    <a:pt x="4722947" y="0"/>
                  </a:lnTo>
                  <a:lnTo>
                    <a:pt x="4890073" y="0"/>
                  </a:lnTo>
                  <a:lnTo>
                    <a:pt x="5012999" y="0"/>
                  </a:lnTo>
                  <a:lnTo>
                    <a:pt x="5149478" y="0"/>
                  </a:lnTo>
                  <a:lnTo>
                    <a:pt x="5439531" y="0"/>
                  </a:lnTo>
                  <a:lnTo>
                    <a:pt x="4003236" y="2646838"/>
                  </a:lnTo>
                  <a:lnTo>
                    <a:pt x="3713184" y="2646838"/>
                  </a:lnTo>
                  <a:lnTo>
                    <a:pt x="3576705" y="2646838"/>
                  </a:lnTo>
                  <a:lnTo>
                    <a:pt x="3453779" y="2646838"/>
                  </a:lnTo>
                  <a:lnTo>
                    <a:pt x="3286652" y="2646838"/>
                  </a:lnTo>
                  <a:lnTo>
                    <a:pt x="3223438" y="2646838"/>
                  </a:lnTo>
                  <a:lnTo>
                    <a:pt x="3027248" y="2646838"/>
                  </a:lnTo>
                  <a:lnTo>
                    <a:pt x="2988103" y="2646838"/>
                  </a:lnTo>
                  <a:lnTo>
                    <a:pt x="2796907" y="2646838"/>
                  </a:lnTo>
                  <a:lnTo>
                    <a:pt x="2771936" y="2646838"/>
                  </a:lnTo>
                  <a:lnTo>
                    <a:pt x="2561572" y="2646838"/>
                  </a:lnTo>
                  <a:lnTo>
                    <a:pt x="2478231" y="2646838"/>
                  </a:lnTo>
                  <a:lnTo>
                    <a:pt x="2345405" y="2646838"/>
                  </a:lnTo>
                  <a:lnTo>
                    <a:pt x="2218827" y="2646838"/>
                  </a:lnTo>
                  <a:lnTo>
                    <a:pt x="2051700" y="2646838"/>
                  </a:lnTo>
                  <a:lnTo>
                    <a:pt x="1894555" y="2646838"/>
                  </a:lnTo>
                  <a:lnTo>
                    <a:pt x="1794463" y="2646838"/>
                  </a:lnTo>
                  <a:lnTo>
                    <a:pt x="1792295" y="2646838"/>
                  </a:lnTo>
                  <a:lnTo>
                    <a:pt x="1634670" y="2646838"/>
                  </a:lnTo>
                  <a:lnTo>
                    <a:pt x="1468024" y="2646838"/>
                  </a:lnTo>
                  <a:lnTo>
                    <a:pt x="1428818" y="2646838"/>
                  </a:lnTo>
                  <a:lnTo>
                    <a:pt x="1367931" y="2646838"/>
                  </a:lnTo>
                  <a:lnTo>
                    <a:pt x="1226676" y="2646838"/>
                  </a:lnTo>
                  <a:lnTo>
                    <a:pt x="1213760" y="2646838"/>
                  </a:lnTo>
                  <a:lnTo>
                    <a:pt x="1208139" y="2646838"/>
                  </a:lnTo>
                  <a:lnTo>
                    <a:pt x="1002287" y="2646838"/>
                  </a:lnTo>
                  <a:lnTo>
                    <a:pt x="957835" y="2646838"/>
                  </a:lnTo>
                  <a:lnTo>
                    <a:pt x="936623" y="2646838"/>
                  </a:lnTo>
                  <a:lnTo>
                    <a:pt x="800144" y="2646838"/>
                  </a:lnTo>
                  <a:lnTo>
                    <a:pt x="787229" y="2646838"/>
                  </a:lnTo>
                  <a:lnTo>
                    <a:pt x="742777" y="2646838"/>
                  </a:lnTo>
                  <a:lnTo>
                    <a:pt x="677219" y="2646838"/>
                  </a:lnTo>
                  <a:lnTo>
                    <a:pt x="531303" y="2646838"/>
                  </a:lnTo>
                  <a:lnTo>
                    <a:pt x="510092" y="2646838"/>
                  </a:lnTo>
                  <a:lnTo>
                    <a:pt x="446877" y="2646838"/>
                  </a:lnTo>
                  <a:lnTo>
                    <a:pt x="316246" y="2646838"/>
                  </a:lnTo>
                  <a:lnTo>
                    <a:pt x="250687" y="2646838"/>
                  </a:lnTo>
                  <a:lnTo>
                    <a:pt x="211543" y="2646838"/>
                  </a:lnTo>
                  <a:lnTo>
                    <a:pt x="20346" y="2646838"/>
                  </a:lnTo>
                  <a:lnTo>
                    <a:pt x="0" y="2646838"/>
                  </a:lnTo>
                  <a:close/>
                </a:path>
              </a:pathLst>
            </a:custGeom>
            <a:solidFill>
              <a:schemeClr val="bg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457200">
                <a:defRPr/>
              </a:pPr>
              <a:endParaRPr lang="zh-CN" altLang="en-US" kern="0">
                <a:solidFill>
                  <a:srgbClr val="FFFFFF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1" t="907" r="1661" b="15948"/>
            <a:stretch>
              <a:fillRect/>
            </a:stretch>
          </p:blipFill>
          <p:spPr>
            <a:xfrm>
              <a:off x="-1" y="1653285"/>
              <a:ext cx="5216025" cy="2938771"/>
            </a:xfrm>
            <a:custGeom>
              <a:avLst/>
              <a:gdLst>
                <a:gd name="connsiteX0" fmla="*/ 0 w 5216025"/>
                <a:gd name="connsiteY0" fmla="*/ 0 h 2938771"/>
                <a:gd name="connsiteX1" fmla="*/ 5216025 w 5216025"/>
                <a:gd name="connsiteY1" fmla="*/ 0 h 2938771"/>
                <a:gd name="connsiteX2" fmla="*/ 3621315 w 5216025"/>
                <a:gd name="connsiteY2" fmla="*/ 2938771 h 2938771"/>
                <a:gd name="connsiteX3" fmla="*/ 0 w 5216025"/>
                <a:gd name="connsiteY3" fmla="*/ 2938771 h 2938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16025" h="2938771">
                  <a:moveTo>
                    <a:pt x="0" y="0"/>
                  </a:moveTo>
                  <a:lnTo>
                    <a:pt x="5216025" y="0"/>
                  </a:lnTo>
                  <a:lnTo>
                    <a:pt x="3621315" y="2938771"/>
                  </a:lnTo>
                  <a:lnTo>
                    <a:pt x="0" y="2938771"/>
                  </a:lnTo>
                  <a:close/>
                </a:path>
              </a:pathLst>
            </a:custGeom>
          </p:spPr>
        </p:pic>
        <p:sp>
          <p:nvSpPr>
            <p:cNvPr id="9" name="任意多边形: 形状 14"/>
            <p:cNvSpPr/>
            <p:nvPr userDrawn="1"/>
          </p:nvSpPr>
          <p:spPr>
            <a:xfrm>
              <a:off x="-2" y="1653285"/>
              <a:ext cx="5216025" cy="2938771"/>
            </a:xfrm>
            <a:custGeom>
              <a:avLst/>
              <a:gdLst>
                <a:gd name="connsiteX0" fmla="*/ 5216025 w 5216025"/>
                <a:gd name="connsiteY0" fmla="*/ 0 h 2938771"/>
                <a:gd name="connsiteX1" fmla="*/ 0 w 5216025"/>
                <a:gd name="connsiteY1" fmla="*/ 0 h 2938771"/>
                <a:gd name="connsiteX2" fmla="*/ 0 w 5216025"/>
                <a:gd name="connsiteY2" fmla="*/ 2938771 h 2938771"/>
                <a:gd name="connsiteX3" fmla="*/ 3621315 w 5216025"/>
                <a:gd name="connsiteY3" fmla="*/ 2938771 h 2938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16025" h="2938771">
                  <a:moveTo>
                    <a:pt x="5216025" y="0"/>
                  </a:moveTo>
                  <a:lnTo>
                    <a:pt x="0" y="0"/>
                  </a:lnTo>
                  <a:lnTo>
                    <a:pt x="0" y="2938771"/>
                  </a:lnTo>
                  <a:lnTo>
                    <a:pt x="3621315" y="2938771"/>
                  </a:lnTo>
                  <a:close/>
                </a:path>
              </a:pathLst>
            </a:custGeom>
            <a:solidFill>
              <a:schemeClr val="bg1">
                <a:alpha val="29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457200">
                <a:defRPr/>
              </a:pPr>
              <a:endParaRPr lang="zh-CN" altLang="en-US" kern="0">
                <a:solidFill>
                  <a:srgbClr val="FFFFFF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sp>
        <p:nvSpPr>
          <p:cNvPr id="14" name="文本框 13"/>
          <p:cNvSpPr txBox="1"/>
          <p:nvPr userDrawn="1"/>
        </p:nvSpPr>
        <p:spPr>
          <a:xfrm>
            <a:off x="5437006" y="6382741"/>
            <a:ext cx="13179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US" altLang="zh-CN" sz="1100" dirty="0">
                <a:solidFill>
                  <a:prstClr val="white">
                    <a:lumMod val="65000"/>
                  </a:prstClr>
                </a:solidFill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Pharmeyes Co., Ltd.</a:t>
            </a:r>
            <a:endParaRPr lang="zh-CN" altLang="en-US" sz="1100" dirty="0">
              <a:solidFill>
                <a:prstClr val="white">
                  <a:lumMod val="65000"/>
                </a:prstClr>
              </a:solidFill>
              <a:latin typeface="Calibri" panose="020F0502020204030204" pitchFamily="34" charset="0"/>
              <a:ea typeface="楷体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5" name="副标题 2"/>
          <p:cNvSpPr txBox="1"/>
          <p:nvPr userDrawn="1"/>
        </p:nvSpPr>
        <p:spPr>
          <a:xfrm>
            <a:off x="10160843" y="654798"/>
            <a:ext cx="1522172" cy="3349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4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4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4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dist">
              <a:buFont typeface="Arial" panose="020B0604020202020204" pitchFamily="34" charset="0"/>
              <a:buNone/>
            </a:pPr>
            <a:r>
              <a:rPr lang="zh-CN" altLang="en-US" sz="1000" dirty="0">
                <a:solidFill>
                  <a:srgbClr val="09387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共创健康产业数字智慧</a:t>
            </a:r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0645" y="353486"/>
            <a:ext cx="1427979" cy="360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2441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150"/>
          <a:stretch>
            <a:fillRect/>
          </a:stretch>
        </p:blipFill>
        <p:spPr>
          <a:xfrm>
            <a:off x="6" y="0"/>
            <a:ext cx="12191999" cy="6858000"/>
          </a:xfrm>
          <a:prstGeom prst="rect">
            <a:avLst/>
          </a:prstGeom>
        </p:spPr>
      </p:pic>
      <p:sp>
        <p:nvSpPr>
          <p:cNvPr id="17" name="任意多边形 16"/>
          <p:cNvSpPr/>
          <p:nvPr userDrawn="1"/>
        </p:nvSpPr>
        <p:spPr>
          <a:xfrm rot="5400000" flipV="1">
            <a:off x="10340825" y="398538"/>
            <a:ext cx="2249715" cy="1452644"/>
          </a:xfrm>
          <a:custGeom>
            <a:avLst/>
            <a:gdLst>
              <a:gd name="connsiteX0" fmla="*/ 0 w 3207124"/>
              <a:gd name="connsiteY0" fmla="*/ 1006393 h 2070846"/>
              <a:gd name="connsiteX1" fmla="*/ 0 w 3207124"/>
              <a:gd name="connsiteY1" fmla="*/ 2070846 h 2070846"/>
              <a:gd name="connsiteX2" fmla="*/ 3207124 w 3207124"/>
              <a:gd name="connsiteY2" fmla="*/ 2070846 h 2070846"/>
              <a:gd name="connsiteX3" fmla="*/ 1048871 w 3207124"/>
              <a:gd name="connsiteY3" fmla="*/ 0 h 2070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7124" h="2070846">
                <a:moveTo>
                  <a:pt x="0" y="1006393"/>
                </a:moveTo>
                <a:lnTo>
                  <a:pt x="0" y="2070846"/>
                </a:lnTo>
                <a:lnTo>
                  <a:pt x="3207124" y="2070846"/>
                </a:lnTo>
                <a:lnTo>
                  <a:pt x="1048871" y="0"/>
                </a:lnTo>
                <a:close/>
              </a:path>
            </a:pathLst>
          </a:custGeom>
          <a:solidFill>
            <a:srgbClr val="4463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6" tIns="45719" rIns="91436" bIns="45719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65" b="0" i="0" dirty="0">
              <a:solidFill>
                <a:prstClr val="white"/>
              </a:solidFill>
              <a:ea typeface="楷体" panose="02010609060101010101" pitchFamily="49" charset="-122"/>
            </a:endParaRPr>
          </a:p>
        </p:txBody>
      </p:sp>
      <p:sp>
        <p:nvSpPr>
          <p:cNvPr id="18" name="等腰三角形 17"/>
          <p:cNvSpPr/>
          <p:nvPr userDrawn="1"/>
        </p:nvSpPr>
        <p:spPr>
          <a:xfrm rot="16200000" flipV="1">
            <a:off x="-691060" y="2589314"/>
            <a:ext cx="2499583" cy="1117460"/>
          </a:xfrm>
          <a:prstGeom prst="triangle">
            <a:avLst/>
          </a:prstGeom>
          <a:solidFill>
            <a:srgbClr val="138B69">
              <a:alpha val="6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6" tIns="45719" rIns="91436" bIns="45719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65" b="0" i="0" dirty="0">
              <a:solidFill>
                <a:prstClr val="white"/>
              </a:solidFill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877981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 5"/>
          <p:cNvSpPr/>
          <p:nvPr userDrawn="1"/>
        </p:nvSpPr>
        <p:spPr>
          <a:xfrm flipH="1">
            <a:off x="-15760" y="0"/>
            <a:ext cx="12207760" cy="6858000"/>
          </a:xfrm>
          <a:custGeom>
            <a:avLst/>
            <a:gdLst>
              <a:gd name="connsiteX0" fmla="*/ 0 w 12203820"/>
              <a:gd name="connsiteY0" fmla="*/ 0 h 6858000"/>
              <a:gd name="connsiteX1" fmla="*/ 0 w 12203820"/>
              <a:gd name="connsiteY1" fmla="*/ 6858000 h 6858000"/>
              <a:gd name="connsiteX2" fmla="*/ 12203820 w 12203820"/>
              <a:gd name="connsiteY2" fmla="*/ 6858000 h 6858000"/>
              <a:gd name="connsiteX3" fmla="*/ 12203820 w 12203820"/>
              <a:gd name="connsiteY3" fmla="*/ 577111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03820" h="6858000">
                <a:moveTo>
                  <a:pt x="0" y="0"/>
                </a:moveTo>
                <a:lnTo>
                  <a:pt x="0" y="6858000"/>
                </a:lnTo>
                <a:lnTo>
                  <a:pt x="12203820" y="6858000"/>
                </a:lnTo>
                <a:lnTo>
                  <a:pt x="12203820" y="5771112"/>
                </a:lnTo>
                <a:close/>
              </a:path>
            </a:pathLst>
          </a:custGeom>
          <a:solidFill>
            <a:srgbClr val="DAE8F8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0" i="0" dirty="0">
              <a:solidFill>
                <a:prstClr val="white"/>
              </a:solidFill>
              <a:ea typeface="楷体" panose="02010609060101010101" pitchFamily="49" charset="-122"/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5437006" y="6382741"/>
            <a:ext cx="13179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US" altLang="zh-CN" sz="1100" dirty="0">
                <a:solidFill>
                  <a:prstClr val="white">
                    <a:lumMod val="65000"/>
                  </a:prstClr>
                </a:solidFill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Pharmeyes Co., Ltd.</a:t>
            </a:r>
            <a:endParaRPr lang="zh-CN" altLang="en-US" sz="1100" dirty="0">
              <a:solidFill>
                <a:prstClr val="white">
                  <a:lumMod val="65000"/>
                </a:prstClr>
              </a:solidFill>
              <a:latin typeface="Calibri" panose="020F0502020204030204" pitchFamily="34" charset="0"/>
              <a:ea typeface="楷体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3" name="AutoShape 1"/>
          <p:cNvSpPr/>
          <p:nvPr userDrawn="1"/>
        </p:nvSpPr>
        <p:spPr bwMode="auto">
          <a:xfrm>
            <a:off x="11448289" y="6436649"/>
            <a:ext cx="240611" cy="240610"/>
          </a:xfrm>
          <a:custGeom>
            <a:avLst/>
            <a:gdLst>
              <a:gd name="T0" fmla="*/ 241300 w 21600"/>
              <a:gd name="T1" fmla="*/ 241300 h 21600"/>
              <a:gd name="T2" fmla="*/ 241300 w 21600"/>
              <a:gd name="T3" fmla="*/ 241300 h 21600"/>
              <a:gd name="T4" fmla="*/ 241300 w 21600"/>
              <a:gd name="T5" fmla="*/ 241300 h 21600"/>
              <a:gd name="T6" fmla="*/ 241300 w 21600"/>
              <a:gd name="T7" fmla="*/ 241300 h 216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>
                <a:moveTo>
                  <a:pt x="3363" y="21145"/>
                </a:moveTo>
                <a:cubicBezTo>
                  <a:pt x="2985" y="21447"/>
                  <a:pt x="2524" y="21600"/>
                  <a:pt x="1984" y="21600"/>
                </a:cubicBezTo>
                <a:cubicBezTo>
                  <a:pt x="1444" y="21600"/>
                  <a:pt x="975" y="21444"/>
                  <a:pt x="586" y="21133"/>
                </a:cubicBezTo>
                <a:cubicBezTo>
                  <a:pt x="198" y="20819"/>
                  <a:pt x="0" y="20448"/>
                  <a:pt x="0" y="20013"/>
                </a:cubicBezTo>
                <a:lnTo>
                  <a:pt x="0" y="1583"/>
                </a:lnTo>
                <a:cubicBezTo>
                  <a:pt x="0" y="1154"/>
                  <a:pt x="198" y="780"/>
                  <a:pt x="586" y="466"/>
                </a:cubicBezTo>
                <a:cubicBezTo>
                  <a:pt x="975" y="155"/>
                  <a:pt x="1444" y="0"/>
                  <a:pt x="1984" y="0"/>
                </a:cubicBezTo>
                <a:lnTo>
                  <a:pt x="19637" y="0"/>
                </a:lnTo>
                <a:cubicBezTo>
                  <a:pt x="20177" y="0"/>
                  <a:pt x="20638" y="155"/>
                  <a:pt x="21023" y="466"/>
                </a:cubicBezTo>
                <a:cubicBezTo>
                  <a:pt x="21409" y="780"/>
                  <a:pt x="21600" y="1154"/>
                  <a:pt x="21600" y="1583"/>
                </a:cubicBezTo>
                <a:lnTo>
                  <a:pt x="21600" y="20013"/>
                </a:lnTo>
                <a:cubicBezTo>
                  <a:pt x="21600" y="20448"/>
                  <a:pt x="21409" y="20819"/>
                  <a:pt x="21023" y="21133"/>
                </a:cubicBezTo>
                <a:cubicBezTo>
                  <a:pt x="20638" y="21444"/>
                  <a:pt x="20177" y="21600"/>
                  <a:pt x="19637" y="21600"/>
                </a:cubicBezTo>
                <a:cubicBezTo>
                  <a:pt x="19097" y="21600"/>
                  <a:pt x="18636" y="21447"/>
                  <a:pt x="18258" y="21145"/>
                </a:cubicBezTo>
                <a:lnTo>
                  <a:pt x="10810" y="15192"/>
                </a:lnTo>
                <a:lnTo>
                  <a:pt x="3363" y="21145"/>
                </a:lnTo>
                <a:close/>
              </a:path>
            </a:pathLst>
          </a:custGeom>
          <a:solidFill>
            <a:srgbClr val="5B84B5">
              <a:alpha val="40000"/>
            </a:srgbClr>
          </a:solidFill>
          <a:ln>
            <a:noFill/>
          </a:ln>
          <a:effectLst/>
        </p:spPr>
        <p:txBody>
          <a:bodyPr lIns="0" tIns="36000" rIns="0" bIns="0" anchor="t" anchorCtr="0"/>
          <a:lstStyle/>
          <a:p>
            <a:pPr algn="ctr"/>
            <a:fld id="{AB67340A-C4C9-42A1-B4D6-1634B47947BF}" type="slidenum">
              <a:rPr lang="zh-CN" altLang="en-US" sz="900" b="0" i="0" smtClean="0">
                <a:solidFill>
                  <a:prstClr val="white"/>
                </a:solidFill>
                <a:ea typeface="楷体" panose="02010609060101010101" pitchFamily="49" charset="-122"/>
                <a:cs typeface="Arial" panose="020B0604020202020204" pitchFamily="34" charset="0"/>
              </a:rPr>
              <a:t>‹#›</a:t>
            </a:fld>
            <a:endParaRPr lang="zh-CN" altLang="en-US" sz="900" b="0" i="0" dirty="0">
              <a:solidFill>
                <a:prstClr val="white"/>
              </a:solidFill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副标题 2"/>
          <p:cNvSpPr txBox="1"/>
          <p:nvPr userDrawn="1"/>
        </p:nvSpPr>
        <p:spPr>
          <a:xfrm>
            <a:off x="10160843" y="654798"/>
            <a:ext cx="1522172" cy="3349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4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4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4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dist">
              <a:buFont typeface="Arial" panose="020B0604020202020204" pitchFamily="34" charset="0"/>
              <a:buNone/>
            </a:pPr>
            <a:r>
              <a:rPr lang="zh-CN" altLang="en-US" sz="1000" dirty="0">
                <a:solidFill>
                  <a:srgbClr val="09387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共创健康产业数字智慧</a:t>
            </a: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0645" y="353486"/>
            <a:ext cx="1427979" cy="360753"/>
          </a:xfrm>
          <a:prstGeom prst="rect">
            <a:avLst/>
          </a:prstGeom>
        </p:spPr>
      </p:pic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743712" y="289867"/>
            <a:ext cx="9115955" cy="62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4" name="文本占位符 2"/>
          <p:cNvSpPr>
            <a:spLocks noGrp="1"/>
          </p:cNvSpPr>
          <p:nvPr>
            <p:ph idx="1"/>
          </p:nvPr>
        </p:nvSpPr>
        <p:spPr>
          <a:xfrm>
            <a:off x="743712" y="1207008"/>
            <a:ext cx="10704576" cy="4836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</p:spTree>
    <p:extLst>
      <p:ext uri="{BB962C8B-B14F-4D97-AF65-F5344CB8AC3E}">
        <p14:creationId xmlns:p14="http://schemas.microsoft.com/office/powerpoint/2010/main" val="1510399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 5"/>
          <p:cNvSpPr/>
          <p:nvPr userDrawn="1"/>
        </p:nvSpPr>
        <p:spPr>
          <a:xfrm flipH="1">
            <a:off x="-15760" y="0"/>
            <a:ext cx="12207760" cy="6858000"/>
          </a:xfrm>
          <a:custGeom>
            <a:avLst/>
            <a:gdLst>
              <a:gd name="connsiteX0" fmla="*/ 0 w 12203820"/>
              <a:gd name="connsiteY0" fmla="*/ 0 h 6858000"/>
              <a:gd name="connsiteX1" fmla="*/ 0 w 12203820"/>
              <a:gd name="connsiteY1" fmla="*/ 6858000 h 6858000"/>
              <a:gd name="connsiteX2" fmla="*/ 12203820 w 12203820"/>
              <a:gd name="connsiteY2" fmla="*/ 6858000 h 6858000"/>
              <a:gd name="connsiteX3" fmla="*/ 12203820 w 12203820"/>
              <a:gd name="connsiteY3" fmla="*/ 577111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03820" h="6858000">
                <a:moveTo>
                  <a:pt x="0" y="0"/>
                </a:moveTo>
                <a:lnTo>
                  <a:pt x="0" y="6858000"/>
                </a:lnTo>
                <a:lnTo>
                  <a:pt x="12203820" y="6858000"/>
                </a:lnTo>
                <a:lnTo>
                  <a:pt x="12203820" y="5771112"/>
                </a:lnTo>
                <a:close/>
              </a:path>
            </a:pathLst>
          </a:custGeom>
          <a:solidFill>
            <a:schemeClr val="bg1">
              <a:lumMod val="9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0" i="0" dirty="0">
              <a:solidFill>
                <a:prstClr val="white"/>
              </a:solidFill>
              <a:ea typeface="楷体" panose="02010609060101010101" pitchFamily="49" charset="-122"/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5437006" y="6382741"/>
            <a:ext cx="13179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US" altLang="zh-CN" sz="1100" dirty="0">
                <a:solidFill>
                  <a:prstClr val="white">
                    <a:lumMod val="65000"/>
                  </a:prstClr>
                </a:solidFill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Pharmeyes Co., Ltd.</a:t>
            </a:r>
            <a:endParaRPr lang="zh-CN" altLang="en-US" sz="1100" dirty="0">
              <a:solidFill>
                <a:prstClr val="white">
                  <a:lumMod val="65000"/>
                </a:prstClr>
              </a:solidFill>
              <a:latin typeface="Calibri" panose="020F0502020204030204" pitchFamily="34" charset="0"/>
              <a:ea typeface="楷体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3" name="AutoShape 1"/>
          <p:cNvSpPr/>
          <p:nvPr userDrawn="1"/>
        </p:nvSpPr>
        <p:spPr bwMode="auto">
          <a:xfrm>
            <a:off x="11448289" y="6436649"/>
            <a:ext cx="240611" cy="240610"/>
          </a:xfrm>
          <a:custGeom>
            <a:avLst/>
            <a:gdLst>
              <a:gd name="T0" fmla="*/ 241300 w 21600"/>
              <a:gd name="T1" fmla="*/ 241300 h 21600"/>
              <a:gd name="T2" fmla="*/ 241300 w 21600"/>
              <a:gd name="T3" fmla="*/ 241300 h 21600"/>
              <a:gd name="T4" fmla="*/ 241300 w 21600"/>
              <a:gd name="T5" fmla="*/ 241300 h 21600"/>
              <a:gd name="T6" fmla="*/ 241300 w 21600"/>
              <a:gd name="T7" fmla="*/ 241300 h 216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>
                <a:moveTo>
                  <a:pt x="3363" y="21145"/>
                </a:moveTo>
                <a:cubicBezTo>
                  <a:pt x="2985" y="21447"/>
                  <a:pt x="2524" y="21600"/>
                  <a:pt x="1984" y="21600"/>
                </a:cubicBezTo>
                <a:cubicBezTo>
                  <a:pt x="1444" y="21600"/>
                  <a:pt x="975" y="21444"/>
                  <a:pt x="586" y="21133"/>
                </a:cubicBezTo>
                <a:cubicBezTo>
                  <a:pt x="198" y="20819"/>
                  <a:pt x="0" y="20448"/>
                  <a:pt x="0" y="20013"/>
                </a:cubicBezTo>
                <a:lnTo>
                  <a:pt x="0" y="1583"/>
                </a:lnTo>
                <a:cubicBezTo>
                  <a:pt x="0" y="1154"/>
                  <a:pt x="198" y="780"/>
                  <a:pt x="586" y="466"/>
                </a:cubicBezTo>
                <a:cubicBezTo>
                  <a:pt x="975" y="155"/>
                  <a:pt x="1444" y="0"/>
                  <a:pt x="1984" y="0"/>
                </a:cubicBezTo>
                <a:lnTo>
                  <a:pt x="19637" y="0"/>
                </a:lnTo>
                <a:cubicBezTo>
                  <a:pt x="20177" y="0"/>
                  <a:pt x="20638" y="155"/>
                  <a:pt x="21023" y="466"/>
                </a:cubicBezTo>
                <a:cubicBezTo>
                  <a:pt x="21409" y="780"/>
                  <a:pt x="21600" y="1154"/>
                  <a:pt x="21600" y="1583"/>
                </a:cubicBezTo>
                <a:lnTo>
                  <a:pt x="21600" y="20013"/>
                </a:lnTo>
                <a:cubicBezTo>
                  <a:pt x="21600" y="20448"/>
                  <a:pt x="21409" y="20819"/>
                  <a:pt x="21023" y="21133"/>
                </a:cubicBezTo>
                <a:cubicBezTo>
                  <a:pt x="20638" y="21444"/>
                  <a:pt x="20177" y="21600"/>
                  <a:pt x="19637" y="21600"/>
                </a:cubicBezTo>
                <a:cubicBezTo>
                  <a:pt x="19097" y="21600"/>
                  <a:pt x="18636" y="21447"/>
                  <a:pt x="18258" y="21145"/>
                </a:cubicBezTo>
                <a:lnTo>
                  <a:pt x="10810" y="15192"/>
                </a:lnTo>
                <a:lnTo>
                  <a:pt x="3363" y="21145"/>
                </a:lnTo>
                <a:close/>
              </a:path>
            </a:pathLst>
          </a:custGeom>
          <a:solidFill>
            <a:srgbClr val="5B84B5">
              <a:alpha val="40000"/>
            </a:srgbClr>
          </a:solidFill>
          <a:ln>
            <a:noFill/>
          </a:ln>
          <a:effectLst/>
        </p:spPr>
        <p:txBody>
          <a:bodyPr lIns="0" tIns="36000" rIns="0" bIns="0" anchor="t" anchorCtr="0"/>
          <a:lstStyle/>
          <a:p>
            <a:pPr algn="ctr"/>
            <a:fld id="{AB67340A-C4C9-42A1-B4D6-1634B47947BF}" type="slidenum">
              <a:rPr lang="zh-CN" altLang="en-US" sz="900" b="0" i="0" smtClean="0">
                <a:solidFill>
                  <a:prstClr val="white"/>
                </a:solidFill>
                <a:ea typeface="楷体" panose="02010609060101010101" pitchFamily="49" charset="-122"/>
                <a:cs typeface="Arial" panose="020B0604020202020204" pitchFamily="34" charset="0"/>
              </a:rPr>
              <a:t>‹#›</a:t>
            </a:fld>
            <a:endParaRPr lang="zh-CN" altLang="en-US" sz="900" b="0" i="0" dirty="0">
              <a:solidFill>
                <a:prstClr val="white"/>
              </a:solidFill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副标题 2"/>
          <p:cNvSpPr txBox="1"/>
          <p:nvPr userDrawn="1"/>
        </p:nvSpPr>
        <p:spPr>
          <a:xfrm>
            <a:off x="10160843" y="654798"/>
            <a:ext cx="1522172" cy="3349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4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4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4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dist">
              <a:buFont typeface="Arial" panose="020B0604020202020204" pitchFamily="34" charset="0"/>
              <a:buNone/>
            </a:pPr>
            <a:r>
              <a:rPr lang="zh-CN" altLang="en-US" sz="1000" dirty="0">
                <a:solidFill>
                  <a:srgbClr val="09387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共创健康产业数字智慧</a:t>
            </a: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0645" y="353486"/>
            <a:ext cx="1427979" cy="360753"/>
          </a:xfrm>
          <a:prstGeom prst="rect">
            <a:avLst/>
          </a:prstGeom>
        </p:spPr>
      </p:pic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743712" y="289867"/>
            <a:ext cx="9115955" cy="62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4" name="文本占位符 2"/>
          <p:cNvSpPr>
            <a:spLocks noGrp="1"/>
          </p:cNvSpPr>
          <p:nvPr>
            <p:ph idx="1"/>
          </p:nvPr>
        </p:nvSpPr>
        <p:spPr>
          <a:xfrm>
            <a:off x="743712" y="1207008"/>
            <a:ext cx="10704576" cy="4836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</p:spTree>
    <p:extLst>
      <p:ext uri="{BB962C8B-B14F-4D97-AF65-F5344CB8AC3E}">
        <p14:creationId xmlns:p14="http://schemas.microsoft.com/office/powerpoint/2010/main" val="16049542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30"/>
          <p:cNvSpPr>
            <a:spLocks noChangeArrowheads="1"/>
          </p:cNvSpPr>
          <p:nvPr userDrawn="1"/>
        </p:nvSpPr>
        <p:spPr bwMode="auto">
          <a:xfrm>
            <a:off x="10931085" y="6481334"/>
            <a:ext cx="175251" cy="178676"/>
          </a:xfrm>
          <a:custGeom>
            <a:avLst/>
            <a:gdLst>
              <a:gd name="T0" fmla="*/ 222 w 444"/>
              <a:gd name="T1" fmla="*/ 0 h 454"/>
              <a:gd name="T2" fmla="*/ 222 w 444"/>
              <a:gd name="T3" fmla="*/ 0 h 454"/>
              <a:gd name="T4" fmla="*/ 0 w 444"/>
              <a:gd name="T5" fmla="*/ 222 h 454"/>
              <a:gd name="T6" fmla="*/ 222 w 444"/>
              <a:gd name="T7" fmla="*/ 453 h 454"/>
              <a:gd name="T8" fmla="*/ 443 w 444"/>
              <a:gd name="T9" fmla="*/ 222 h 454"/>
              <a:gd name="T10" fmla="*/ 222 w 444"/>
              <a:gd name="T11" fmla="*/ 0 h 4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44" h="454">
                <a:moveTo>
                  <a:pt x="222" y="0"/>
                </a:moveTo>
                <a:lnTo>
                  <a:pt x="222" y="0"/>
                </a:lnTo>
                <a:cubicBezTo>
                  <a:pt x="35" y="0"/>
                  <a:pt x="0" y="45"/>
                  <a:pt x="0" y="222"/>
                </a:cubicBezTo>
                <a:cubicBezTo>
                  <a:pt x="0" y="408"/>
                  <a:pt x="35" y="453"/>
                  <a:pt x="222" y="453"/>
                </a:cubicBezTo>
                <a:cubicBezTo>
                  <a:pt x="407" y="453"/>
                  <a:pt x="443" y="408"/>
                  <a:pt x="443" y="222"/>
                </a:cubicBezTo>
                <a:cubicBezTo>
                  <a:pt x="443" y="45"/>
                  <a:pt x="407" y="0"/>
                  <a:pt x="222" y="0"/>
                </a:cubicBezTo>
              </a:path>
            </a:pathLst>
          </a:custGeom>
          <a:solidFill>
            <a:schemeClr val="tx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b="0" i="0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" name="Freeform 38"/>
          <p:cNvSpPr>
            <a:spLocks noChangeArrowheads="1"/>
          </p:cNvSpPr>
          <p:nvPr userDrawn="1"/>
        </p:nvSpPr>
        <p:spPr bwMode="auto">
          <a:xfrm>
            <a:off x="10981571" y="6519434"/>
            <a:ext cx="62548" cy="108388"/>
          </a:xfrm>
          <a:custGeom>
            <a:avLst/>
            <a:gdLst>
              <a:gd name="T0" fmla="*/ 124 w 133"/>
              <a:gd name="T1" fmla="*/ 204 h 231"/>
              <a:gd name="T2" fmla="*/ 124 w 133"/>
              <a:gd name="T3" fmla="*/ 204 h 231"/>
              <a:gd name="T4" fmla="*/ 124 w 133"/>
              <a:gd name="T5" fmla="*/ 230 h 231"/>
              <a:gd name="T6" fmla="*/ 97 w 133"/>
              <a:gd name="T7" fmla="*/ 230 h 231"/>
              <a:gd name="T8" fmla="*/ 0 w 133"/>
              <a:gd name="T9" fmla="*/ 133 h 231"/>
              <a:gd name="T10" fmla="*/ 0 w 133"/>
              <a:gd name="T11" fmla="*/ 107 h 231"/>
              <a:gd name="T12" fmla="*/ 97 w 133"/>
              <a:gd name="T13" fmla="*/ 9 h 231"/>
              <a:gd name="T14" fmla="*/ 124 w 133"/>
              <a:gd name="T15" fmla="*/ 9 h 231"/>
              <a:gd name="T16" fmla="*/ 124 w 133"/>
              <a:gd name="T17" fmla="*/ 35 h 231"/>
              <a:gd name="T18" fmla="*/ 44 w 133"/>
              <a:gd name="T19" fmla="*/ 115 h 231"/>
              <a:gd name="T20" fmla="*/ 124 w 133"/>
              <a:gd name="T21" fmla="*/ 204 h 2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33" h="231">
                <a:moveTo>
                  <a:pt x="124" y="204"/>
                </a:moveTo>
                <a:lnTo>
                  <a:pt x="124" y="204"/>
                </a:lnTo>
                <a:cubicBezTo>
                  <a:pt x="132" y="213"/>
                  <a:pt x="132" y="221"/>
                  <a:pt x="124" y="230"/>
                </a:cubicBezTo>
                <a:cubicBezTo>
                  <a:pt x="115" y="230"/>
                  <a:pt x="106" y="230"/>
                  <a:pt x="97" y="230"/>
                </a:cubicBezTo>
                <a:cubicBezTo>
                  <a:pt x="0" y="133"/>
                  <a:pt x="0" y="133"/>
                  <a:pt x="0" y="133"/>
                </a:cubicBezTo>
                <a:cubicBezTo>
                  <a:pt x="0" y="124"/>
                  <a:pt x="0" y="115"/>
                  <a:pt x="0" y="107"/>
                </a:cubicBezTo>
                <a:cubicBezTo>
                  <a:pt x="97" y="9"/>
                  <a:pt x="97" y="9"/>
                  <a:pt x="97" y="9"/>
                </a:cubicBezTo>
                <a:cubicBezTo>
                  <a:pt x="106" y="0"/>
                  <a:pt x="115" y="0"/>
                  <a:pt x="124" y="9"/>
                </a:cubicBezTo>
                <a:cubicBezTo>
                  <a:pt x="132" y="17"/>
                  <a:pt x="132" y="26"/>
                  <a:pt x="124" y="35"/>
                </a:cubicBezTo>
                <a:cubicBezTo>
                  <a:pt x="44" y="115"/>
                  <a:pt x="44" y="115"/>
                  <a:pt x="44" y="115"/>
                </a:cubicBezTo>
                <a:lnTo>
                  <a:pt x="124" y="204"/>
                </a:ln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b="0" i="0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Freeform 30"/>
          <p:cNvSpPr>
            <a:spLocks noChangeArrowheads="1"/>
          </p:cNvSpPr>
          <p:nvPr userDrawn="1"/>
        </p:nvSpPr>
        <p:spPr bwMode="auto">
          <a:xfrm>
            <a:off x="11139161" y="6481115"/>
            <a:ext cx="175251" cy="178676"/>
          </a:xfrm>
          <a:custGeom>
            <a:avLst/>
            <a:gdLst>
              <a:gd name="T0" fmla="*/ 222 w 444"/>
              <a:gd name="T1" fmla="*/ 0 h 454"/>
              <a:gd name="T2" fmla="*/ 222 w 444"/>
              <a:gd name="T3" fmla="*/ 0 h 454"/>
              <a:gd name="T4" fmla="*/ 0 w 444"/>
              <a:gd name="T5" fmla="*/ 222 h 454"/>
              <a:gd name="T6" fmla="*/ 222 w 444"/>
              <a:gd name="T7" fmla="*/ 453 h 454"/>
              <a:gd name="T8" fmla="*/ 443 w 444"/>
              <a:gd name="T9" fmla="*/ 222 h 454"/>
              <a:gd name="T10" fmla="*/ 222 w 444"/>
              <a:gd name="T11" fmla="*/ 0 h 4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44" h="454">
                <a:moveTo>
                  <a:pt x="222" y="0"/>
                </a:moveTo>
                <a:lnTo>
                  <a:pt x="222" y="0"/>
                </a:lnTo>
                <a:cubicBezTo>
                  <a:pt x="35" y="0"/>
                  <a:pt x="0" y="45"/>
                  <a:pt x="0" y="222"/>
                </a:cubicBezTo>
                <a:cubicBezTo>
                  <a:pt x="0" y="408"/>
                  <a:pt x="35" y="453"/>
                  <a:pt x="222" y="453"/>
                </a:cubicBezTo>
                <a:cubicBezTo>
                  <a:pt x="407" y="453"/>
                  <a:pt x="443" y="408"/>
                  <a:pt x="443" y="222"/>
                </a:cubicBezTo>
                <a:cubicBezTo>
                  <a:pt x="443" y="45"/>
                  <a:pt x="407" y="0"/>
                  <a:pt x="222" y="0"/>
                </a:cubicBezTo>
              </a:path>
            </a:pathLst>
          </a:custGeom>
          <a:solidFill>
            <a:schemeClr val="tx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b="0" i="0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3" name="Freeform 38"/>
          <p:cNvSpPr>
            <a:spLocks noChangeArrowheads="1"/>
          </p:cNvSpPr>
          <p:nvPr userDrawn="1"/>
        </p:nvSpPr>
        <p:spPr bwMode="auto">
          <a:xfrm flipH="1">
            <a:off x="11185501" y="6519215"/>
            <a:ext cx="62219" cy="108388"/>
          </a:xfrm>
          <a:custGeom>
            <a:avLst/>
            <a:gdLst>
              <a:gd name="T0" fmla="*/ 124 w 133"/>
              <a:gd name="T1" fmla="*/ 204 h 231"/>
              <a:gd name="T2" fmla="*/ 124 w 133"/>
              <a:gd name="T3" fmla="*/ 204 h 231"/>
              <a:gd name="T4" fmla="*/ 124 w 133"/>
              <a:gd name="T5" fmla="*/ 230 h 231"/>
              <a:gd name="T6" fmla="*/ 97 w 133"/>
              <a:gd name="T7" fmla="*/ 230 h 231"/>
              <a:gd name="T8" fmla="*/ 0 w 133"/>
              <a:gd name="T9" fmla="*/ 133 h 231"/>
              <a:gd name="T10" fmla="*/ 0 w 133"/>
              <a:gd name="T11" fmla="*/ 107 h 231"/>
              <a:gd name="T12" fmla="*/ 97 w 133"/>
              <a:gd name="T13" fmla="*/ 9 h 231"/>
              <a:gd name="T14" fmla="*/ 124 w 133"/>
              <a:gd name="T15" fmla="*/ 9 h 231"/>
              <a:gd name="T16" fmla="*/ 124 w 133"/>
              <a:gd name="T17" fmla="*/ 35 h 231"/>
              <a:gd name="T18" fmla="*/ 44 w 133"/>
              <a:gd name="T19" fmla="*/ 115 h 231"/>
              <a:gd name="T20" fmla="*/ 124 w 133"/>
              <a:gd name="T21" fmla="*/ 204 h 2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33" h="231">
                <a:moveTo>
                  <a:pt x="124" y="204"/>
                </a:moveTo>
                <a:lnTo>
                  <a:pt x="124" y="204"/>
                </a:lnTo>
                <a:cubicBezTo>
                  <a:pt x="132" y="213"/>
                  <a:pt x="132" y="221"/>
                  <a:pt x="124" y="230"/>
                </a:cubicBezTo>
                <a:cubicBezTo>
                  <a:pt x="115" y="230"/>
                  <a:pt x="106" y="230"/>
                  <a:pt x="97" y="230"/>
                </a:cubicBezTo>
                <a:cubicBezTo>
                  <a:pt x="0" y="133"/>
                  <a:pt x="0" y="133"/>
                  <a:pt x="0" y="133"/>
                </a:cubicBezTo>
                <a:cubicBezTo>
                  <a:pt x="0" y="124"/>
                  <a:pt x="0" y="115"/>
                  <a:pt x="0" y="107"/>
                </a:cubicBezTo>
                <a:cubicBezTo>
                  <a:pt x="97" y="9"/>
                  <a:pt x="97" y="9"/>
                  <a:pt x="97" y="9"/>
                </a:cubicBezTo>
                <a:cubicBezTo>
                  <a:pt x="106" y="0"/>
                  <a:pt x="115" y="0"/>
                  <a:pt x="124" y="9"/>
                </a:cubicBezTo>
                <a:cubicBezTo>
                  <a:pt x="132" y="17"/>
                  <a:pt x="132" y="26"/>
                  <a:pt x="124" y="35"/>
                </a:cubicBezTo>
                <a:cubicBezTo>
                  <a:pt x="44" y="115"/>
                  <a:pt x="44" y="115"/>
                  <a:pt x="44" y="115"/>
                </a:cubicBezTo>
                <a:lnTo>
                  <a:pt x="124" y="204"/>
                </a:ln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 b="0" i="0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165952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10054780" y="438197"/>
            <a:ext cx="1630468" cy="643728"/>
            <a:chOff x="10367945" y="398052"/>
            <a:chExt cx="1498753" cy="591724"/>
          </a:xfrm>
        </p:grpSpPr>
        <p:sp>
          <p:nvSpPr>
            <p:cNvPr id="4" name="副标题 2"/>
            <p:cNvSpPr txBox="1"/>
            <p:nvPr userDrawn="1"/>
          </p:nvSpPr>
          <p:spPr>
            <a:xfrm>
              <a:off x="10367945" y="654798"/>
              <a:ext cx="1498753" cy="334978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1400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1400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defRPr>
              </a:lvl2pPr>
              <a:lvl3pPr marL="1143000" indent="-228600" algn="l" defTabSz="914400" rtl="0" eaLnBrk="1" latinLnBrk="0" hangingPunct="1">
                <a:lnSpc>
                  <a:spcPct val="1400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dist">
                <a:buFont typeface="Arial" panose="020B0604020202020204" pitchFamily="34" charset="0"/>
                <a:buNone/>
              </a:pPr>
              <a:r>
                <a:rPr lang="zh-CN" altLang="en-US" sz="1000" dirty="0">
                  <a:solidFill>
                    <a:srgbClr val="093876"/>
                  </a:solidFill>
                </a:rPr>
                <a:t>共创健康产业数字智慧</a:t>
              </a:r>
            </a:p>
          </p:txBody>
        </p:sp>
        <p:pic>
          <p:nvPicPr>
            <p:cNvPr id="5" name="图片 4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423380" y="398052"/>
              <a:ext cx="1411509" cy="283223"/>
            </a:xfrm>
            <a:prstGeom prst="rect">
              <a:avLst/>
            </a:prstGeom>
          </p:spPr>
        </p:pic>
      </p:grp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428" y="289765"/>
            <a:ext cx="2697670" cy="971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4192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 (colo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949" y="1138299"/>
            <a:ext cx="10799866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981949" y="181938"/>
            <a:ext cx="10799866" cy="86400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>
            <a:off x="11122679" y="6617933"/>
            <a:ext cx="489014" cy="108000"/>
          </a:xfrm>
          <a:prstGeom prst="rect">
            <a:avLst/>
          </a:prstGeom>
        </p:spPr>
        <p:txBody>
          <a:bodyPr/>
          <a:lstStyle>
            <a:lvl1pPr>
              <a:defRPr b="0" i="0">
                <a:ea typeface="楷体" panose="02010609060101010101" pitchFamily="49" charset="-122"/>
              </a:defRPr>
            </a:lvl1pPr>
          </a:lstStyle>
          <a:p>
            <a:fld id="{1390A0AF-9604-4A12-AB72-3E9341D05E64}" type="datetime1">
              <a:rPr lang="en-US" smtClean="0"/>
              <a:t>6/2/2026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>
          <a:xfrm>
            <a:off x="195869" y="6617933"/>
            <a:ext cx="392377" cy="108000"/>
          </a:xfrm>
          <a:prstGeom prst="rect">
            <a:avLst/>
          </a:prstGeom>
        </p:spPr>
        <p:txBody>
          <a:bodyPr/>
          <a:lstStyle>
            <a:lvl1pPr>
              <a:defRPr b="0" i="0">
                <a:ea typeface="楷体" panose="02010609060101010101" pitchFamily="49" charset="-122"/>
              </a:defRPr>
            </a:lvl1pPr>
          </a:lstStyle>
          <a:p>
            <a:fld id="{EEAD9179-7A6B-4268-BEB2-F3B8EB06115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 bwMode="gray">
          <a:xfrm>
            <a:off x="974799" y="6617933"/>
            <a:ext cx="8641125" cy="10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>
              <a:defRPr sz="700">
                <a:solidFill>
                  <a:schemeClr val="accent1"/>
                </a:solidFill>
                <a:latin typeface="Calibri" panose="020F0502020204030204" pitchFamily="34" charset="0"/>
                <a:ea typeface="楷体" panose="02010609060101010101" pitchFamily="49" charset="-122"/>
              </a:defRPr>
            </a:lvl1pPr>
            <a:lvl2pPr marL="0" indent="0">
              <a:defRPr sz="700">
                <a:solidFill>
                  <a:schemeClr val="accent1"/>
                </a:solidFill>
              </a:defRPr>
            </a:lvl2pPr>
            <a:lvl3pPr marL="0" indent="0">
              <a:defRPr sz="700">
                <a:solidFill>
                  <a:schemeClr val="accent1"/>
                </a:solidFill>
              </a:defRPr>
            </a:lvl3pPr>
            <a:lvl4pPr marL="0" indent="0">
              <a:defRPr sz="700">
                <a:solidFill>
                  <a:schemeClr val="accent1"/>
                </a:solidFill>
              </a:defRPr>
            </a:lvl4pPr>
            <a:lvl5pPr marL="0" indent="0">
              <a:defRPr sz="700">
                <a:solidFill>
                  <a:schemeClr val="accent1"/>
                </a:solidFill>
              </a:defRPr>
            </a:lvl5pPr>
            <a:lvl6pPr marL="0" indent="0">
              <a:defRPr sz="700">
                <a:solidFill>
                  <a:schemeClr val="accent1"/>
                </a:solidFill>
              </a:defRPr>
            </a:lvl6pPr>
            <a:lvl7pPr marL="0" indent="0">
              <a:defRPr sz="700">
                <a:solidFill>
                  <a:schemeClr val="accent1"/>
                </a:solidFill>
              </a:defRPr>
            </a:lvl7pPr>
            <a:lvl8pPr marL="0" indent="0">
              <a:defRPr sz="700">
                <a:solidFill>
                  <a:schemeClr val="accent1"/>
                </a:solidFill>
              </a:defRPr>
            </a:lvl8pPr>
            <a:lvl9pPr marL="0" indent="0">
              <a:defRPr sz="700">
                <a:solidFill>
                  <a:schemeClr val="accent1"/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9513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1853743" y="7413585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5357743" y="7413585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10119343" y="7413585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8007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版式一-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235547" y="2117145"/>
            <a:ext cx="5260556" cy="1517360"/>
          </a:xfrm>
        </p:spPr>
        <p:txBody>
          <a:bodyPr anchor="t" anchorCtr="0">
            <a:noAutofit/>
          </a:bodyPr>
          <a:lstStyle>
            <a:lvl1pPr algn="l">
              <a:lnSpc>
                <a:spcPct val="150000"/>
              </a:lnSpc>
              <a:defRPr sz="3600" b="1">
                <a:solidFill>
                  <a:srgbClr val="3B568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9648313" y="942152"/>
            <a:ext cx="1847791" cy="672032"/>
            <a:chOff x="10191712" y="380592"/>
            <a:chExt cx="1674986" cy="609184"/>
          </a:xfrm>
        </p:grpSpPr>
        <p:pic>
          <p:nvPicPr>
            <p:cNvPr id="10" name="Picture 21"/>
            <p:cNvPicPr>
              <a:picLocks noChangeAspect="1" noChangeArrowheads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10240787" y="380592"/>
              <a:ext cx="1526145" cy="2899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副标题 2"/>
            <p:cNvSpPr txBox="1">
              <a:spLocks/>
            </p:cNvSpPr>
            <p:nvPr userDrawn="1"/>
          </p:nvSpPr>
          <p:spPr>
            <a:xfrm>
              <a:off x="10191712" y="654798"/>
              <a:ext cx="1674986" cy="334978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1400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1400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defRPr>
              </a:lvl2pPr>
              <a:lvl3pPr marL="1143000" indent="-228600" algn="l" defTabSz="914400" rtl="0" eaLnBrk="1" latinLnBrk="0" hangingPunct="1">
                <a:lnSpc>
                  <a:spcPct val="1400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dist" fontAlgn="base">
                <a:spcAft>
                  <a:spcPct val="0"/>
                </a:spcAft>
                <a:buFont typeface="Arial" panose="020B0604020202020204" pitchFamily="34" charset="0"/>
                <a:buNone/>
              </a:pPr>
              <a:r>
                <a:rPr lang="zh-CN" altLang="en-US" sz="11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共创健康产业数字智慧</a:t>
              </a:r>
            </a:p>
          </p:txBody>
        </p:sp>
      </p:grpSp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50509"/>
          <a:stretch/>
        </p:blipFill>
        <p:spPr>
          <a:xfrm>
            <a:off x="9981283" y="3720384"/>
            <a:ext cx="2203373" cy="2636349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19243" y="0"/>
            <a:ext cx="6520115" cy="6858000"/>
          </a:xfrm>
          <a:custGeom>
            <a:avLst/>
            <a:gdLst>
              <a:gd name="connsiteX0" fmla="*/ 0 w 6520115"/>
              <a:gd name="connsiteY0" fmla="*/ 0 h 6858000"/>
              <a:gd name="connsiteX1" fmla="*/ 3570358 w 6520115"/>
              <a:gd name="connsiteY1" fmla="*/ 0 h 6858000"/>
              <a:gd name="connsiteX2" fmla="*/ 3654782 w 6520115"/>
              <a:gd name="connsiteY2" fmla="*/ 0 h 6858000"/>
              <a:gd name="connsiteX3" fmla="*/ 6520115 w 6520115"/>
              <a:gd name="connsiteY3" fmla="*/ 0 h 6858000"/>
              <a:gd name="connsiteX4" fmla="*/ 4130530 w 6520115"/>
              <a:gd name="connsiteY4" fmla="*/ 6858000 h 6858000"/>
              <a:gd name="connsiteX5" fmla="*/ 0 w 652011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20115" h="6858000">
                <a:moveTo>
                  <a:pt x="0" y="0"/>
                </a:moveTo>
                <a:lnTo>
                  <a:pt x="3570358" y="0"/>
                </a:lnTo>
                <a:lnTo>
                  <a:pt x="3654782" y="0"/>
                </a:lnTo>
                <a:lnTo>
                  <a:pt x="6520115" y="0"/>
                </a:lnTo>
                <a:lnTo>
                  <a:pt x="413053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3" name="平行四边形 12"/>
          <p:cNvSpPr/>
          <p:nvPr userDrawn="1"/>
        </p:nvSpPr>
        <p:spPr>
          <a:xfrm>
            <a:off x="5960125" y="0"/>
            <a:ext cx="969819" cy="1553379"/>
          </a:xfrm>
          <a:prstGeom prst="parallelogram">
            <a:avLst>
              <a:gd name="adj" fmla="val 56980"/>
            </a:avLst>
          </a:prstGeom>
          <a:solidFill>
            <a:srgbClr val="2053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prstClr val="white"/>
              </a:solidFill>
            </a:endParaRPr>
          </a:p>
        </p:txBody>
      </p:sp>
      <p:sp>
        <p:nvSpPr>
          <p:cNvPr id="14" name="平行四边形 13"/>
          <p:cNvSpPr/>
          <p:nvPr userDrawn="1"/>
        </p:nvSpPr>
        <p:spPr>
          <a:xfrm>
            <a:off x="3399004" y="6070293"/>
            <a:ext cx="639597" cy="787707"/>
          </a:xfrm>
          <a:prstGeom prst="parallelogram">
            <a:avLst>
              <a:gd name="adj" fmla="val 43539"/>
            </a:avLst>
          </a:prstGeom>
          <a:solidFill>
            <a:srgbClr val="45C1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prstClr val="white"/>
              </a:solidFill>
            </a:endParaRPr>
          </a:p>
        </p:txBody>
      </p:sp>
      <p:cxnSp>
        <p:nvCxnSpPr>
          <p:cNvPr id="16" name="直接连接符 15"/>
          <p:cNvCxnSpPr/>
          <p:nvPr userDrawn="1"/>
        </p:nvCxnSpPr>
        <p:spPr>
          <a:xfrm flipH="1">
            <a:off x="4123293" y="2012855"/>
            <a:ext cx="1696599" cy="4856163"/>
          </a:xfrm>
          <a:prstGeom prst="line">
            <a:avLst/>
          </a:prstGeom>
          <a:ln w="19050">
            <a:solidFill>
              <a:srgbClr val="2053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 userDrawn="1"/>
        </p:nvSpPr>
        <p:spPr>
          <a:xfrm>
            <a:off x="9962041" y="3602037"/>
            <a:ext cx="2229961" cy="2979723"/>
          </a:xfrm>
          <a:prstGeom prst="rect">
            <a:avLst/>
          </a:prstGeom>
          <a:solidFill>
            <a:schemeClr val="bg1"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45687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4" y="207528"/>
            <a:ext cx="8229593" cy="623416"/>
          </a:xfrm>
        </p:spPr>
        <p:txBody>
          <a:bodyPr>
            <a:normAutofit/>
          </a:bodyPr>
          <a:lstStyle>
            <a:lvl1pPr algn="ctr">
              <a:defRPr sz="1800" b="1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>
          <a:xfrm>
            <a:off x="441744" y="682341"/>
            <a:ext cx="11308512" cy="30245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400"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780288" y="1197867"/>
            <a:ext cx="10594848" cy="4948935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1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>
              <a:lnSpc>
                <a:spcPct val="150000"/>
              </a:lnSpc>
              <a:defRPr sz="12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>
              <a:lnSpc>
                <a:spcPct val="150000"/>
              </a:lnSpc>
              <a:defRPr sz="11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3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</p:txBody>
      </p:sp>
    </p:spTree>
    <p:extLst>
      <p:ext uri="{BB962C8B-B14F-4D97-AF65-F5344CB8AC3E}">
        <p14:creationId xmlns:p14="http://schemas.microsoft.com/office/powerpoint/2010/main" val="1777433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9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5" Type="http://schemas.openxmlformats.org/officeDocument/2006/relationships/image" Target="../media/image8.png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31611" y="289867"/>
            <a:ext cx="9115954" cy="62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17588" y="1207008"/>
            <a:ext cx="11009548" cy="4836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  <p:sp>
        <p:nvSpPr>
          <p:cNvPr id="9" name="文本框 8"/>
          <p:cNvSpPr txBox="1"/>
          <p:nvPr userDrawn="1"/>
        </p:nvSpPr>
        <p:spPr>
          <a:xfrm>
            <a:off x="5362467" y="6382741"/>
            <a:ext cx="146706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US" altLang="zh-CN" sz="1100" dirty="0">
                <a:solidFill>
                  <a:prstClr val="white">
                    <a:lumMod val="65000"/>
                  </a:prstClr>
                </a:solidFill>
                <a:cs typeface="Arial" panose="020B0604020202020204" pitchFamily="34" charset="0"/>
              </a:rPr>
              <a:t>Pharmeyes Co., Ltd.</a:t>
            </a:r>
            <a:endParaRPr lang="zh-CN" altLang="en-US" sz="1100" dirty="0">
              <a:solidFill>
                <a:prstClr val="white">
                  <a:lumMod val="65000"/>
                </a:prstClr>
              </a:solidFill>
              <a:cs typeface="Arial" panose="020B0604020202020204" pitchFamily="34" charset="0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C4DE6516-B5F7-4E2E-9BC8-6BB9B462D9C4}"/>
              </a:ext>
            </a:extLst>
          </p:cNvPr>
          <p:cNvGrpSpPr/>
          <p:nvPr userDrawn="1"/>
        </p:nvGrpSpPr>
        <p:grpSpPr>
          <a:xfrm>
            <a:off x="10395849" y="419066"/>
            <a:ext cx="1452004" cy="570710"/>
            <a:chOff x="10175132" y="419066"/>
            <a:chExt cx="1452004" cy="570710"/>
          </a:xfrm>
        </p:grpSpPr>
        <p:sp>
          <p:nvSpPr>
            <p:cNvPr id="12" name="副标题 2"/>
            <p:cNvSpPr txBox="1"/>
            <p:nvPr userDrawn="1"/>
          </p:nvSpPr>
          <p:spPr>
            <a:xfrm>
              <a:off x="10175132" y="654798"/>
              <a:ext cx="1452004" cy="334978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1400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1400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defRPr>
              </a:lvl2pPr>
              <a:lvl3pPr marL="1143000" indent="-228600" algn="l" defTabSz="914400" rtl="0" eaLnBrk="1" latinLnBrk="0" hangingPunct="1">
                <a:lnSpc>
                  <a:spcPct val="1400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dist">
                <a:buFont typeface="Arial" panose="020B0604020202020204" pitchFamily="34" charset="0"/>
                <a:buNone/>
              </a:pPr>
              <a:r>
                <a:rPr lang="zh-CN" altLang="en-US" sz="950" dirty="0">
                  <a:solidFill>
                    <a:srgbClr val="093876"/>
                  </a:solidFill>
                </a:rPr>
                <a:t>共创健康产业数字智慧</a:t>
              </a:r>
            </a:p>
          </p:txBody>
        </p:sp>
        <p:pic>
          <p:nvPicPr>
            <p:cNvPr id="5" name="图片 4"/>
            <p:cNvPicPr>
              <a:picLocks noChangeAspect="1"/>
            </p:cNvPicPr>
            <p:nvPr userDrawn="1"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252477" y="419066"/>
              <a:ext cx="1297474" cy="260342"/>
            </a:xfrm>
            <a:prstGeom prst="rect">
              <a:avLst/>
            </a:prstGeom>
          </p:spPr>
        </p:pic>
      </p:grpSp>
      <p:sp>
        <p:nvSpPr>
          <p:cNvPr id="13" name="AutoShape 1"/>
          <p:cNvSpPr/>
          <p:nvPr userDrawn="1"/>
        </p:nvSpPr>
        <p:spPr bwMode="auto">
          <a:xfrm>
            <a:off x="11448288" y="6382741"/>
            <a:ext cx="294518" cy="294518"/>
          </a:xfrm>
          <a:custGeom>
            <a:avLst/>
            <a:gdLst>
              <a:gd name="T0" fmla="*/ 241300 w 21600"/>
              <a:gd name="T1" fmla="*/ 241300 h 21600"/>
              <a:gd name="T2" fmla="*/ 241300 w 21600"/>
              <a:gd name="T3" fmla="*/ 241300 h 21600"/>
              <a:gd name="T4" fmla="*/ 241300 w 21600"/>
              <a:gd name="T5" fmla="*/ 241300 h 21600"/>
              <a:gd name="T6" fmla="*/ 241300 w 21600"/>
              <a:gd name="T7" fmla="*/ 241300 h 216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>
                <a:moveTo>
                  <a:pt x="3363" y="21145"/>
                </a:moveTo>
                <a:cubicBezTo>
                  <a:pt x="2985" y="21447"/>
                  <a:pt x="2524" y="21600"/>
                  <a:pt x="1984" y="21600"/>
                </a:cubicBezTo>
                <a:cubicBezTo>
                  <a:pt x="1444" y="21600"/>
                  <a:pt x="975" y="21444"/>
                  <a:pt x="586" y="21133"/>
                </a:cubicBezTo>
                <a:cubicBezTo>
                  <a:pt x="198" y="20819"/>
                  <a:pt x="0" y="20448"/>
                  <a:pt x="0" y="20013"/>
                </a:cubicBezTo>
                <a:lnTo>
                  <a:pt x="0" y="1583"/>
                </a:lnTo>
                <a:cubicBezTo>
                  <a:pt x="0" y="1154"/>
                  <a:pt x="198" y="780"/>
                  <a:pt x="586" y="466"/>
                </a:cubicBezTo>
                <a:cubicBezTo>
                  <a:pt x="975" y="155"/>
                  <a:pt x="1444" y="0"/>
                  <a:pt x="1984" y="0"/>
                </a:cubicBezTo>
                <a:lnTo>
                  <a:pt x="19637" y="0"/>
                </a:lnTo>
                <a:cubicBezTo>
                  <a:pt x="20177" y="0"/>
                  <a:pt x="20638" y="155"/>
                  <a:pt x="21023" y="466"/>
                </a:cubicBezTo>
                <a:cubicBezTo>
                  <a:pt x="21409" y="780"/>
                  <a:pt x="21600" y="1154"/>
                  <a:pt x="21600" y="1583"/>
                </a:cubicBezTo>
                <a:lnTo>
                  <a:pt x="21600" y="20013"/>
                </a:lnTo>
                <a:cubicBezTo>
                  <a:pt x="21600" y="20448"/>
                  <a:pt x="21409" y="20819"/>
                  <a:pt x="21023" y="21133"/>
                </a:cubicBezTo>
                <a:cubicBezTo>
                  <a:pt x="20638" y="21444"/>
                  <a:pt x="20177" y="21600"/>
                  <a:pt x="19637" y="21600"/>
                </a:cubicBezTo>
                <a:cubicBezTo>
                  <a:pt x="19097" y="21600"/>
                  <a:pt x="18636" y="21447"/>
                  <a:pt x="18258" y="21145"/>
                </a:cubicBezTo>
                <a:lnTo>
                  <a:pt x="10810" y="15192"/>
                </a:lnTo>
                <a:lnTo>
                  <a:pt x="3363" y="211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lIns="0" tIns="36000" rIns="0" bIns="0" anchor="t" anchorCtr="0"/>
          <a:lstStyle/>
          <a:p>
            <a:pPr algn="ctr"/>
            <a:fld id="{AB67340A-C4C9-42A1-B4D6-1634B47947BF}" type="slidenum">
              <a:rPr lang="zh-CN" altLang="en-US" sz="900">
                <a:solidFill>
                  <a:prstClr val="black">
                    <a:lumMod val="75000"/>
                    <a:lumOff val="25000"/>
                  </a:prstClr>
                </a:solidFill>
                <a:cs typeface="Arial" panose="020B0604020202020204" pitchFamily="34" charset="0"/>
              </a:rPr>
              <a:pPr algn="ctr"/>
              <a:t>‹#›</a:t>
            </a:fld>
            <a:endParaRPr lang="zh-CN" altLang="en-US" sz="900" dirty="0">
              <a:solidFill>
                <a:prstClr val="black">
                  <a:lumMod val="75000"/>
                  <a:lumOff val="25000"/>
                </a:prstClr>
              </a:solidFill>
              <a:cs typeface="Arial" panose="020B0604020202020204" pitchFamily="34" charset="0"/>
            </a:endParaRPr>
          </a:p>
        </p:txBody>
      </p:sp>
      <p:sp>
        <p:nvSpPr>
          <p:cNvPr id="16" name="矩形 15"/>
          <p:cNvSpPr/>
          <p:nvPr userDrawn="1"/>
        </p:nvSpPr>
        <p:spPr>
          <a:xfrm rot="5400000" flipV="1">
            <a:off x="-187486" y="496470"/>
            <a:ext cx="585183" cy="210209"/>
          </a:xfrm>
          <a:prstGeom prst="rect">
            <a:avLst/>
          </a:prstGeom>
          <a:gradFill>
            <a:gsLst>
              <a:gs pos="0">
                <a:srgbClr val="00176D"/>
              </a:gs>
              <a:gs pos="100000">
                <a:srgbClr val="005AB4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6772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89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4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4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4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 9"/>
          <p:cNvSpPr/>
          <p:nvPr/>
        </p:nvSpPr>
        <p:spPr>
          <a:xfrm rot="5400000" flipV="1">
            <a:off x="11125801" y="227161"/>
            <a:ext cx="1282262" cy="827959"/>
          </a:xfrm>
          <a:custGeom>
            <a:avLst/>
            <a:gdLst>
              <a:gd name="connsiteX0" fmla="*/ 0 w 3207124"/>
              <a:gd name="connsiteY0" fmla="*/ 1006393 h 2070846"/>
              <a:gd name="connsiteX1" fmla="*/ 0 w 3207124"/>
              <a:gd name="connsiteY1" fmla="*/ 2070846 h 2070846"/>
              <a:gd name="connsiteX2" fmla="*/ 3207124 w 3207124"/>
              <a:gd name="connsiteY2" fmla="*/ 2070846 h 2070846"/>
              <a:gd name="connsiteX3" fmla="*/ 1048871 w 3207124"/>
              <a:gd name="connsiteY3" fmla="*/ 0 h 2070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7124" h="2070846">
                <a:moveTo>
                  <a:pt x="0" y="1006393"/>
                </a:moveTo>
                <a:lnTo>
                  <a:pt x="0" y="2070846"/>
                </a:lnTo>
                <a:lnTo>
                  <a:pt x="3207124" y="2070846"/>
                </a:lnTo>
                <a:lnTo>
                  <a:pt x="1048871" y="0"/>
                </a:lnTo>
                <a:close/>
              </a:path>
            </a:pathLst>
          </a:cu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1" rIns="68580" bIns="34291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015">
              <a:solidFill>
                <a:prstClr val="white"/>
              </a:solidFill>
              <a:latin typeface="Calibri" panose="020F0502020204030204" pitchFamily="34" charset="0"/>
              <a:ea typeface="楷体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743712" y="289867"/>
            <a:ext cx="9115955" cy="62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43712" y="1207008"/>
            <a:ext cx="10704576" cy="4836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  <p:sp>
        <p:nvSpPr>
          <p:cNvPr id="11" name="矩形 10"/>
          <p:cNvSpPr/>
          <p:nvPr/>
        </p:nvSpPr>
        <p:spPr>
          <a:xfrm rot="10800000" flipV="1">
            <a:off x="-12" y="327203"/>
            <a:ext cx="230831" cy="510690"/>
          </a:xfrm>
          <a:prstGeom prst="rect">
            <a:avLst/>
          </a:prstGeom>
          <a:solidFill>
            <a:srgbClr val="0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1" rIns="68580" bIns="34291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015">
              <a:solidFill>
                <a:prstClr val="white"/>
              </a:solidFill>
              <a:latin typeface="Calibri" panose="020F0502020204030204" pitchFamily="34" charset="0"/>
              <a:ea typeface="楷体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3" name="AutoShape 1"/>
          <p:cNvSpPr/>
          <p:nvPr/>
        </p:nvSpPr>
        <p:spPr bwMode="auto">
          <a:xfrm>
            <a:off x="11448289" y="6436649"/>
            <a:ext cx="240611" cy="240610"/>
          </a:xfrm>
          <a:custGeom>
            <a:avLst/>
            <a:gdLst>
              <a:gd name="T0" fmla="*/ 241300 w 21600"/>
              <a:gd name="T1" fmla="*/ 241300 h 21600"/>
              <a:gd name="T2" fmla="*/ 241300 w 21600"/>
              <a:gd name="T3" fmla="*/ 241300 h 21600"/>
              <a:gd name="T4" fmla="*/ 241300 w 21600"/>
              <a:gd name="T5" fmla="*/ 241300 h 21600"/>
              <a:gd name="T6" fmla="*/ 241300 w 21600"/>
              <a:gd name="T7" fmla="*/ 241300 h 216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>
                <a:moveTo>
                  <a:pt x="3363" y="21145"/>
                </a:moveTo>
                <a:cubicBezTo>
                  <a:pt x="2985" y="21447"/>
                  <a:pt x="2524" y="21600"/>
                  <a:pt x="1984" y="21600"/>
                </a:cubicBezTo>
                <a:cubicBezTo>
                  <a:pt x="1444" y="21600"/>
                  <a:pt x="975" y="21444"/>
                  <a:pt x="586" y="21133"/>
                </a:cubicBezTo>
                <a:cubicBezTo>
                  <a:pt x="198" y="20819"/>
                  <a:pt x="0" y="20448"/>
                  <a:pt x="0" y="20013"/>
                </a:cubicBezTo>
                <a:lnTo>
                  <a:pt x="0" y="1583"/>
                </a:lnTo>
                <a:cubicBezTo>
                  <a:pt x="0" y="1154"/>
                  <a:pt x="198" y="780"/>
                  <a:pt x="586" y="466"/>
                </a:cubicBezTo>
                <a:cubicBezTo>
                  <a:pt x="975" y="155"/>
                  <a:pt x="1444" y="0"/>
                  <a:pt x="1984" y="0"/>
                </a:cubicBezTo>
                <a:lnTo>
                  <a:pt x="19637" y="0"/>
                </a:lnTo>
                <a:cubicBezTo>
                  <a:pt x="20177" y="0"/>
                  <a:pt x="20638" y="155"/>
                  <a:pt x="21023" y="466"/>
                </a:cubicBezTo>
                <a:cubicBezTo>
                  <a:pt x="21409" y="780"/>
                  <a:pt x="21600" y="1154"/>
                  <a:pt x="21600" y="1583"/>
                </a:cubicBezTo>
                <a:lnTo>
                  <a:pt x="21600" y="20013"/>
                </a:lnTo>
                <a:cubicBezTo>
                  <a:pt x="21600" y="20448"/>
                  <a:pt x="21409" y="20819"/>
                  <a:pt x="21023" y="21133"/>
                </a:cubicBezTo>
                <a:cubicBezTo>
                  <a:pt x="20638" y="21444"/>
                  <a:pt x="20177" y="21600"/>
                  <a:pt x="19637" y="21600"/>
                </a:cubicBezTo>
                <a:cubicBezTo>
                  <a:pt x="19097" y="21600"/>
                  <a:pt x="18636" y="21447"/>
                  <a:pt x="18258" y="21145"/>
                </a:cubicBezTo>
                <a:lnTo>
                  <a:pt x="10810" y="15192"/>
                </a:lnTo>
                <a:lnTo>
                  <a:pt x="3363" y="21145"/>
                </a:lnTo>
                <a:close/>
              </a:path>
            </a:pathLst>
          </a:custGeom>
          <a:solidFill>
            <a:srgbClr val="5B84B5">
              <a:alpha val="40000"/>
            </a:srgbClr>
          </a:solidFill>
          <a:ln>
            <a:noFill/>
          </a:ln>
          <a:effectLst/>
        </p:spPr>
        <p:txBody>
          <a:bodyPr lIns="0" tIns="36000" rIns="0" bIns="0" anchor="t" anchorCtr="0"/>
          <a:lstStyle/>
          <a:p>
            <a:pPr algn="ctr"/>
            <a:fld id="{AB67340A-C4C9-42A1-B4D6-1634B47947BF}" type="slidenum">
              <a:rPr lang="zh-CN" altLang="en-US" sz="900" smtClean="0">
                <a:solidFill>
                  <a:prstClr val="white"/>
                </a:solidFill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‹#›</a:t>
            </a:fld>
            <a:endParaRPr lang="zh-CN" altLang="en-US" sz="900" dirty="0">
              <a:solidFill>
                <a:prstClr val="white"/>
              </a:solidFill>
              <a:latin typeface="Calibri" panose="020F0502020204030204" pitchFamily="34" charset="0"/>
              <a:ea typeface="楷体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2" name="副标题 2"/>
          <p:cNvSpPr txBox="1"/>
          <p:nvPr/>
        </p:nvSpPr>
        <p:spPr>
          <a:xfrm>
            <a:off x="10160843" y="654798"/>
            <a:ext cx="1522172" cy="3349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4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4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4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dist">
              <a:buFont typeface="Arial" panose="020B0604020202020204" pitchFamily="34" charset="0"/>
              <a:buNone/>
            </a:pPr>
            <a:r>
              <a:rPr lang="zh-CN" altLang="en-US" sz="1000" dirty="0">
                <a:solidFill>
                  <a:srgbClr val="093876"/>
                </a:solidFill>
                <a:latin typeface="+mn-ea"/>
                <a:ea typeface="+mn-ea"/>
                <a:cs typeface="Calibri" panose="020F0502020204030204" pitchFamily="34" charset="0"/>
              </a:rPr>
              <a:t>共创健康产业数字智慧</a:t>
            </a: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0645" y="353486"/>
            <a:ext cx="1427979" cy="360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742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90" r:id="rId9"/>
    <p:sldLayoutId id="2147483685" r:id="rId10"/>
    <p:sldLayoutId id="2147483686" r:id="rId11"/>
    <p:sldLayoutId id="2147483687" r:id="rId12"/>
    <p:sldLayoutId id="2147483688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rgbClr val="0030A0"/>
          </a:solidFill>
          <a:latin typeface="+mn-ea"/>
          <a:ea typeface="+mn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4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ea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14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ea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14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ea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microsoft.com/office/2007/relationships/hdphoto" Target="../media/hdphoto3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952097" y="4292453"/>
            <a:ext cx="2287806" cy="872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Pharmeyes Co., Ltd.</a:t>
            </a:r>
          </a:p>
          <a:p>
            <a:pPr algn="ctr">
              <a:lnSpc>
                <a:spcPct val="150000"/>
              </a:lnSpc>
            </a:pPr>
            <a:fld id="{F30588A2-05AB-4BFA-A180-42BA42934282}" type="datetime1">
              <a:rPr lang="zh-CN" altLang="en-US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>
                <a:lnSpc>
                  <a:spcPct val="150000"/>
                </a:lnSpc>
              </a:pPr>
              <a:t>2026/6/2</a:t>
            </a:fld>
            <a:endParaRPr lang="en-US" altLang="zh-CN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767840" y="1913693"/>
            <a:ext cx="8656320" cy="1585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4000" b="1" spc="300" dirty="0">
                <a:solidFill>
                  <a:srgbClr val="0B3995"/>
                </a:solidFill>
                <a:latin typeface="微软雅黑" panose="020B0503020204020204" pitchFamily="34" charset="-122"/>
                <a:ea typeface="微软雅黑"/>
              </a:rPr>
              <a:t>AI </a:t>
            </a:r>
            <a:r>
              <a:rPr lang="zh-CN" altLang="en-US" sz="4000" b="1" spc="300" dirty="0">
                <a:solidFill>
                  <a:srgbClr val="0B3995"/>
                </a:solidFill>
                <a:latin typeface="微软雅黑" panose="020B0503020204020204" pitchFamily="34" charset="-122"/>
                <a:ea typeface="微软雅黑"/>
              </a:rPr>
              <a:t>预测产品线交流</a:t>
            </a:r>
          </a:p>
          <a:p>
            <a:pPr algn="ctr">
              <a:lnSpc>
                <a:spcPct val="150000"/>
              </a:lnSpc>
            </a:pPr>
            <a:r>
              <a:rPr lang="zh-CN" altLang="en-US" sz="2800" spc="200" dirty="0">
                <a:latin typeface="微软雅黑" panose="020B0503020204020204" pitchFamily="34" charset="-122"/>
                <a:ea typeface="微软雅黑"/>
              </a:rPr>
              <a:t>排产有据  </a:t>
            </a:r>
            <a:r>
              <a:rPr lang="en-US" altLang="zh-CN" sz="2800" spc="200" dirty="0">
                <a:latin typeface="微软雅黑" panose="020B0503020204020204" pitchFamily="34" charset="-122"/>
                <a:ea typeface="微软雅黑"/>
              </a:rPr>
              <a:t>·  </a:t>
            </a:r>
            <a:r>
              <a:rPr lang="zh-CN" altLang="en-US" sz="2800" spc="200" dirty="0">
                <a:latin typeface="微软雅黑" panose="020B0503020204020204" pitchFamily="34" charset="-122"/>
                <a:ea typeface="微软雅黑"/>
              </a:rPr>
              <a:t>进度有控  </a:t>
            </a:r>
            <a:r>
              <a:rPr lang="en-US" altLang="zh-CN" sz="2800" spc="200" dirty="0">
                <a:latin typeface="微软雅黑" panose="020B0503020204020204" pitchFamily="34" charset="-122"/>
                <a:ea typeface="微软雅黑"/>
              </a:rPr>
              <a:t>·  </a:t>
            </a:r>
            <a:r>
              <a:rPr lang="zh-CN" altLang="en-US" sz="2800" spc="200" dirty="0">
                <a:latin typeface="微软雅黑" panose="020B0503020204020204" pitchFamily="34" charset="-122"/>
                <a:ea typeface="微软雅黑"/>
              </a:rPr>
              <a:t>投放有向</a:t>
            </a:r>
          </a:p>
        </p:txBody>
      </p:sp>
    </p:spTree>
    <p:extLst>
      <p:ext uri="{BB962C8B-B14F-4D97-AF65-F5344CB8AC3E}">
        <p14:creationId xmlns:p14="http://schemas.microsoft.com/office/powerpoint/2010/main" val="1333998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1305C-66CB-4156-DD02-BAC7D765C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389120" y="289867"/>
            <a:ext cx="9470548" cy="623416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0B3995"/>
                </a:solidFill>
              </a:rPr>
              <a:t>产品中期需求预测</a:t>
            </a:r>
          </a:p>
        </p:txBody>
      </p:sp>
      <p:sp>
        <p:nvSpPr>
          <p:cNvPr id="2" name="rect 164">
            <a:extLst>
              <a:ext uri="{FF2B5EF4-FFF2-40B4-BE49-F238E27FC236}">
                <a16:creationId xmlns:a16="http://schemas.microsoft.com/office/drawing/2014/main" id="{D79915CF-178C-BCF2-B3A7-094C4D406D4A}"/>
              </a:ext>
            </a:extLst>
          </p:cNvPr>
          <p:cNvSpPr/>
          <p:nvPr/>
        </p:nvSpPr>
        <p:spPr>
          <a:xfrm>
            <a:off x="1512725" y="2667038"/>
            <a:ext cx="10152000" cy="2088000"/>
          </a:xfrm>
          <a:prstGeom prst="rect">
            <a:avLst/>
          </a:prstGeom>
          <a:solidFill>
            <a:schemeClr val="bg1">
              <a:lumMod val="95000"/>
              <a:alpha val="69803"/>
            </a:scheme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 dirty="0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B5A6FE8F-2EC5-EE63-7C6B-56C7DC8E45F7}"/>
              </a:ext>
            </a:extLst>
          </p:cNvPr>
          <p:cNvSpPr/>
          <p:nvPr/>
        </p:nvSpPr>
        <p:spPr>
          <a:xfrm>
            <a:off x="4175078" y="2811038"/>
            <a:ext cx="4781614" cy="1800000"/>
          </a:xfrm>
          <a:prstGeom prst="roundRect">
            <a:avLst>
              <a:gd name="adj" fmla="val 6616"/>
            </a:avLst>
          </a:prstGeom>
          <a:noFill/>
          <a:ln w="12700">
            <a:solidFill>
              <a:schemeClr val="tx2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261793E9-D2C1-1073-CC5D-A0CCCB1F3E7E}"/>
              </a:ext>
            </a:extLst>
          </p:cNvPr>
          <p:cNvGrpSpPr/>
          <p:nvPr/>
        </p:nvGrpSpPr>
        <p:grpSpPr>
          <a:xfrm>
            <a:off x="6790423" y="3055260"/>
            <a:ext cx="2032911" cy="1311556"/>
            <a:chOff x="6974384" y="2672252"/>
            <a:chExt cx="2232000" cy="1440000"/>
          </a:xfrm>
        </p:grpSpPr>
        <p:sp>
          <p:nvSpPr>
            <p:cNvPr id="6" name="path 166">
              <a:extLst>
                <a:ext uri="{FF2B5EF4-FFF2-40B4-BE49-F238E27FC236}">
                  <a16:creationId xmlns:a16="http://schemas.microsoft.com/office/drawing/2014/main" id="{262E566C-BCDB-9B35-3E2E-6AE996053E93}"/>
                </a:ext>
              </a:extLst>
            </p:cNvPr>
            <p:cNvSpPr/>
            <p:nvPr/>
          </p:nvSpPr>
          <p:spPr>
            <a:xfrm>
              <a:off x="6974384" y="2672252"/>
              <a:ext cx="2232000" cy="1440000"/>
            </a:xfrm>
            <a:custGeom>
              <a:avLst/>
              <a:gdLst/>
              <a:ahLst/>
              <a:cxnLst/>
              <a:rect l="0" t="0" r="0" b="0"/>
              <a:pathLst>
                <a:path w="6516" h="3284">
                  <a:moveTo>
                    <a:pt x="0" y="1642"/>
                  </a:moveTo>
                  <a:cubicBezTo>
                    <a:pt x="0" y="735"/>
                    <a:pt x="1458" y="0"/>
                    <a:pt x="3257" y="0"/>
                  </a:cubicBezTo>
                  <a:cubicBezTo>
                    <a:pt x="5057" y="0"/>
                    <a:pt x="6516" y="735"/>
                    <a:pt x="6516" y="1642"/>
                  </a:cubicBezTo>
                  <a:cubicBezTo>
                    <a:pt x="6516" y="2549"/>
                    <a:pt x="5057" y="3284"/>
                    <a:pt x="3257" y="3284"/>
                  </a:cubicBezTo>
                  <a:cubicBezTo>
                    <a:pt x="1458" y="3284"/>
                    <a:pt x="0" y="2549"/>
                    <a:pt x="0" y="1642"/>
                  </a:cubicBezTo>
                </a:path>
              </a:pathLst>
            </a:custGeom>
            <a:solidFill>
              <a:srgbClr val="FFD400">
                <a:alpha val="30196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 sz="1600"/>
            </a:p>
          </p:txBody>
        </p:sp>
        <p:sp>
          <p:nvSpPr>
            <p:cNvPr id="7" name="path 168">
              <a:extLst>
                <a:ext uri="{FF2B5EF4-FFF2-40B4-BE49-F238E27FC236}">
                  <a16:creationId xmlns:a16="http://schemas.microsoft.com/office/drawing/2014/main" id="{E638EF94-F3CD-BEF5-CAFC-FF1E62C77521}"/>
                </a:ext>
              </a:extLst>
            </p:cNvPr>
            <p:cNvSpPr/>
            <p:nvPr/>
          </p:nvSpPr>
          <p:spPr>
            <a:xfrm>
              <a:off x="6974384" y="2672252"/>
              <a:ext cx="2232000" cy="1440000"/>
            </a:xfrm>
            <a:custGeom>
              <a:avLst/>
              <a:gdLst/>
              <a:ahLst/>
              <a:cxnLst/>
              <a:rect l="0" t="0" r="0" b="0"/>
              <a:pathLst>
                <a:path w="6546" h="3314">
                  <a:moveTo>
                    <a:pt x="15" y="1657"/>
                  </a:moveTo>
                  <a:cubicBezTo>
                    <a:pt x="15" y="750"/>
                    <a:pt x="1473" y="15"/>
                    <a:pt x="3272" y="15"/>
                  </a:cubicBezTo>
                  <a:cubicBezTo>
                    <a:pt x="5072" y="15"/>
                    <a:pt x="6531" y="750"/>
                    <a:pt x="6531" y="1657"/>
                  </a:cubicBezTo>
                  <a:cubicBezTo>
                    <a:pt x="6531" y="2564"/>
                    <a:pt x="5072" y="3299"/>
                    <a:pt x="3272" y="3299"/>
                  </a:cubicBezTo>
                  <a:cubicBezTo>
                    <a:pt x="1473" y="3299"/>
                    <a:pt x="15" y="2564"/>
                    <a:pt x="15" y="1657"/>
                  </a:cubicBezTo>
                </a:path>
              </a:pathLst>
            </a:custGeom>
            <a:noFill/>
            <a:ln w="19050" cap="rnd">
              <a:solidFill>
                <a:srgbClr val="D4DF33"/>
              </a:solidFill>
              <a:prstDash val="dash"/>
              <a:round/>
            </a:ln>
          </p:spPr>
          <p:txBody>
            <a:bodyPr rtlCol="0"/>
            <a:lstStyle/>
            <a:p>
              <a:pPr algn="ctr"/>
              <a:endParaRPr lang="zh-CN" altLang="en-US" sz="1600"/>
            </a:p>
          </p:txBody>
        </p:sp>
        <p:sp>
          <p:nvSpPr>
            <p:cNvPr id="8" name="path 190">
              <a:extLst>
                <a:ext uri="{FF2B5EF4-FFF2-40B4-BE49-F238E27FC236}">
                  <a16:creationId xmlns:a16="http://schemas.microsoft.com/office/drawing/2014/main" id="{7BCF4AAA-F4B9-B8D6-75AD-C9552A8D732B}"/>
                </a:ext>
              </a:extLst>
            </p:cNvPr>
            <p:cNvSpPr/>
            <p:nvPr/>
          </p:nvSpPr>
          <p:spPr>
            <a:xfrm>
              <a:off x="6996008" y="2747142"/>
              <a:ext cx="360000" cy="360000"/>
            </a:xfrm>
            <a:custGeom>
              <a:avLst/>
              <a:gdLst/>
              <a:ahLst/>
              <a:cxnLst/>
              <a:rect l="0" t="0" r="0" b="0"/>
              <a:pathLst>
                <a:path w="624" h="625">
                  <a:moveTo>
                    <a:pt x="0" y="312"/>
                  </a:moveTo>
                  <a:cubicBezTo>
                    <a:pt x="0" y="140"/>
                    <a:pt x="139" y="0"/>
                    <a:pt x="312" y="0"/>
                  </a:cubicBezTo>
                  <a:cubicBezTo>
                    <a:pt x="485" y="0"/>
                    <a:pt x="624" y="140"/>
                    <a:pt x="624" y="312"/>
                  </a:cubicBezTo>
                  <a:cubicBezTo>
                    <a:pt x="624" y="485"/>
                    <a:pt x="485" y="625"/>
                    <a:pt x="312" y="625"/>
                  </a:cubicBezTo>
                  <a:cubicBezTo>
                    <a:pt x="139" y="625"/>
                    <a:pt x="0" y="485"/>
                    <a:pt x="0" y="312"/>
                  </a:cubicBezTo>
                </a:path>
              </a:pathLst>
            </a:custGeom>
            <a:solidFill>
              <a:srgbClr val="BF9F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 anchor="ctr"/>
            <a:lstStyle/>
            <a:p>
              <a:pPr algn="ctr"/>
              <a:endParaRPr lang="zh-CN" altLang="en-US" sz="1200">
                <a:latin typeface="+mn-ea"/>
              </a:endParaRPr>
            </a:p>
          </p:txBody>
        </p:sp>
        <p:sp>
          <p:nvSpPr>
            <p:cNvPr id="9" name="textbox 238">
              <a:extLst>
                <a:ext uri="{FF2B5EF4-FFF2-40B4-BE49-F238E27FC236}">
                  <a16:creationId xmlns:a16="http://schemas.microsoft.com/office/drawing/2014/main" id="{F3C30223-FCE9-E0A0-EAD9-14F4A9FA8657}"/>
                </a:ext>
              </a:extLst>
            </p:cNvPr>
            <p:cNvSpPr/>
            <p:nvPr/>
          </p:nvSpPr>
          <p:spPr>
            <a:xfrm>
              <a:off x="7582422" y="2798267"/>
              <a:ext cx="946808" cy="257751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 anchor="ctr"/>
            <a:lstStyle/>
            <a:p>
              <a:pPr algn="ctr" rtl="0" eaLnBrk="0">
                <a:tabLst/>
              </a:pPr>
              <a:r>
                <a:rPr lang="zh-CN" altLang="en-US" sz="1200" b="1" kern="0" dirty="0">
                  <a:solidFill>
                    <a:srgbClr val="BF9F00">
                      <a:alpha val="100000"/>
                    </a:srgbClr>
                  </a:solidFill>
                  <a:latin typeface="+mn-ea"/>
                  <a:cs typeface="Segoe UI"/>
                </a:rPr>
                <a:t>历史趋势</a:t>
              </a:r>
              <a:endParaRPr sz="1200" dirty="0">
                <a:latin typeface="+mn-ea"/>
                <a:cs typeface="Segoe UI"/>
              </a:endParaRPr>
            </a:p>
          </p:txBody>
        </p:sp>
        <p:sp>
          <p:nvSpPr>
            <p:cNvPr id="10" name="textbox 292">
              <a:extLst>
                <a:ext uri="{FF2B5EF4-FFF2-40B4-BE49-F238E27FC236}">
                  <a16:creationId xmlns:a16="http://schemas.microsoft.com/office/drawing/2014/main" id="{608ACD31-6B04-21D1-8788-68FC845138BE}"/>
                </a:ext>
              </a:extLst>
            </p:cNvPr>
            <p:cNvSpPr/>
            <p:nvPr/>
          </p:nvSpPr>
          <p:spPr>
            <a:xfrm>
              <a:off x="7107746" y="2814430"/>
              <a:ext cx="136525" cy="2254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 anchor="ctr"/>
            <a:lstStyle/>
            <a:p>
              <a:pPr algn="ctr" rtl="0" eaLnBrk="0">
                <a:tabLst/>
              </a:pPr>
              <a:r>
                <a:rPr lang="en-US" sz="1200" b="1" kern="0" spc="-70" dirty="0">
                  <a:solidFill>
                    <a:srgbClr val="FFFFFF">
                      <a:alpha val="100000"/>
                    </a:srgbClr>
                  </a:solidFill>
                  <a:latin typeface="+mn-ea"/>
                  <a:cs typeface="Segoe UI"/>
                </a:rPr>
                <a:t>B</a:t>
              </a:r>
              <a:endParaRPr sz="1200" dirty="0">
                <a:latin typeface="+mn-ea"/>
                <a:cs typeface="Segoe UI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FF2BFE11-1A05-8C47-CBAF-848C343AC9C8}"/>
                </a:ext>
              </a:extLst>
            </p:cNvPr>
            <p:cNvSpPr txBox="1"/>
            <p:nvPr/>
          </p:nvSpPr>
          <p:spPr>
            <a:xfrm>
              <a:off x="7176008" y="3283202"/>
              <a:ext cx="1137023" cy="253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50000"/>
                    </a:schemeClr>
                  </a:solidFill>
                  <a:effectLst/>
                  <a:uLnTx/>
                  <a:uFillTx/>
                  <a:latin typeface="Aria"/>
                  <a:ea typeface="微软雅黑" panose="020B0503020204020204" pitchFamily="34" charset="-122"/>
                  <a:cs typeface="Arial" panose="020B0604020202020204" pitchFamily="34" charset="0"/>
                </a:rPr>
                <a:t>环比</a:t>
              </a: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50000"/>
                    </a:schemeClr>
                  </a:solidFill>
                  <a:effectLst/>
                  <a:uLnTx/>
                  <a:uFillTx/>
                  <a:latin typeface="Aria"/>
                  <a:ea typeface="微软雅黑" panose="020B0503020204020204" pitchFamily="34" charset="-122"/>
                  <a:cs typeface="Arial" panose="020B0604020202020204" pitchFamily="34" charset="0"/>
                </a:rPr>
                <a:t>/</a:t>
              </a: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50000"/>
                    </a:schemeClr>
                  </a:solidFill>
                  <a:effectLst/>
                  <a:uLnTx/>
                  <a:uFillTx/>
                  <a:latin typeface="Aria"/>
                  <a:ea typeface="微软雅黑" panose="020B0503020204020204" pitchFamily="34" charset="-122"/>
                  <a:cs typeface="Arial" panose="020B0604020202020204" pitchFamily="34" charset="0"/>
                </a:rPr>
                <a:t>同比增长率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A254EA2D-BF9A-2685-A093-072EB2616E01}"/>
                </a:ext>
              </a:extLst>
            </p:cNvPr>
            <p:cNvSpPr txBox="1"/>
            <p:nvPr/>
          </p:nvSpPr>
          <p:spPr>
            <a:xfrm>
              <a:off x="7693906" y="3608278"/>
              <a:ext cx="1041852" cy="253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50000"/>
                    </a:schemeClr>
                  </a:solidFill>
                  <a:effectLst/>
                  <a:uLnTx/>
                  <a:uFillTx/>
                  <a:latin typeface="Aria"/>
                  <a:ea typeface="微软雅黑" panose="020B0503020204020204" pitchFamily="34" charset="-122"/>
                  <a:cs typeface="Arial" panose="020B0604020202020204" pitchFamily="34" charset="0"/>
                </a:rPr>
                <a:t>近期移动平均</a:t>
              </a: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EED07CEB-5AA7-29A3-7347-7AF30463410D}"/>
                </a:ext>
              </a:extLst>
            </p:cNvPr>
            <p:cNvSpPr txBox="1"/>
            <p:nvPr/>
          </p:nvSpPr>
          <p:spPr>
            <a:xfrm>
              <a:off x="8286688" y="3106183"/>
              <a:ext cx="770073" cy="253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50000"/>
                    </a:schemeClr>
                  </a:solidFill>
                  <a:effectLst/>
                  <a:uLnTx/>
                  <a:uFillTx/>
                  <a:latin typeface="Aria"/>
                  <a:ea typeface="微软雅黑" panose="020B0503020204020204" pitchFamily="34" charset="-122"/>
                  <a:cs typeface="Arial" panose="020B0604020202020204" pitchFamily="34" charset="0"/>
                </a:rPr>
                <a:t>线性外推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C5D57243-12B1-BCEF-1A70-65E5EA67DF87}"/>
              </a:ext>
            </a:extLst>
          </p:cNvPr>
          <p:cNvGrpSpPr/>
          <p:nvPr/>
        </p:nvGrpSpPr>
        <p:grpSpPr>
          <a:xfrm>
            <a:off x="1882405" y="3055260"/>
            <a:ext cx="2041310" cy="1311556"/>
            <a:chOff x="2070609" y="2672252"/>
            <a:chExt cx="2241222" cy="1440000"/>
          </a:xfrm>
        </p:grpSpPr>
        <p:sp>
          <p:nvSpPr>
            <p:cNvPr id="15" name="path 174">
              <a:extLst>
                <a:ext uri="{FF2B5EF4-FFF2-40B4-BE49-F238E27FC236}">
                  <a16:creationId xmlns:a16="http://schemas.microsoft.com/office/drawing/2014/main" id="{892333DF-8717-0431-E6C3-486D801D4DC2}"/>
                </a:ext>
              </a:extLst>
            </p:cNvPr>
            <p:cNvSpPr/>
            <p:nvPr/>
          </p:nvSpPr>
          <p:spPr>
            <a:xfrm>
              <a:off x="2079831" y="2672252"/>
              <a:ext cx="2232000" cy="1440000"/>
            </a:xfrm>
            <a:custGeom>
              <a:avLst/>
              <a:gdLst/>
              <a:ahLst/>
              <a:cxnLst/>
              <a:rect l="0" t="0" r="0" b="0"/>
              <a:pathLst>
                <a:path w="3651" h="4122">
                  <a:moveTo>
                    <a:pt x="0" y="2061"/>
                  </a:moveTo>
                  <a:cubicBezTo>
                    <a:pt x="0" y="922"/>
                    <a:pt x="817" y="0"/>
                    <a:pt x="1825" y="0"/>
                  </a:cubicBezTo>
                  <a:cubicBezTo>
                    <a:pt x="2834" y="0"/>
                    <a:pt x="3651" y="922"/>
                    <a:pt x="3651" y="2061"/>
                  </a:cubicBezTo>
                  <a:cubicBezTo>
                    <a:pt x="3651" y="3200"/>
                    <a:pt x="2834" y="4122"/>
                    <a:pt x="1825" y="4122"/>
                  </a:cubicBezTo>
                  <a:cubicBezTo>
                    <a:pt x="817" y="4122"/>
                    <a:pt x="0" y="3200"/>
                    <a:pt x="0" y="2061"/>
                  </a:cubicBezTo>
                </a:path>
              </a:pathLst>
            </a:custGeom>
            <a:solidFill>
              <a:schemeClr val="accent1">
                <a:lumMod val="60000"/>
                <a:lumOff val="40000"/>
                <a:alpha val="20000"/>
              </a:scheme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 sz="1600"/>
            </a:p>
          </p:txBody>
        </p:sp>
        <p:sp>
          <p:nvSpPr>
            <p:cNvPr id="16" name="path 176">
              <a:extLst>
                <a:ext uri="{FF2B5EF4-FFF2-40B4-BE49-F238E27FC236}">
                  <a16:creationId xmlns:a16="http://schemas.microsoft.com/office/drawing/2014/main" id="{263560D2-1B7F-4BE8-84F1-451AEBDC55F7}"/>
                </a:ext>
              </a:extLst>
            </p:cNvPr>
            <p:cNvSpPr/>
            <p:nvPr/>
          </p:nvSpPr>
          <p:spPr>
            <a:xfrm>
              <a:off x="2079831" y="2672252"/>
              <a:ext cx="2232000" cy="1440000"/>
            </a:xfrm>
            <a:custGeom>
              <a:avLst/>
              <a:gdLst/>
              <a:ahLst/>
              <a:cxnLst/>
              <a:rect l="0" t="0" r="0" b="0"/>
              <a:pathLst>
                <a:path w="3681" h="4152">
                  <a:moveTo>
                    <a:pt x="15" y="2076"/>
                  </a:moveTo>
                  <a:cubicBezTo>
                    <a:pt x="15" y="937"/>
                    <a:pt x="832" y="15"/>
                    <a:pt x="1840" y="15"/>
                  </a:cubicBezTo>
                  <a:cubicBezTo>
                    <a:pt x="2849" y="15"/>
                    <a:pt x="3666" y="937"/>
                    <a:pt x="3666" y="2076"/>
                  </a:cubicBezTo>
                  <a:cubicBezTo>
                    <a:pt x="3666" y="3215"/>
                    <a:pt x="2849" y="4137"/>
                    <a:pt x="1840" y="4137"/>
                  </a:cubicBezTo>
                  <a:cubicBezTo>
                    <a:pt x="832" y="4137"/>
                    <a:pt x="15" y="3215"/>
                    <a:pt x="15" y="2076"/>
                  </a:cubicBezTo>
                </a:path>
              </a:pathLst>
            </a:custGeom>
            <a:noFill/>
            <a:ln w="19050" cap="rnd">
              <a:solidFill>
                <a:schemeClr val="accent1"/>
              </a:solidFill>
              <a:prstDash val="dash"/>
              <a:round/>
            </a:ln>
          </p:spPr>
          <p:txBody>
            <a:bodyPr rtlCol="0"/>
            <a:lstStyle/>
            <a:p>
              <a:pPr algn="ctr"/>
              <a:endParaRPr lang="zh-CN" altLang="en-US" sz="1600"/>
            </a:p>
          </p:txBody>
        </p:sp>
        <p:sp>
          <p:nvSpPr>
            <p:cNvPr id="17" name="path 186">
              <a:extLst>
                <a:ext uri="{FF2B5EF4-FFF2-40B4-BE49-F238E27FC236}">
                  <a16:creationId xmlns:a16="http://schemas.microsoft.com/office/drawing/2014/main" id="{ABF7F733-8E9D-2B1A-A1B4-CE043D25D870}"/>
                </a:ext>
              </a:extLst>
            </p:cNvPr>
            <p:cNvSpPr/>
            <p:nvPr/>
          </p:nvSpPr>
          <p:spPr>
            <a:xfrm>
              <a:off x="2070609" y="2747142"/>
              <a:ext cx="360000" cy="360000"/>
            </a:xfrm>
            <a:custGeom>
              <a:avLst/>
              <a:gdLst/>
              <a:ahLst/>
              <a:cxnLst/>
              <a:rect l="0" t="0" r="0" b="0"/>
              <a:pathLst>
                <a:path w="625" h="624">
                  <a:moveTo>
                    <a:pt x="0" y="312"/>
                  </a:moveTo>
                  <a:cubicBezTo>
                    <a:pt x="0" y="139"/>
                    <a:pt x="140" y="0"/>
                    <a:pt x="312" y="0"/>
                  </a:cubicBezTo>
                  <a:cubicBezTo>
                    <a:pt x="485" y="0"/>
                    <a:pt x="625" y="139"/>
                    <a:pt x="625" y="312"/>
                  </a:cubicBezTo>
                  <a:cubicBezTo>
                    <a:pt x="625" y="485"/>
                    <a:pt x="485" y="624"/>
                    <a:pt x="312" y="624"/>
                  </a:cubicBezTo>
                  <a:cubicBezTo>
                    <a:pt x="140" y="624"/>
                    <a:pt x="0" y="485"/>
                    <a:pt x="0" y="312"/>
                  </a:cubicBezTo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 lim="0"/>
            </a:ln>
          </p:spPr>
          <p:txBody>
            <a:bodyPr rtlCol="0" anchor="ctr"/>
            <a:lstStyle/>
            <a:p>
              <a:pPr algn="ctr"/>
              <a:endParaRPr lang="zh-CN" altLang="en-US" sz="1200">
                <a:latin typeface="+mn-ea"/>
              </a:endParaRPr>
            </a:p>
          </p:txBody>
        </p:sp>
        <p:sp>
          <p:nvSpPr>
            <p:cNvPr id="18" name="textbox 288">
              <a:extLst>
                <a:ext uri="{FF2B5EF4-FFF2-40B4-BE49-F238E27FC236}">
                  <a16:creationId xmlns:a16="http://schemas.microsoft.com/office/drawing/2014/main" id="{225787C1-97AA-8C54-E649-9B66C629C58D}"/>
                </a:ext>
              </a:extLst>
            </p:cNvPr>
            <p:cNvSpPr/>
            <p:nvPr/>
          </p:nvSpPr>
          <p:spPr>
            <a:xfrm>
              <a:off x="2180442" y="2809032"/>
              <a:ext cx="140335" cy="2362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 anchor="ctr"/>
            <a:lstStyle/>
            <a:p>
              <a:pPr algn="ctr" rtl="0" eaLnBrk="0">
                <a:tabLst/>
              </a:pPr>
              <a:r>
                <a:rPr lang="en-US" sz="1200" b="1" kern="0" spc="-90" dirty="0">
                  <a:solidFill>
                    <a:srgbClr val="FFFFFF">
                      <a:alpha val="100000"/>
                    </a:srgbClr>
                  </a:solidFill>
                  <a:latin typeface="+mn-ea"/>
                  <a:cs typeface="Segoe UI"/>
                </a:rPr>
                <a:t>C</a:t>
              </a:r>
              <a:endParaRPr sz="1200" dirty="0">
                <a:latin typeface="+mn-ea"/>
                <a:cs typeface="Segoe UI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8EBFB71C-21EA-729D-D81C-853A4615AA4B}"/>
                </a:ext>
              </a:extLst>
            </p:cNvPr>
            <p:cNvSpPr txBox="1"/>
            <p:nvPr/>
          </p:nvSpPr>
          <p:spPr>
            <a:xfrm>
              <a:off x="2613245" y="2773254"/>
              <a:ext cx="1165573" cy="30777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 rtl="0" eaLnBrk="0">
                <a:tabLst/>
              </a:pPr>
              <a:r>
                <a:rPr lang="zh-CN" altLang="en-US" sz="1200" b="1" kern="0" spc="60" dirty="0">
                  <a:solidFill>
                    <a:srgbClr val="005B91">
                      <a:alpha val="100000"/>
                    </a:srgbClr>
                  </a:solidFill>
                  <a:latin typeface="+mn-ea"/>
                  <a:cs typeface="Segoe UI"/>
                </a:rPr>
                <a:t>当月进度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A6AC50E1-2BA2-FE6D-1A42-45C647900848}"/>
                </a:ext>
              </a:extLst>
            </p:cNvPr>
            <p:cNvSpPr txBox="1"/>
            <p:nvPr/>
          </p:nvSpPr>
          <p:spPr>
            <a:xfrm>
              <a:off x="2246534" y="3241627"/>
              <a:ext cx="962226" cy="253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900" dirty="0">
                  <a:solidFill>
                    <a:schemeClr val="accent2">
                      <a:lumMod val="50000"/>
                    </a:schemeClr>
                  </a:solidFill>
                  <a:latin typeface="Aria"/>
                  <a:ea typeface="微软雅黑" panose="020B0503020204020204" pitchFamily="34" charset="-122"/>
                  <a:cs typeface="Arial" panose="020B0604020202020204" pitchFamily="34" charset="0"/>
                </a:rPr>
                <a:t>当月累积销量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Aria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848AA834-E918-8825-A5C3-2C16E3CF09B7}"/>
                </a:ext>
              </a:extLst>
            </p:cNvPr>
            <p:cNvSpPr txBox="1"/>
            <p:nvPr/>
          </p:nvSpPr>
          <p:spPr>
            <a:xfrm>
              <a:off x="2791109" y="3643182"/>
              <a:ext cx="853398" cy="253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900" dirty="0">
                  <a:solidFill>
                    <a:schemeClr val="accent2">
                      <a:lumMod val="50000"/>
                    </a:schemeClr>
                  </a:solidFill>
                  <a:latin typeface="Aria"/>
                  <a:ea typeface="微软雅黑" panose="020B0503020204020204" pitchFamily="34" charset="-122"/>
                  <a:cs typeface="Arial" panose="020B0604020202020204" pitchFamily="34" charset="0"/>
                </a:rPr>
                <a:t>日均销量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Aria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395435A5-EFF5-CE3C-39F0-9189BD799974}"/>
                </a:ext>
              </a:extLst>
            </p:cNvPr>
            <p:cNvSpPr txBox="1"/>
            <p:nvPr/>
          </p:nvSpPr>
          <p:spPr>
            <a:xfrm>
              <a:off x="3279547" y="3308351"/>
              <a:ext cx="998544" cy="253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900" dirty="0">
                  <a:solidFill>
                    <a:schemeClr val="accent2">
                      <a:lumMod val="50000"/>
                    </a:schemeClr>
                  </a:solidFill>
                  <a:latin typeface="Aria"/>
                  <a:ea typeface="微软雅黑" panose="020B0503020204020204" pitchFamily="34" charset="-122"/>
                  <a:cs typeface="Arial" panose="020B0604020202020204" pitchFamily="34" charset="0"/>
                </a:rPr>
                <a:t>历史</a:t>
              </a:r>
              <a:r>
                <a:rPr lang="en-US" altLang="zh-CN" sz="900" dirty="0">
                  <a:solidFill>
                    <a:schemeClr val="accent2">
                      <a:lumMod val="50000"/>
                    </a:schemeClr>
                  </a:solidFill>
                  <a:latin typeface="Aria"/>
                  <a:ea typeface="微软雅黑" panose="020B0503020204020204" pitchFamily="34" charset="-122"/>
                  <a:cs typeface="Arial" panose="020B0604020202020204" pitchFamily="34" charset="0"/>
                </a:rPr>
                <a:t>MTD</a:t>
              </a:r>
              <a:r>
                <a:rPr lang="zh-CN" altLang="en-US" sz="900" dirty="0">
                  <a:solidFill>
                    <a:schemeClr val="accent2">
                      <a:lumMod val="50000"/>
                    </a:schemeClr>
                  </a:solidFill>
                  <a:latin typeface="Aria"/>
                  <a:ea typeface="微软雅黑" panose="020B0503020204020204" pitchFamily="34" charset="-122"/>
                  <a:cs typeface="Arial" panose="020B0604020202020204" pitchFamily="34" charset="0"/>
                </a:rPr>
                <a:t>占比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Aria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3C993ABD-B2EA-BCF4-F0DF-36304594116F}"/>
              </a:ext>
            </a:extLst>
          </p:cNvPr>
          <p:cNvGrpSpPr/>
          <p:nvPr/>
        </p:nvGrpSpPr>
        <p:grpSpPr>
          <a:xfrm>
            <a:off x="9220907" y="3055260"/>
            <a:ext cx="2074135" cy="1311556"/>
            <a:chOff x="9328587" y="2672252"/>
            <a:chExt cx="2277262" cy="1440000"/>
          </a:xfrm>
        </p:grpSpPr>
        <p:sp>
          <p:nvSpPr>
            <p:cNvPr id="24" name="path 170">
              <a:extLst>
                <a:ext uri="{FF2B5EF4-FFF2-40B4-BE49-F238E27FC236}">
                  <a16:creationId xmlns:a16="http://schemas.microsoft.com/office/drawing/2014/main" id="{37B872AF-DF94-B1C6-3CA8-979B2D198DDD}"/>
                </a:ext>
              </a:extLst>
            </p:cNvPr>
            <p:cNvSpPr/>
            <p:nvPr/>
          </p:nvSpPr>
          <p:spPr>
            <a:xfrm>
              <a:off x="9373849" y="2672252"/>
              <a:ext cx="2232000" cy="1440000"/>
            </a:xfrm>
            <a:custGeom>
              <a:avLst/>
              <a:gdLst/>
              <a:ahLst/>
              <a:cxnLst/>
              <a:rect l="0" t="0" r="0" b="0"/>
              <a:pathLst>
                <a:path w="10164" h="2431">
                  <a:moveTo>
                    <a:pt x="0" y="1215"/>
                  </a:moveTo>
                  <a:cubicBezTo>
                    <a:pt x="0" y="544"/>
                    <a:pt x="2275" y="0"/>
                    <a:pt x="5082" y="0"/>
                  </a:cubicBezTo>
                  <a:cubicBezTo>
                    <a:pt x="7889" y="0"/>
                    <a:pt x="10164" y="544"/>
                    <a:pt x="10164" y="1215"/>
                  </a:cubicBezTo>
                  <a:cubicBezTo>
                    <a:pt x="10164" y="1887"/>
                    <a:pt x="7889" y="2431"/>
                    <a:pt x="5082" y="2431"/>
                  </a:cubicBezTo>
                  <a:cubicBezTo>
                    <a:pt x="2275" y="2431"/>
                    <a:pt x="0" y="1887"/>
                    <a:pt x="0" y="1215"/>
                  </a:cubicBezTo>
                </a:path>
              </a:pathLst>
            </a:custGeom>
            <a:solidFill>
              <a:schemeClr val="accent2">
                <a:alpha val="21960"/>
              </a:scheme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 sz="1600" dirty="0"/>
            </a:p>
          </p:txBody>
        </p:sp>
        <p:sp>
          <p:nvSpPr>
            <p:cNvPr id="25" name="path 172">
              <a:extLst>
                <a:ext uri="{FF2B5EF4-FFF2-40B4-BE49-F238E27FC236}">
                  <a16:creationId xmlns:a16="http://schemas.microsoft.com/office/drawing/2014/main" id="{5F24A93D-1DB4-6DC0-068D-E236ADD716F3}"/>
                </a:ext>
              </a:extLst>
            </p:cNvPr>
            <p:cNvSpPr/>
            <p:nvPr/>
          </p:nvSpPr>
          <p:spPr>
            <a:xfrm>
              <a:off x="9373847" y="2672252"/>
              <a:ext cx="2232000" cy="1440000"/>
            </a:xfrm>
            <a:custGeom>
              <a:avLst/>
              <a:gdLst/>
              <a:ahLst/>
              <a:cxnLst/>
              <a:rect l="0" t="0" r="0" b="0"/>
              <a:pathLst>
                <a:path w="10194" h="2461">
                  <a:moveTo>
                    <a:pt x="15" y="1230"/>
                  </a:moveTo>
                  <a:cubicBezTo>
                    <a:pt x="15" y="559"/>
                    <a:pt x="2290" y="15"/>
                    <a:pt x="5097" y="15"/>
                  </a:cubicBezTo>
                  <a:cubicBezTo>
                    <a:pt x="7904" y="15"/>
                    <a:pt x="10179" y="559"/>
                    <a:pt x="10179" y="1230"/>
                  </a:cubicBezTo>
                  <a:cubicBezTo>
                    <a:pt x="10179" y="1902"/>
                    <a:pt x="7904" y="2446"/>
                    <a:pt x="5097" y="2446"/>
                  </a:cubicBezTo>
                  <a:cubicBezTo>
                    <a:pt x="2290" y="2446"/>
                    <a:pt x="15" y="1902"/>
                    <a:pt x="15" y="1230"/>
                  </a:cubicBezTo>
                </a:path>
              </a:pathLst>
            </a:custGeom>
            <a:noFill/>
            <a:ln w="19050" cap="rnd">
              <a:solidFill>
                <a:srgbClr val="005B91"/>
              </a:solidFill>
              <a:prstDash val="dash"/>
              <a:round/>
            </a:ln>
          </p:spPr>
          <p:txBody>
            <a:bodyPr rtlCol="0"/>
            <a:lstStyle/>
            <a:p>
              <a:pPr algn="ctr"/>
              <a:endParaRPr lang="zh-CN" altLang="en-US" sz="1600" dirty="0"/>
            </a:p>
          </p:txBody>
        </p:sp>
        <p:sp>
          <p:nvSpPr>
            <p:cNvPr id="26" name="path 186">
              <a:extLst>
                <a:ext uri="{FF2B5EF4-FFF2-40B4-BE49-F238E27FC236}">
                  <a16:creationId xmlns:a16="http://schemas.microsoft.com/office/drawing/2014/main" id="{E947932E-D678-BCB8-FCC3-F7C4315DA091}"/>
                </a:ext>
              </a:extLst>
            </p:cNvPr>
            <p:cNvSpPr/>
            <p:nvPr/>
          </p:nvSpPr>
          <p:spPr>
            <a:xfrm>
              <a:off x="9328587" y="2747142"/>
              <a:ext cx="360000" cy="360000"/>
            </a:xfrm>
            <a:custGeom>
              <a:avLst/>
              <a:gdLst/>
              <a:ahLst/>
              <a:cxnLst/>
              <a:rect l="0" t="0" r="0" b="0"/>
              <a:pathLst>
                <a:path w="625" h="624">
                  <a:moveTo>
                    <a:pt x="0" y="312"/>
                  </a:moveTo>
                  <a:cubicBezTo>
                    <a:pt x="0" y="139"/>
                    <a:pt x="140" y="0"/>
                    <a:pt x="312" y="0"/>
                  </a:cubicBezTo>
                  <a:cubicBezTo>
                    <a:pt x="485" y="0"/>
                    <a:pt x="625" y="139"/>
                    <a:pt x="625" y="312"/>
                  </a:cubicBezTo>
                  <a:cubicBezTo>
                    <a:pt x="625" y="485"/>
                    <a:pt x="485" y="624"/>
                    <a:pt x="312" y="624"/>
                  </a:cubicBezTo>
                  <a:cubicBezTo>
                    <a:pt x="140" y="624"/>
                    <a:pt x="0" y="485"/>
                    <a:pt x="0" y="312"/>
                  </a:cubicBezTo>
                </a:path>
              </a:pathLst>
            </a:custGeom>
            <a:solidFill>
              <a:srgbClr val="005B91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 anchor="ctr"/>
            <a:lstStyle/>
            <a:p>
              <a:pPr algn="ctr"/>
              <a:endParaRPr lang="zh-CN" altLang="en-US" sz="1200">
                <a:latin typeface="+mn-ea"/>
              </a:endParaRPr>
            </a:p>
          </p:txBody>
        </p:sp>
        <p:sp>
          <p:nvSpPr>
            <p:cNvPr id="27" name="textbox 288">
              <a:extLst>
                <a:ext uri="{FF2B5EF4-FFF2-40B4-BE49-F238E27FC236}">
                  <a16:creationId xmlns:a16="http://schemas.microsoft.com/office/drawing/2014/main" id="{407E20E3-235B-440C-7A51-41DFEEFAF431}"/>
                </a:ext>
              </a:extLst>
            </p:cNvPr>
            <p:cNvSpPr/>
            <p:nvPr/>
          </p:nvSpPr>
          <p:spPr>
            <a:xfrm>
              <a:off x="9438420" y="2809032"/>
              <a:ext cx="140335" cy="2362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 anchor="ctr"/>
            <a:lstStyle/>
            <a:p>
              <a:pPr algn="ctr" rtl="0" eaLnBrk="0">
                <a:tabLst/>
              </a:pPr>
              <a:r>
                <a:rPr lang="en-US" sz="1200" b="1" kern="0" spc="-90" dirty="0">
                  <a:solidFill>
                    <a:srgbClr val="FFFFFF">
                      <a:alpha val="100000"/>
                    </a:srgbClr>
                  </a:solidFill>
                  <a:latin typeface="+mn-ea"/>
                  <a:cs typeface="Segoe UI"/>
                </a:rPr>
                <a:t>D</a:t>
              </a:r>
              <a:endParaRPr sz="1200" dirty="0">
                <a:latin typeface="+mn-ea"/>
                <a:cs typeface="Segoe UI"/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E05E1EF8-BFD8-69A8-7552-A41771E004A5}"/>
                </a:ext>
              </a:extLst>
            </p:cNvPr>
            <p:cNvSpPr txBox="1"/>
            <p:nvPr/>
          </p:nvSpPr>
          <p:spPr>
            <a:xfrm>
              <a:off x="9961176" y="2773254"/>
              <a:ext cx="1181171" cy="30777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 rtl="0" eaLnBrk="0">
                <a:tabLst/>
              </a:pPr>
              <a:r>
                <a:rPr lang="zh-CN" altLang="en-US" sz="1200" b="1" kern="0" spc="60" dirty="0">
                  <a:solidFill>
                    <a:srgbClr val="005B91">
                      <a:alpha val="100000"/>
                    </a:srgbClr>
                  </a:solidFill>
                  <a:latin typeface="+mn-ea"/>
                  <a:cs typeface="Segoe UI"/>
                </a:rPr>
                <a:t>医院行为</a:t>
              </a:r>
              <a:endParaRPr lang="en-US" altLang="zh-CN" sz="1200" dirty="0">
                <a:latin typeface="+mn-ea"/>
                <a:cs typeface="Segoe UI"/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E448A93D-BA01-21E6-768E-B0C03A225245}"/>
                </a:ext>
              </a:extLst>
            </p:cNvPr>
            <p:cNvSpPr txBox="1"/>
            <p:nvPr/>
          </p:nvSpPr>
          <p:spPr>
            <a:xfrm>
              <a:off x="9765504" y="3594944"/>
              <a:ext cx="1260429" cy="253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50000"/>
                    </a:schemeClr>
                  </a:solidFill>
                  <a:effectLst/>
                  <a:uLnTx/>
                  <a:uFillTx/>
                  <a:latin typeface="Aria"/>
                  <a:ea typeface="微软雅黑" panose="020B0503020204020204" pitchFamily="34" charset="-122"/>
                  <a:cs typeface="Arial" panose="020B0604020202020204" pitchFamily="34" charset="0"/>
                </a:rPr>
                <a:t>距离上次进货月数</a:t>
              </a: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36E0644B-4DE9-0CF6-E06A-62117C6E551F}"/>
                </a:ext>
              </a:extLst>
            </p:cNvPr>
            <p:cNvSpPr txBox="1"/>
            <p:nvPr/>
          </p:nvSpPr>
          <p:spPr>
            <a:xfrm>
              <a:off x="9557995" y="3150800"/>
              <a:ext cx="727102" cy="253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50000"/>
                    </a:schemeClr>
                  </a:solidFill>
                  <a:effectLst/>
                  <a:uLnTx/>
                  <a:uFillTx/>
                  <a:latin typeface="Aria"/>
                  <a:ea typeface="微软雅黑" panose="020B0503020204020204" pitchFamily="34" charset="-122"/>
                  <a:cs typeface="Arial" panose="020B0604020202020204" pitchFamily="34" charset="0"/>
                </a:rPr>
                <a:t>库存代理</a:t>
              </a: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C7BC1863-9048-3A15-6519-97BF32D2F8BA}"/>
                </a:ext>
              </a:extLst>
            </p:cNvPr>
            <p:cNvSpPr txBox="1"/>
            <p:nvPr/>
          </p:nvSpPr>
          <p:spPr>
            <a:xfrm>
              <a:off x="10241022" y="3291953"/>
              <a:ext cx="1260428" cy="253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50000"/>
                    </a:schemeClr>
                  </a:solidFill>
                  <a:effectLst/>
                  <a:uLnTx/>
                  <a:uFillTx/>
                  <a:latin typeface="Aria"/>
                  <a:ea typeface="微软雅黑" panose="020B0503020204020204" pitchFamily="34" charset="-122"/>
                  <a:cs typeface="Arial" panose="020B0604020202020204" pitchFamily="34" charset="0"/>
                </a:rPr>
                <a:t>近期进货频次</a:t>
              </a: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50000"/>
                    </a:schemeClr>
                  </a:solidFill>
                  <a:effectLst/>
                  <a:uLnTx/>
                  <a:uFillTx/>
                  <a:latin typeface="Aria"/>
                  <a:ea typeface="微软雅黑" panose="020B0503020204020204" pitchFamily="34" charset="-122"/>
                  <a:cs typeface="Arial" panose="020B0604020202020204" pitchFamily="34" charset="0"/>
                </a:rPr>
                <a:t>/</a:t>
              </a: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50000"/>
                    </a:schemeClr>
                  </a:solidFill>
                  <a:effectLst/>
                  <a:uLnTx/>
                  <a:uFillTx/>
                  <a:latin typeface="Aria"/>
                  <a:ea typeface="微软雅黑" panose="020B0503020204020204" pitchFamily="34" charset="-122"/>
                  <a:cs typeface="Arial" panose="020B0604020202020204" pitchFamily="34" charset="0"/>
                </a:rPr>
                <a:t>总量</a:t>
              </a: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0BA42596-9C54-54DF-E35B-2A843CC1DD62}"/>
              </a:ext>
            </a:extLst>
          </p:cNvPr>
          <p:cNvGrpSpPr/>
          <p:nvPr/>
        </p:nvGrpSpPr>
        <p:grpSpPr>
          <a:xfrm>
            <a:off x="4321293" y="3055260"/>
            <a:ext cx="2071552" cy="1311556"/>
            <a:chOff x="4541995" y="2672252"/>
            <a:chExt cx="2274425" cy="1440000"/>
          </a:xfrm>
        </p:grpSpPr>
        <p:sp>
          <p:nvSpPr>
            <p:cNvPr id="33" name="path 174">
              <a:extLst>
                <a:ext uri="{FF2B5EF4-FFF2-40B4-BE49-F238E27FC236}">
                  <a16:creationId xmlns:a16="http://schemas.microsoft.com/office/drawing/2014/main" id="{DCB4E810-CDEF-AAD3-9265-964E36269493}"/>
                </a:ext>
              </a:extLst>
            </p:cNvPr>
            <p:cNvSpPr/>
            <p:nvPr/>
          </p:nvSpPr>
          <p:spPr>
            <a:xfrm>
              <a:off x="4584420" y="2672252"/>
              <a:ext cx="2232000" cy="1440000"/>
            </a:xfrm>
            <a:custGeom>
              <a:avLst/>
              <a:gdLst/>
              <a:ahLst/>
              <a:cxnLst/>
              <a:rect l="0" t="0" r="0" b="0"/>
              <a:pathLst>
                <a:path w="3651" h="4122">
                  <a:moveTo>
                    <a:pt x="0" y="2061"/>
                  </a:moveTo>
                  <a:cubicBezTo>
                    <a:pt x="0" y="922"/>
                    <a:pt x="817" y="0"/>
                    <a:pt x="1825" y="0"/>
                  </a:cubicBezTo>
                  <a:cubicBezTo>
                    <a:pt x="2834" y="0"/>
                    <a:pt x="3651" y="922"/>
                    <a:pt x="3651" y="2061"/>
                  </a:cubicBezTo>
                  <a:cubicBezTo>
                    <a:pt x="3651" y="3200"/>
                    <a:pt x="2834" y="4122"/>
                    <a:pt x="1825" y="4122"/>
                  </a:cubicBezTo>
                  <a:cubicBezTo>
                    <a:pt x="817" y="4122"/>
                    <a:pt x="0" y="3200"/>
                    <a:pt x="0" y="2061"/>
                  </a:cubicBezTo>
                </a:path>
              </a:pathLst>
            </a:custGeom>
            <a:solidFill>
              <a:srgbClr val="00612A">
                <a:alpha val="2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 sz="1600"/>
            </a:p>
          </p:txBody>
        </p:sp>
        <p:sp>
          <p:nvSpPr>
            <p:cNvPr id="34" name="path 176">
              <a:extLst>
                <a:ext uri="{FF2B5EF4-FFF2-40B4-BE49-F238E27FC236}">
                  <a16:creationId xmlns:a16="http://schemas.microsoft.com/office/drawing/2014/main" id="{9ED0D6CE-822A-168C-1EA8-D37E12A2FEF0}"/>
                </a:ext>
              </a:extLst>
            </p:cNvPr>
            <p:cNvSpPr/>
            <p:nvPr/>
          </p:nvSpPr>
          <p:spPr>
            <a:xfrm>
              <a:off x="4584420" y="2672252"/>
              <a:ext cx="2232000" cy="1440000"/>
            </a:xfrm>
            <a:custGeom>
              <a:avLst/>
              <a:gdLst/>
              <a:ahLst/>
              <a:cxnLst/>
              <a:rect l="0" t="0" r="0" b="0"/>
              <a:pathLst>
                <a:path w="3681" h="4152">
                  <a:moveTo>
                    <a:pt x="15" y="2076"/>
                  </a:moveTo>
                  <a:cubicBezTo>
                    <a:pt x="15" y="937"/>
                    <a:pt x="832" y="15"/>
                    <a:pt x="1840" y="15"/>
                  </a:cubicBezTo>
                  <a:cubicBezTo>
                    <a:pt x="2849" y="15"/>
                    <a:pt x="3666" y="937"/>
                    <a:pt x="3666" y="2076"/>
                  </a:cubicBezTo>
                  <a:cubicBezTo>
                    <a:pt x="3666" y="3215"/>
                    <a:pt x="2849" y="4137"/>
                    <a:pt x="1840" y="4137"/>
                  </a:cubicBezTo>
                  <a:cubicBezTo>
                    <a:pt x="832" y="4137"/>
                    <a:pt x="15" y="3215"/>
                    <a:pt x="15" y="2076"/>
                  </a:cubicBezTo>
                </a:path>
              </a:pathLst>
            </a:custGeom>
            <a:noFill/>
            <a:ln w="19050" cap="rnd">
              <a:solidFill>
                <a:srgbClr val="00612A"/>
              </a:solidFill>
              <a:prstDash val="dash"/>
              <a:round/>
            </a:ln>
          </p:spPr>
          <p:txBody>
            <a:bodyPr rtlCol="0"/>
            <a:lstStyle/>
            <a:p>
              <a:pPr algn="ctr"/>
              <a:endParaRPr lang="zh-CN" altLang="en-US" sz="1600"/>
            </a:p>
          </p:txBody>
        </p:sp>
        <p:sp>
          <p:nvSpPr>
            <p:cNvPr id="35" name="path 192">
              <a:extLst>
                <a:ext uri="{FF2B5EF4-FFF2-40B4-BE49-F238E27FC236}">
                  <a16:creationId xmlns:a16="http://schemas.microsoft.com/office/drawing/2014/main" id="{C7134DF1-C2BF-207C-3CB4-32CAC5733FD1}"/>
                </a:ext>
              </a:extLst>
            </p:cNvPr>
            <p:cNvSpPr/>
            <p:nvPr/>
          </p:nvSpPr>
          <p:spPr>
            <a:xfrm>
              <a:off x="4541995" y="2747142"/>
              <a:ext cx="360000" cy="360000"/>
            </a:xfrm>
            <a:custGeom>
              <a:avLst/>
              <a:gdLst/>
              <a:ahLst/>
              <a:cxnLst/>
              <a:rect l="0" t="0" r="0" b="0"/>
              <a:pathLst>
                <a:path w="624" h="624">
                  <a:moveTo>
                    <a:pt x="0" y="312"/>
                  </a:moveTo>
                  <a:cubicBezTo>
                    <a:pt x="0" y="139"/>
                    <a:pt x="139" y="0"/>
                    <a:pt x="312" y="0"/>
                  </a:cubicBezTo>
                  <a:cubicBezTo>
                    <a:pt x="485" y="0"/>
                    <a:pt x="624" y="139"/>
                    <a:pt x="624" y="312"/>
                  </a:cubicBezTo>
                  <a:cubicBezTo>
                    <a:pt x="624" y="485"/>
                    <a:pt x="485" y="624"/>
                    <a:pt x="312" y="624"/>
                  </a:cubicBezTo>
                  <a:cubicBezTo>
                    <a:pt x="139" y="624"/>
                    <a:pt x="0" y="485"/>
                    <a:pt x="0" y="312"/>
                  </a:cubicBezTo>
                </a:path>
              </a:pathLst>
            </a:custGeom>
            <a:solidFill>
              <a:srgbClr val="00612A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 anchor="ctr"/>
            <a:lstStyle/>
            <a:p>
              <a:pPr algn="ctr"/>
              <a:endParaRPr lang="zh-CN" altLang="en-US" sz="1200">
                <a:latin typeface="+mn-ea"/>
              </a:endParaRPr>
            </a:p>
          </p:txBody>
        </p:sp>
        <p:sp>
          <p:nvSpPr>
            <p:cNvPr id="36" name="textbox 232">
              <a:extLst>
                <a:ext uri="{FF2B5EF4-FFF2-40B4-BE49-F238E27FC236}">
                  <a16:creationId xmlns:a16="http://schemas.microsoft.com/office/drawing/2014/main" id="{9F622BA2-7D00-80CA-D895-168B71669005}"/>
                </a:ext>
              </a:extLst>
            </p:cNvPr>
            <p:cNvSpPr/>
            <p:nvPr/>
          </p:nvSpPr>
          <p:spPr>
            <a:xfrm>
              <a:off x="5096060" y="2787176"/>
              <a:ext cx="1209940" cy="279932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 anchor="ctr"/>
            <a:lstStyle/>
            <a:p>
              <a:pPr indent="7620" algn="ctr" rtl="0" eaLnBrk="0">
                <a:tabLst/>
              </a:pPr>
              <a:r>
                <a:rPr lang="zh-CN" altLang="en-US" sz="1200" b="1" kern="0" spc="50" dirty="0">
                  <a:solidFill>
                    <a:srgbClr val="00612A">
                      <a:alpha val="100000"/>
                    </a:srgbClr>
                  </a:solidFill>
                  <a:latin typeface="+mn-ea"/>
                  <a:cs typeface="Segoe UI"/>
                </a:rPr>
                <a:t>时间与季节性</a:t>
              </a:r>
            </a:p>
          </p:txBody>
        </p:sp>
        <p:sp>
          <p:nvSpPr>
            <p:cNvPr id="37" name="textbox 292">
              <a:extLst>
                <a:ext uri="{FF2B5EF4-FFF2-40B4-BE49-F238E27FC236}">
                  <a16:creationId xmlns:a16="http://schemas.microsoft.com/office/drawing/2014/main" id="{9D429293-FBD5-0CA7-6C85-AA36D2CFFCCF}"/>
                </a:ext>
              </a:extLst>
            </p:cNvPr>
            <p:cNvSpPr/>
            <p:nvPr/>
          </p:nvSpPr>
          <p:spPr>
            <a:xfrm>
              <a:off x="4653733" y="2814430"/>
              <a:ext cx="136525" cy="2254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 anchor="ctr"/>
            <a:lstStyle/>
            <a:p>
              <a:pPr algn="ctr" rtl="0" eaLnBrk="0">
                <a:tabLst/>
              </a:pPr>
              <a:r>
                <a:rPr lang="en-US" altLang="zh-CN" sz="1200" b="1" kern="0" spc="-70" dirty="0">
                  <a:solidFill>
                    <a:srgbClr val="FFFFFF">
                      <a:alpha val="100000"/>
                    </a:srgbClr>
                  </a:solidFill>
                  <a:latin typeface="+mn-ea"/>
                  <a:cs typeface="Segoe UI"/>
                </a:rPr>
                <a:t>A</a:t>
              </a:r>
              <a:endParaRPr sz="1200" dirty="0">
                <a:latin typeface="+mn-ea"/>
                <a:cs typeface="Segoe UI"/>
              </a:endParaRP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979F24D2-AD4D-5265-BBF6-9FD86EF54D3E}"/>
                </a:ext>
              </a:extLst>
            </p:cNvPr>
            <p:cNvSpPr txBox="1"/>
            <p:nvPr/>
          </p:nvSpPr>
          <p:spPr>
            <a:xfrm>
              <a:off x="4665024" y="3302217"/>
              <a:ext cx="1180101" cy="253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50000"/>
                    </a:schemeClr>
                  </a:solidFill>
                  <a:effectLst/>
                  <a:uLnTx/>
                  <a:uFillTx/>
                  <a:latin typeface="Aria"/>
                  <a:ea typeface="微软雅黑" panose="020B0503020204020204" pitchFamily="34" charset="-122"/>
                  <a:cs typeface="Arial" panose="020B0604020202020204" pitchFamily="34" charset="0"/>
                </a:rPr>
                <a:t>月份</a:t>
              </a: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50000"/>
                    </a:schemeClr>
                  </a:solidFill>
                  <a:effectLst/>
                  <a:uLnTx/>
                  <a:uFillTx/>
                  <a:latin typeface="Aria"/>
                  <a:ea typeface="微软雅黑" panose="020B0503020204020204" pitchFamily="34" charset="-122"/>
                  <a:cs typeface="Arial" panose="020B0604020202020204" pitchFamily="34" charset="0"/>
                </a:rPr>
                <a:t>/</a:t>
              </a: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50000"/>
                    </a:schemeClr>
                  </a:solidFill>
                  <a:effectLst/>
                  <a:uLnTx/>
                  <a:uFillTx/>
                  <a:latin typeface="Aria"/>
                  <a:ea typeface="微软雅黑" panose="020B0503020204020204" pitchFamily="34" charset="-122"/>
                  <a:cs typeface="Arial" panose="020B0604020202020204" pitchFamily="34" charset="0"/>
                </a:rPr>
                <a:t>季度</a:t>
              </a: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50000"/>
                    </a:schemeClr>
                  </a:solidFill>
                  <a:effectLst/>
                  <a:uLnTx/>
                  <a:uFillTx/>
                  <a:latin typeface="Aria"/>
                  <a:ea typeface="微软雅黑" panose="020B0503020204020204" pitchFamily="34" charset="-122"/>
                  <a:cs typeface="Arial" panose="020B0604020202020204" pitchFamily="34" charset="0"/>
                </a:rPr>
                <a:t>/</a:t>
              </a: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50000"/>
                    </a:schemeClr>
                  </a:solidFill>
                  <a:effectLst/>
                  <a:uLnTx/>
                  <a:uFillTx/>
                  <a:latin typeface="Aria"/>
                  <a:ea typeface="微软雅黑" panose="020B0503020204020204" pitchFamily="34" charset="-122"/>
                  <a:cs typeface="Arial" panose="020B0604020202020204" pitchFamily="34" charset="0"/>
                </a:rPr>
                <a:t>节假日</a:t>
              </a: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87A1984D-08C5-BC0A-5AD7-37E13903F440}"/>
                </a:ext>
              </a:extLst>
            </p:cNvPr>
            <p:cNvSpPr txBox="1"/>
            <p:nvPr/>
          </p:nvSpPr>
          <p:spPr>
            <a:xfrm>
              <a:off x="5366780" y="3634859"/>
              <a:ext cx="855301" cy="253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50000"/>
                    </a:schemeClr>
                  </a:solidFill>
                  <a:effectLst/>
                  <a:uLnTx/>
                  <a:uFillTx/>
                  <a:latin typeface="Aria"/>
                  <a:ea typeface="微软雅黑" panose="020B0503020204020204" pitchFamily="34" charset="-122"/>
                  <a:cs typeface="Arial" panose="020B0604020202020204" pitchFamily="34" charset="0"/>
                </a:rPr>
                <a:t>工作日天数</a:t>
              </a: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A58D3235-1321-DCC0-970E-7FAD7086C2EA}"/>
                </a:ext>
              </a:extLst>
            </p:cNvPr>
            <p:cNvSpPr txBox="1"/>
            <p:nvPr/>
          </p:nvSpPr>
          <p:spPr>
            <a:xfrm>
              <a:off x="5840258" y="3117969"/>
              <a:ext cx="855301" cy="253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50000"/>
                    </a:schemeClr>
                  </a:solidFill>
                  <a:effectLst/>
                  <a:uLnTx/>
                  <a:uFillTx/>
                  <a:latin typeface="Aria"/>
                  <a:ea typeface="微软雅黑" panose="020B0503020204020204" pitchFamily="34" charset="-122"/>
                  <a:cs typeface="Arial" panose="020B0604020202020204" pitchFamily="34" charset="0"/>
                </a:rPr>
                <a:t>季节性分量</a:t>
              </a:r>
            </a:p>
          </p:txBody>
        </p:sp>
      </p:grpSp>
      <p:sp>
        <p:nvSpPr>
          <p:cNvPr id="41" name="矩形 40">
            <a:extLst>
              <a:ext uri="{FF2B5EF4-FFF2-40B4-BE49-F238E27FC236}">
                <a16:creationId xmlns:a16="http://schemas.microsoft.com/office/drawing/2014/main" id="{5177DA67-F046-95B0-37D4-77A157BFFCC5}"/>
              </a:ext>
            </a:extLst>
          </p:cNvPr>
          <p:cNvSpPr/>
          <p:nvPr/>
        </p:nvSpPr>
        <p:spPr>
          <a:xfrm>
            <a:off x="1519589" y="4964490"/>
            <a:ext cx="10152000" cy="13320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rect 164">
            <a:extLst>
              <a:ext uri="{FF2B5EF4-FFF2-40B4-BE49-F238E27FC236}">
                <a16:creationId xmlns:a16="http://schemas.microsoft.com/office/drawing/2014/main" id="{AC5ACEC5-CE8C-F45C-47A6-2D3F32253C74}"/>
              </a:ext>
            </a:extLst>
          </p:cNvPr>
          <p:cNvSpPr/>
          <p:nvPr/>
        </p:nvSpPr>
        <p:spPr>
          <a:xfrm>
            <a:off x="8901101" y="4980449"/>
            <a:ext cx="2770488" cy="1316041"/>
          </a:xfrm>
          <a:prstGeom prst="rect">
            <a:avLst/>
          </a:prstGeom>
          <a:solidFill>
            <a:schemeClr val="accent2">
              <a:lumMod val="20000"/>
              <a:lumOff val="80000"/>
              <a:alpha val="69803"/>
            </a:scheme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85808870-C244-3BF9-186D-DDB5421CDEDB}"/>
              </a:ext>
            </a:extLst>
          </p:cNvPr>
          <p:cNvSpPr txBox="1"/>
          <p:nvPr/>
        </p:nvSpPr>
        <p:spPr>
          <a:xfrm>
            <a:off x="9200751" y="5596463"/>
            <a:ext cx="21920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600" b="1" dirty="0">
                <a:solidFill>
                  <a:srgbClr val="00319F"/>
                </a:solidFill>
                <a:latin typeface="+mn-ea"/>
                <a:cs typeface="Alibaba PuHuiTi Heavy" pitchFamily="18" charset="-122"/>
              </a:rPr>
              <a:t>&lt;5%</a:t>
            </a:r>
            <a:endParaRPr kumimoji="1" lang="zh-CN" altLang="en-US" sz="3600" b="1" dirty="0">
              <a:solidFill>
                <a:srgbClr val="00319F"/>
              </a:solidFill>
              <a:latin typeface="+mn-ea"/>
              <a:cs typeface="Alibaba PuHuiTi Heavy" pitchFamily="18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6071C6D-4B2C-E421-429A-FAB8961D9BDC}"/>
              </a:ext>
            </a:extLst>
          </p:cNvPr>
          <p:cNvSpPr txBox="1"/>
          <p:nvPr/>
        </p:nvSpPr>
        <p:spPr>
          <a:xfrm>
            <a:off x="9025476" y="5095476"/>
            <a:ext cx="1928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solidFill>
                  <a:srgbClr val="00319F"/>
                </a:solidFill>
                <a:latin typeface="+mn-ea"/>
                <a:cs typeface="Alibaba PuHuiTi" pitchFamily="18" charset="-122"/>
              </a:rPr>
              <a:t>六个月总量误差</a:t>
            </a:r>
          </a:p>
        </p:txBody>
      </p:sp>
      <p:sp>
        <p:nvSpPr>
          <p:cNvPr id="45" name="object 16">
            <a:extLst>
              <a:ext uri="{FF2B5EF4-FFF2-40B4-BE49-F238E27FC236}">
                <a16:creationId xmlns:a16="http://schemas.microsoft.com/office/drawing/2014/main" id="{ADF9FA56-E5FB-0FBB-93C1-D6ADD6FEDA13}"/>
              </a:ext>
            </a:extLst>
          </p:cNvPr>
          <p:cNvSpPr/>
          <p:nvPr/>
        </p:nvSpPr>
        <p:spPr>
          <a:xfrm>
            <a:off x="389120" y="1828609"/>
            <a:ext cx="936000" cy="648000"/>
          </a:xfrm>
          <a:custGeom>
            <a:avLst/>
            <a:gdLst/>
            <a:ahLst/>
            <a:cxnLst/>
            <a:rect l="l" t="t" r="r" b="b"/>
            <a:pathLst>
              <a:path w="662940" h="468630">
                <a:moveTo>
                  <a:pt x="546569" y="0"/>
                </a:moveTo>
                <a:lnTo>
                  <a:pt x="0" y="0"/>
                </a:lnTo>
                <a:lnTo>
                  <a:pt x="0" y="468172"/>
                </a:lnTo>
                <a:lnTo>
                  <a:pt x="546569" y="468172"/>
                </a:lnTo>
                <a:lnTo>
                  <a:pt x="591654" y="459071"/>
                </a:lnTo>
                <a:lnTo>
                  <a:pt x="628470" y="434249"/>
                </a:lnTo>
                <a:lnTo>
                  <a:pt x="653292" y="397433"/>
                </a:lnTo>
                <a:lnTo>
                  <a:pt x="662393" y="352348"/>
                </a:lnTo>
                <a:lnTo>
                  <a:pt x="662393" y="115823"/>
                </a:lnTo>
                <a:lnTo>
                  <a:pt x="653292" y="70739"/>
                </a:lnTo>
                <a:lnTo>
                  <a:pt x="628470" y="33923"/>
                </a:lnTo>
                <a:lnTo>
                  <a:pt x="591654" y="9101"/>
                </a:lnTo>
                <a:lnTo>
                  <a:pt x="546569" y="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lIns="0" tIns="0" rIns="0" bIns="0" rtlCol="0" anchor="ctr"/>
          <a:lstStyle/>
          <a:p>
            <a:pPr algn="ctr"/>
            <a:r>
              <a:rPr lang="zh-CN" altLang="en-US" b="1" dirty="0">
                <a:solidFill>
                  <a:schemeClr val="tx2"/>
                </a:solidFill>
              </a:rPr>
              <a:t>目标</a:t>
            </a:r>
            <a:endParaRPr b="1" dirty="0">
              <a:solidFill>
                <a:schemeClr val="tx2"/>
              </a:solidFill>
            </a:endParaRPr>
          </a:p>
        </p:txBody>
      </p:sp>
      <p:sp>
        <p:nvSpPr>
          <p:cNvPr id="46" name="object 34">
            <a:extLst>
              <a:ext uri="{FF2B5EF4-FFF2-40B4-BE49-F238E27FC236}">
                <a16:creationId xmlns:a16="http://schemas.microsoft.com/office/drawing/2014/main" id="{0F070EE1-D008-08F3-5E17-6E332822B8A8}"/>
              </a:ext>
            </a:extLst>
          </p:cNvPr>
          <p:cNvSpPr/>
          <p:nvPr/>
        </p:nvSpPr>
        <p:spPr>
          <a:xfrm>
            <a:off x="389119" y="4966498"/>
            <a:ext cx="936000" cy="1332000"/>
          </a:xfrm>
          <a:custGeom>
            <a:avLst/>
            <a:gdLst/>
            <a:ahLst/>
            <a:cxnLst/>
            <a:rect l="l" t="t" r="r" b="b"/>
            <a:pathLst>
              <a:path w="835025" h="1896745">
                <a:moveTo>
                  <a:pt x="682371" y="0"/>
                </a:moveTo>
                <a:lnTo>
                  <a:pt x="0" y="0"/>
                </a:lnTo>
                <a:lnTo>
                  <a:pt x="0" y="1896529"/>
                </a:lnTo>
                <a:lnTo>
                  <a:pt x="682371" y="1896529"/>
                </a:lnTo>
                <a:lnTo>
                  <a:pt x="730544" y="1888759"/>
                </a:lnTo>
                <a:lnTo>
                  <a:pt x="772379" y="1867123"/>
                </a:lnTo>
                <a:lnTo>
                  <a:pt x="805368" y="1834132"/>
                </a:lnTo>
                <a:lnTo>
                  <a:pt x="827002" y="1792297"/>
                </a:lnTo>
                <a:lnTo>
                  <a:pt x="834771" y="1744129"/>
                </a:lnTo>
                <a:lnTo>
                  <a:pt x="834771" y="152400"/>
                </a:lnTo>
                <a:lnTo>
                  <a:pt x="827002" y="104231"/>
                </a:lnTo>
                <a:lnTo>
                  <a:pt x="805368" y="62396"/>
                </a:lnTo>
                <a:lnTo>
                  <a:pt x="772379" y="29405"/>
                </a:lnTo>
                <a:lnTo>
                  <a:pt x="730544" y="7769"/>
                </a:lnTo>
                <a:lnTo>
                  <a:pt x="682371" y="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lIns="0" tIns="0" rIns="0" bIns="0" rtlCol="0" anchor="ctr"/>
          <a:lstStyle/>
          <a:p>
            <a:pPr algn="ctr"/>
            <a:r>
              <a:rPr lang="zh-CN" altLang="en-US" b="1" dirty="0">
                <a:solidFill>
                  <a:schemeClr val="tx2"/>
                </a:solidFill>
              </a:rPr>
              <a:t>效果</a:t>
            </a:r>
            <a:endParaRPr b="1" dirty="0">
              <a:solidFill>
                <a:schemeClr val="tx2"/>
              </a:solidFill>
            </a:endParaRPr>
          </a:p>
        </p:txBody>
      </p:sp>
      <p:sp>
        <p:nvSpPr>
          <p:cNvPr id="47" name="object 18">
            <a:extLst>
              <a:ext uri="{FF2B5EF4-FFF2-40B4-BE49-F238E27FC236}">
                <a16:creationId xmlns:a16="http://schemas.microsoft.com/office/drawing/2014/main" id="{AB51D1F6-45B7-561B-6E3B-931CB87FA3BD}"/>
              </a:ext>
            </a:extLst>
          </p:cNvPr>
          <p:cNvSpPr/>
          <p:nvPr/>
        </p:nvSpPr>
        <p:spPr>
          <a:xfrm>
            <a:off x="389120" y="2687754"/>
            <a:ext cx="936000" cy="2088000"/>
          </a:xfrm>
          <a:custGeom>
            <a:avLst/>
            <a:gdLst/>
            <a:ahLst/>
            <a:cxnLst/>
            <a:rect l="l" t="t" r="r" b="b"/>
            <a:pathLst>
              <a:path w="662940" h="2455545">
                <a:moveTo>
                  <a:pt x="509993" y="0"/>
                </a:moveTo>
                <a:lnTo>
                  <a:pt x="0" y="0"/>
                </a:lnTo>
                <a:lnTo>
                  <a:pt x="0" y="2455024"/>
                </a:lnTo>
                <a:lnTo>
                  <a:pt x="509993" y="2455024"/>
                </a:lnTo>
                <a:lnTo>
                  <a:pt x="558166" y="2447254"/>
                </a:lnTo>
                <a:lnTo>
                  <a:pt x="600002" y="2425618"/>
                </a:lnTo>
                <a:lnTo>
                  <a:pt x="632991" y="2392627"/>
                </a:lnTo>
                <a:lnTo>
                  <a:pt x="654625" y="2350792"/>
                </a:lnTo>
                <a:lnTo>
                  <a:pt x="662393" y="2302624"/>
                </a:lnTo>
                <a:lnTo>
                  <a:pt x="662393" y="152400"/>
                </a:lnTo>
                <a:lnTo>
                  <a:pt x="654625" y="104231"/>
                </a:lnTo>
                <a:lnTo>
                  <a:pt x="632991" y="62396"/>
                </a:lnTo>
                <a:lnTo>
                  <a:pt x="600002" y="29405"/>
                </a:lnTo>
                <a:lnTo>
                  <a:pt x="558166" y="7769"/>
                </a:lnTo>
                <a:lnTo>
                  <a:pt x="509993" y="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lIns="0" tIns="0" rIns="0" bIns="0" rtlCol="0" anchor="ctr"/>
          <a:lstStyle/>
          <a:p>
            <a:pPr algn="ctr"/>
            <a:r>
              <a:rPr lang="zh-CN" altLang="en-US" b="1" dirty="0">
                <a:solidFill>
                  <a:schemeClr val="tx2"/>
                </a:solidFill>
              </a:rPr>
              <a:t>方法</a:t>
            </a:r>
            <a:endParaRPr b="1" dirty="0">
              <a:solidFill>
                <a:schemeClr val="tx2"/>
              </a:solidFill>
            </a:endParaRP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F3EA2F9B-C8B1-FD73-467C-DA8F40D8C719}"/>
              </a:ext>
            </a:extLst>
          </p:cNvPr>
          <p:cNvSpPr/>
          <p:nvPr/>
        </p:nvSpPr>
        <p:spPr>
          <a:xfrm>
            <a:off x="1512725" y="1838438"/>
            <a:ext cx="2376000" cy="648000"/>
          </a:xfrm>
          <a:prstGeom prst="roundRect">
            <a:avLst/>
          </a:prstGeom>
          <a:gradFill flip="none" rotWithShape="1">
            <a:gsLst>
              <a:gs pos="33000">
                <a:schemeClr val="accent1"/>
              </a:gs>
              <a:gs pos="99000">
                <a:schemeClr val="accent1">
                  <a:alpha val="23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20917EA3-DFB4-DD0B-0E45-5E9061590DC8}"/>
              </a:ext>
            </a:extLst>
          </p:cNvPr>
          <p:cNvSpPr/>
          <p:nvPr/>
        </p:nvSpPr>
        <p:spPr>
          <a:xfrm>
            <a:off x="4104725" y="1838438"/>
            <a:ext cx="2376000" cy="648000"/>
          </a:xfrm>
          <a:prstGeom prst="roundRect">
            <a:avLst/>
          </a:prstGeom>
          <a:gradFill flip="none" rotWithShape="1">
            <a:gsLst>
              <a:gs pos="33000">
                <a:schemeClr val="accent1"/>
              </a:gs>
              <a:gs pos="99000">
                <a:schemeClr val="accent1">
                  <a:alpha val="23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E2976E33-59E7-AB92-A8CD-617ED85CEE8F}"/>
              </a:ext>
            </a:extLst>
          </p:cNvPr>
          <p:cNvSpPr/>
          <p:nvPr/>
        </p:nvSpPr>
        <p:spPr>
          <a:xfrm>
            <a:off x="6696725" y="1838438"/>
            <a:ext cx="2376000" cy="648000"/>
          </a:xfrm>
          <a:prstGeom prst="roundRect">
            <a:avLst/>
          </a:prstGeom>
          <a:gradFill flip="none" rotWithShape="1">
            <a:gsLst>
              <a:gs pos="33000">
                <a:schemeClr val="accent1"/>
              </a:gs>
              <a:gs pos="99000">
                <a:schemeClr val="accent1">
                  <a:alpha val="23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9D5CC225-70AB-4535-1071-575D819560E9}"/>
              </a:ext>
            </a:extLst>
          </p:cNvPr>
          <p:cNvSpPr/>
          <p:nvPr/>
        </p:nvSpPr>
        <p:spPr>
          <a:xfrm>
            <a:off x="9288725" y="1838438"/>
            <a:ext cx="2376000" cy="648000"/>
          </a:xfrm>
          <a:prstGeom prst="roundRect">
            <a:avLst/>
          </a:prstGeom>
          <a:gradFill flip="none" rotWithShape="1">
            <a:gsLst>
              <a:gs pos="33000">
                <a:schemeClr val="accent1"/>
              </a:gs>
              <a:gs pos="99000">
                <a:schemeClr val="accent1">
                  <a:alpha val="23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BFDC1C05-36DE-69F2-20EF-511F83D54B1C}"/>
              </a:ext>
            </a:extLst>
          </p:cNvPr>
          <p:cNvSpPr txBox="1"/>
          <p:nvPr/>
        </p:nvSpPr>
        <p:spPr>
          <a:xfrm>
            <a:off x="1533991" y="1854661"/>
            <a:ext cx="1165573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rtl="0" eaLnBrk="0">
              <a:tabLst/>
            </a:pPr>
            <a:r>
              <a:rPr lang="zh-CN" altLang="en-US" sz="1400" b="1" kern="0" spc="60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ea"/>
                <a:cs typeface="Segoe UI"/>
              </a:rPr>
              <a:t>产品颗粒度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CF56D49F-B177-6CB8-4E7E-4C6B54D5BD6D}"/>
              </a:ext>
            </a:extLst>
          </p:cNvPr>
          <p:cNvSpPr txBox="1"/>
          <p:nvPr/>
        </p:nvSpPr>
        <p:spPr>
          <a:xfrm>
            <a:off x="2540911" y="2087051"/>
            <a:ext cx="1269673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0" eaLnBrk="0">
              <a:tabLst/>
            </a:pPr>
            <a:r>
              <a:rPr lang="en-US" altLang="zh-CN" sz="1600" b="1" kern="0" spc="60" dirty="0">
                <a:solidFill>
                  <a:schemeClr val="bg1"/>
                </a:solidFill>
                <a:latin typeface="+mn-ea"/>
                <a:cs typeface="Segoe UI"/>
              </a:rPr>
              <a:t>By SKU</a:t>
            </a:r>
            <a:endParaRPr lang="zh-CN" altLang="en-US" sz="1600" b="1" kern="0" spc="60" dirty="0">
              <a:solidFill>
                <a:schemeClr val="bg1"/>
              </a:solidFill>
              <a:latin typeface="+mn-ea"/>
              <a:cs typeface="Segoe UI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8533CE4A-D613-855C-E7B1-86A811AE4055}"/>
              </a:ext>
            </a:extLst>
          </p:cNvPr>
          <p:cNvSpPr txBox="1"/>
          <p:nvPr/>
        </p:nvSpPr>
        <p:spPr>
          <a:xfrm>
            <a:off x="4119487" y="1850203"/>
            <a:ext cx="1375789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rtl="0" eaLnBrk="0">
              <a:tabLst/>
            </a:pPr>
            <a:r>
              <a:rPr lang="zh-CN" altLang="en-US" sz="1400" b="1" kern="0" spc="60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ea"/>
                <a:cs typeface="Segoe UI"/>
              </a:rPr>
              <a:t>预测层级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A4E13A14-C0D3-0D2D-DCD8-B6406FBE6E2E}"/>
              </a:ext>
            </a:extLst>
          </p:cNvPr>
          <p:cNvSpPr txBox="1"/>
          <p:nvPr/>
        </p:nvSpPr>
        <p:spPr>
          <a:xfrm>
            <a:off x="5295013" y="2082594"/>
            <a:ext cx="1090293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0" eaLnBrk="0">
              <a:tabLst/>
            </a:pPr>
            <a:r>
              <a:rPr lang="zh-CN" altLang="en-US" sz="1600" b="1" kern="0" spc="60" dirty="0">
                <a:solidFill>
                  <a:schemeClr val="bg1"/>
                </a:solidFill>
                <a:latin typeface="+mn-ea"/>
                <a:cs typeface="Segoe UI"/>
              </a:rPr>
              <a:t>全国级别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B9CC896B-3367-56DD-F448-27CAEFDB4EDF}"/>
              </a:ext>
            </a:extLst>
          </p:cNvPr>
          <p:cNvSpPr txBox="1"/>
          <p:nvPr/>
        </p:nvSpPr>
        <p:spPr>
          <a:xfrm>
            <a:off x="6713391" y="1853607"/>
            <a:ext cx="1301534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rtl="0" eaLnBrk="0">
              <a:tabLst/>
            </a:pPr>
            <a:r>
              <a:rPr lang="zh-CN" altLang="en-US" sz="1400" b="1" kern="0" spc="60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ea"/>
                <a:cs typeface="Segoe UI"/>
              </a:rPr>
              <a:t>预测时间窗口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5269E298-4BE6-C3BD-7198-8284FB83708C}"/>
              </a:ext>
            </a:extLst>
          </p:cNvPr>
          <p:cNvSpPr txBox="1"/>
          <p:nvPr/>
        </p:nvSpPr>
        <p:spPr>
          <a:xfrm>
            <a:off x="7671012" y="2085998"/>
            <a:ext cx="1411895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0" eaLnBrk="0">
              <a:tabLst/>
            </a:pPr>
            <a:r>
              <a:rPr lang="zh-CN" altLang="en-US" sz="1600" b="1" kern="0" spc="60" dirty="0">
                <a:solidFill>
                  <a:schemeClr val="bg1"/>
                </a:solidFill>
                <a:latin typeface="+mn-ea"/>
                <a:cs typeface="Segoe UI"/>
              </a:rPr>
              <a:t>当月</a:t>
            </a:r>
            <a:r>
              <a:rPr lang="en-US" altLang="zh-CN" sz="1600" b="1" kern="0" spc="60" dirty="0">
                <a:solidFill>
                  <a:schemeClr val="bg1"/>
                </a:solidFill>
                <a:latin typeface="+mn-ea"/>
                <a:cs typeface="Segoe UI"/>
              </a:rPr>
              <a:t>~T+6</a:t>
            </a:r>
            <a:r>
              <a:rPr lang="zh-CN" altLang="en-US" sz="1600" b="1" kern="0" spc="60" dirty="0">
                <a:solidFill>
                  <a:schemeClr val="bg1"/>
                </a:solidFill>
                <a:latin typeface="+mn-ea"/>
                <a:cs typeface="Segoe UI"/>
              </a:rPr>
              <a:t>月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3B174805-DF8B-72A0-DE29-D7C76A61BD3F}"/>
              </a:ext>
            </a:extLst>
          </p:cNvPr>
          <p:cNvSpPr txBox="1"/>
          <p:nvPr/>
        </p:nvSpPr>
        <p:spPr>
          <a:xfrm>
            <a:off x="9298908" y="1849232"/>
            <a:ext cx="1301534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rtl="0" eaLnBrk="0">
              <a:tabLst/>
            </a:pPr>
            <a:r>
              <a:rPr lang="zh-CN" altLang="en-US" sz="1400" b="1" kern="0" spc="60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ea"/>
                <a:cs typeface="Segoe UI"/>
              </a:rPr>
              <a:t>更新频率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F4885938-A2E6-BB8F-441A-529BF8BC1ED5}"/>
              </a:ext>
            </a:extLst>
          </p:cNvPr>
          <p:cNvSpPr txBox="1"/>
          <p:nvPr/>
        </p:nvSpPr>
        <p:spPr>
          <a:xfrm>
            <a:off x="10207256" y="2081623"/>
            <a:ext cx="145747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0" eaLnBrk="0">
              <a:tabLst/>
            </a:pPr>
            <a:r>
              <a:rPr lang="zh-CN" altLang="en-US" sz="1600" b="1" kern="0" spc="60" dirty="0">
                <a:solidFill>
                  <a:schemeClr val="bg1"/>
                </a:solidFill>
                <a:latin typeface="+mn-ea"/>
                <a:cs typeface="Segoe UI"/>
              </a:rPr>
              <a:t>每月更新</a:t>
            </a:r>
          </a:p>
        </p:txBody>
      </p:sp>
      <p:grpSp>
        <p:nvGrpSpPr>
          <p:cNvPr id="60" name="Google Shape;5606;p76">
            <a:extLst>
              <a:ext uri="{FF2B5EF4-FFF2-40B4-BE49-F238E27FC236}">
                <a16:creationId xmlns:a16="http://schemas.microsoft.com/office/drawing/2014/main" id="{85CC6F93-A7AF-863A-2B47-6891448A3DB4}"/>
              </a:ext>
            </a:extLst>
          </p:cNvPr>
          <p:cNvGrpSpPr/>
          <p:nvPr/>
        </p:nvGrpSpPr>
        <p:grpSpPr>
          <a:xfrm>
            <a:off x="673747" y="1083597"/>
            <a:ext cx="366743" cy="452361"/>
            <a:chOff x="3330525" y="4399275"/>
            <a:chExt cx="390650" cy="481850"/>
          </a:xfrm>
          <a:solidFill>
            <a:srgbClr val="00319F"/>
          </a:solidFill>
        </p:grpSpPr>
        <p:sp>
          <p:nvSpPr>
            <p:cNvPr id="61" name="Google Shape;5607;p76">
              <a:extLst>
                <a:ext uri="{FF2B5EF4-FFF2-40B4-BE49-F238E27FC236}">
                  <a16:creationId xmlns:a16="http://schemas.microsoft.com/office/drawing/2014/main" id="{19DF2BCA-DE98-BDFC-42F7-F4E527296A3E}"/>
                </a:ext>
              </a:extLst>
            </p:cNvPr>
            <p:cNvSpPr/>
            <p:nvPr/>
          </p:nvSpPr>
          <p:spPr>
            <a:xfrm>
              <a:off x="3543950" y="4648550"/>
              <a:ext cx="78450" cy="95775"/>
            </a:xfrm>
            <a:custGeom>
              <a:avLst/>
              <a:gdLst/>
              <a:ahLst/>
              <a:cxnLst/>
              <a:rect l="l" t="t" r="r" b="b"/>
              <a:pathLst>
                <a:path w="3138" h="3831" extrusionOk="0">
                  <a:moveTo>
                    <a:pt x="2677" y="0"/>
                  </a:moveTo>
                  <a:cubicBezTo>
                    <a:pt x="2298" y="356"/>
                    <a:pt x="1861" y="648"/>
                    <a:pt x="1388" y="858"/>
                  </a:cubicBezTo>
                  <a:lnTo>
                    <a:pt x="0" y="2948"/>
                  </a:lnTo>
                  <a:lnTo>
                    <a:pt x="880" y="3831"/>
                  </a:lnTo>
                  <a:lnTo>
                    <a:pt x="3138" y="443"/>
                  </a:lnTo>
                  <a:lnTo>
                    <a:pt x="267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sp>
          <p:nvSpPr>
            <p:cNvPr id="62" name="Google Shape;5608;p76">
              <a:extLst>
                <a:ext uri="{FF2B5EF4-FFF2-40B4-BE49-F238E27FC236}">
                  <a16:creationId xmlns:a16="http://schemas.microsoft.com/office/drawing/2014/main" id="{68139AEB-9039-E7A5-FC29-F64462205F40}"/>
                </a:ext>
              </a:extLst>
            </p:cNvPr>
            <p:cNvSpPr/>
            <p:nvPr/>
          </p:nvSpPr>
          <p:spPr>
            <a:xfrm>
              <a:off x="3427250" y="4456050"/>
              <a:ext cx="197650" cy="197175"/>
            </a:xfrm>
            <a:custGeom>
              <a:avLst/>
              <a:gdLst/>
              <a:ahLst/>
              <a:cxnLst/>
              <a:rect l="l" t="t" r="r" b="b"/>
              <a:pathLst>
                <a:path w="7906" h="7887" extrusionOk="0">
                  <a:moveTo>
                    <a:pt x="7520" y="0"/>
                  </a:moveTo>
                  <a:cubicBezTo>
                    <a:pt x="6863" y="1374"/>
                    <a:pt x="5475" y="2247"/>
                    <a:pt x="3952" y="2247"/>
                  </a:cubicBezTo>
                  <a:lnTo>
                    <a:pt x="1" y="2247"/>
                  </a:lnTo>
                  <a:lnTo>
                    <a:pt x="1" y="3942"/>
                  </a:lnTo>
                  <a:cubicBezTo>
                    <a:pt x="1" y="5698"/>
                    <a:pt x="1154" y="7137"/>
                    <a:pt x="2587" y="7643"/>
                  </a:cubicBezTo>
                  <a:lnTo>
                    <a:pt x="2597" y="7643"/>
                  </a:lnTo>
                  <a:cubicBezTo>
                    <a:pt x="3006" y="7806"/>
                    <a:pt x="3480" y="7887"/>
                    <a:pt x="3953" y="7887"/>
                  </a:cubicBezTo>
                  <a:cubicBezTo>
                    <a:pt x="4426" y="7887"/>
                    <a:pt x="4899" y="7806"/>
                    <a:pt x="5307" y="7643"/>
                  </a:cubicBezTo>
                  <a:lnTo>
                    <a:pt x="5319" y="7643"/>
                  </a:lnTo>
                  <a:cubicBezTo>
                    <a:pt x="6451" y="7306"/>
                    <a:pt x="7905" y="5848"/>
                    <a:pt x="7905" y="3942"/>
                  </a:cubicBezTo>
                  <a:lnTo>
                    <a:pt x="7905" y="1684"/>
                  </a:lnTo>
                  <a:cubicBezTo>
                    <a:pt x="7905" y="1100"/>
                    <a:pt x="7776" y="524"/>
                    <a:pt x="75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sp>
          <p:nvSpPr>
            <p:cNvPr id="63" name="Google Shape;5609;p76">
              <a:extLst>
                <a:ext uri="{FF2B5EF4-FFF2-40B4-BE49-F238E27FC236}">
                  <a16:creationId xmlns:a16="http://schemas.microsoft.com/office/drawing/2014/main" id="{57E3E7BB-606D-E4BC-2623-02F7E2EB38D9}"/>
                </a:ext>
              </a:extLst>
            </p:cNvPr>
            <p:cNvSpPr/>
            <p:nvPr/>
          </p:nvSpPr>
          <p:spPr>
            <a:xfrm>
              <a:off x="3428150" y="4399275"/>
              <a:ext cx="166925" cy="84725"/>
            </a:xfrm>
            <a:custGeom>
              <a:avLst/>
              <a:gdLst/>
              <a:ahLst/>
              <a:cxnLst/>
              <a:rect l="l" t="t" r="r" b="b"/>
              <a:pathLst>
                <a:path w="6677" h="3389" extrusionOk="0">
                  <a:moveTo>
                    <a:pt x="3921" y="1"/>
                  </a:moveTo>
                  <a:cubicBezTo>
                    <a:pt x="3917" y="1"/>
                    <a:pt x="3913" y="1"/>
                    <a:pt x="3910" y="1"/>
                  </a:cubicBezTo>
                  <a:cubicBezTo>
                    <a:pt x="1946" y="4"/>
                    <a:pt x="284" y="1446"/>
                    <a:pt x="1" y="3389"/>
                  </a:cubicBezTo>
                  <a:lnTo>
                    <a:pt x="3910" y="3389"/>
                  </a:lnTo>
                  <a:cubicBezTo>
                    <a:pt x="5247" y="3389"/>
                    <a:pt x="6403" y="2452"/>
                    <a:pt x="6677" y="1142"/>
                  </a:cubicBezTo>
                  <a:cubicBezTo>
                    <a:pt x="5945" y="410"/>
                    <a:pt x="4953" y="1"/>
                    <a:pt x="39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sp>
          <p:nvSpPr>
            <p:cNvPr id="64" name="Google Shape;5610;p76">
              <a:extLst>
                <a:ext uri="{FF2B5EF4-FFF2-40B4-BE49-F238E27FC236}">
                  <a16:creationId xmlns:a16="http://schemas.microsoft.com/office/drawing/2014/main" id="{AB0B4EF0-4C90-8CB5-CE69-86E14AAD9F69}"/>
                </a:ext>
              </a:extLst>
            </p:cNvPr>
            <p:cNvSpPr/>
            <p:nvPr/>
          </p:nvSpPr>
          <p:spPr>
            <a:xfrm>
              <a:off x="3330525" y="4674000"/>
              <a:ext cx="181225" cy="207125"/>
            </a:xfrm>
            <a:custGeom>
              <a:avLst/>
              <a:gdLst/>
              <a:ahLst/>
              <a:cxnLst/>
              <a:rect l="l" t="t" r="r" b="b"/>
              <a:pathLst>
                <a:path w="7249" h="8285" extrusionOk="0">
                  <a:moveTo>
                    <a:pt x="2972" y="0"/>
                  </a:moveTo>
                  <a:lnTo>
                    <a:pt x="1455" y="440"/>
                  </a:lnTo>
                  <a:cubicBezTo>
                    <a:pt x="542" y="744"/>
                    <a:pt x="0" y="1716"/>
                    <a:pt x="235" y="2620"/>
                  </a:cubicBezTo>
                  <a:lnTo>
                    <a:pt x="1229" y="7832"/>
                  </a:lnTo>
                  <a:cubicBezTo>
                    <a:pt x="1289" y="8091"/>
                    <a:pt x="1518" y="8278"/>
                    <a:pt x="1783" y="8284"/>
                  </a:cubicBezTo>
                  <a:cubicBezTo>
                    <a:pt x="1787" y="8284"/>
                    <a:pt x="1792" y="8285"/>
                    <a:pt x="1796" y="8285"/>
                  </a:cubicBezTo>
                  <a:cubicBezTo>
                    <a:pt x="1816" y="8285"/>
                    <a:pt x="1835" y="8279"/>
                    <a:pt x="1852" y="8272"/>
                  </a:cubicBezTo>
                  <a:cubicBezTo>
                    <a:pt x="1861" y="8284"/>
                    <a:pt x="1861" y="8284"/>
                    <a:pt x="1873" y="8284"/>
                  </a:cubicBezTo>
                  <a:lnTo>
                    <a:pt x="7248" y="8284"/>
                  </a:lnTo>
                  <a:lnTo>
                    <a:pt x="7248" y="3364"/>
                  </a:lnTo>
                  <a:lnTo>
                    <a:pt x="6514" y="4086"/>
                  </a:lnTo>
                  <a:cubicBezTo>
                    <a:pt x="6410" y="4202"/>
                    <a:pt x="6270" y="4259"/>
                    <a:pt x="6126" y="4259"/>
                  </a:cubicBezTo>
                  <a:cubicBezTo>
                    <a:pt x="5952" y="4259"/>
                    <a:pt x="5772" y="4175"/>
                    <a:pt x="5646" y="4008"/>
                  </a:cubicBezTo>
                  <a:lnTo>
                    <a:pt x="297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sp>
          <p:nvSpPr>
            <p:cNvPr id="65" name="Google Shape;5611;p76">
              <a:extLst>
                <a:ext uri="{FF2B5EF4-FFF2-40B4-BE49-F238E27FC236}">
                  <a16:creationId xmlns:a16="http://schemas.microsoft.com/office/drawing/2014/main" id="{C518CB7F-369D-A8FD-F07F-6BFFE752E12C}"/>
                </a:ext>
              </a:extLst>
            </p:cNvPr>
            <p:cNvSpPr/>
            <p:nvPr/>
          </p:nvSpPr>
          <p:spPr>
            <a:xfrm>
              <a:off x="3540175" y="4674000"/>
              <a:ext cx="181000" cy="207100"/>
            </a:xfrm>
            <a:custGeom>
              <a:avLst/>
              <a:gdLst/>
              <a:ahLst/>
              <a:cxnLst/>
              <a:rect l="l" t="t" r="r" b="b"/>
              <a:pathLst>
                <a:path w="7240" h="8284" extrusionOk="0">
                  <a:moveTo>
                    <a:pt x="3951" y="4821"/>
                  </a:moveTo>
                  <a:cubicBezTo>
                    <a:pt x="4701" y="4821"/>
                    <a:pt x="4701" y="5950"/>
                    <a:pt x="3951" y="5950"/>
                  </a:cubicBezTo>
                  <a:lnTo>
                    <a:pt x="2822" y="5950"/>
                  </a:lnTo>
                  <a:cubicBezTo>
                    <a:pt x="2075" y="5950"/>
                    <a:pt x="2075" y="4821"/>
                    <a:pt x="2822" y="4821"/>
                  </a:cubicBezTo>
                  <a:close/>
                  <a:moveTo>
                    <a:pt x="4280" y="0"/>
                  </a:moveTo>
                  <a:lnTo>
                    <a:pt x="1603" y="4008"/>
                  </a:lnTo>
                  <a:cubicBezTo>
                    <a:pt x="1476" y="4178"/>
                    <a:pt x="1297" y="4257"/>
                    <a:pt x="1126" y="4257"/>
                  </a:cubicBezTo>
                  <a:cubicBezTo>
                    <a:pt x="977" y="4257"/>
                    <a:pt x="834" y="4197"/>
                    <a:pt x="735" y="4086"/>
                  </a:cubicBezTo>
                  <a:lnTo>
                    <a:pt x="1" y="3364"/>
                  </a:lnTo>
                  <a:lnTo>
                    <a:pt x="1" y="8284"/>
                  </a:lnTo>
                  <a:lnTo>
                    <a:pt x="5454" y="8284"/>
                  </a:lnTo>
                  <a:cubicBezTo>
                    <a:pt x="5722" y="8284"/>
                    <a:pt x="5954" y="8094"/>
                    <a:pt x="6008" y="7832"/>
                  </a:cubicBezTo>
                  <a:lnTo>
                    <a:pt x="7002" y="2653"/>
                  </a:lnTo>
                  <a:cubicBezTo>
                    <a:pt x="7240" y="1716"/>
                    <a:pt x="6707" y="744"/>
                    <a:pt x="5770" y="428"/>
                  </a:cubicBezTo>
                  <a:lnTo>
                    <a:pt x="42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sp>
          <p:nvSpPr>
            <p:cNvPr id="66" name="Google Shape;5612;p76">
              <a:extLst>
                <a:ext uri="{FF2B5EF4-FFF2-40B4-BE49-F238E27FC236}">
                  <a16:creationId xmlns:a16="http://schemas.microsoft.com/office/drawing/2014/main" id="{9BED5AE1-66D0-498C-650D-FA16A4535275}"/>
                </a:ext>
              </a:extLst>
            </p:cNvPr>
            <p:cNvSpPr/>
            <p:nvPr/>
          </p:nvSpPr>
          <p:spPr>
            <a:xfrm>
              <a:off x="3429975" y="4648850"/>
              <a:ext cx="78225" cy="95400"/>
            </a:xfrm>
            <a:custGeom>
              <a:avLst/>
              <a:gdLst/>
              <a:ahLst/>
              <a:cxnLst/>
              <a:rect l="l" t="t" r="r" b="b"/>
              <a:pathLst>
                <a:path w="3129" h="3816" extrusionOk="0">
                  <a:moveTo>
                    <a:pt x="452" y="0"/>
                  </a:moveTo>
                  <a:lnTo>
                    <a:pt x="0" y="440"/>
                  </a:lnTo>
                  <a:lnTo>
                    <a:pt x="2247" y="3816"/>
                  </a:lnTo>
                  <a:lnTo>
                    <a:pt x="3129" y="2936"/>
                  </a:lnTo>
                  <a:lnTo>
                    <a:pt x="1741" y="846"/>
                  </a:lnTo>
                  <a:cubicBezTo>
                    <a:pt x="1268" y="636"/>
                    <a:pt x="834" y="350"/>
                    <a:pt x="4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sp>
          <p:nvSpPr>
            <p:cNvPr id="67" name="Google Shape;5613;p76">
              <a:extLst>
                <a:ext uri="{FF2B5EF4-FFF2-40B4-BE49-F238E27FC236}">
                  <a16:creationId xmlns:a16="http://schemas.microsoft.com/office/drawing/2014/main" id="{5D0FFEB0-4430-8E72-5643-143CCA5D64F0}"/>
                </a:ext>
              </a:extLst>
            </p:cNvPr>
            <p:cNvSpPr/>
            <p:nvPr/>
          </p:nvSpPr>
          <p:spPr>
            <a:xfrm>
              <a:off x="3514200" y="4681000"/>
              <a:ext cx="23150" cy="17550"/>
            </a:xfrm>
            <a:custGeom>
              <a:avLst/>
              <a:gdLst/>
              <a:ahLst/>
              <a:cxnLst/>
              <a:rect l="l" t="t" r="r" b="b"/>
              <a:pathLst>
                <a:path w="926" h="702" extrusionOk="0">
                  <a:moveTo>
                    <a:pt x="1" y="0"/>
                  </a:moveTo>
                  <a:lnTo>
                    <a:pt x="465" y="702"/>
                  </a:lnTo>
                  <a:lnTo>
                    <a:pt x="925" y="0"/>
                  </a:lnTo>
                  <a:lnTo>
                    <a:pt x="916" y="0"/>
                  </a:lnTo>
                  <a:cubicBezTo>
                    <a:pt x="769" y="12"/>
                    <a:pt x="609" y="24"/>
                    <a:pt x="465" y="24"/>
                  </a:cubicBezTo>
                  <a:cubicBezTo>
                    <a:pt x="317" y="24"/>
                    <a:pt x="157" y="12"/>
                    <a:pt x="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</p:grpSp>
      <p:sp>
        <p:nvSpPr>
          <p:cNvPr id="68" name="任意形状 64">
            <a:extLst>
              <a:ext uri="{FF2B5EF4-FFF2-40B4-BE49-F238E27FC236}">
                <a16:creationId xmlns:a16="http://schemas.microsoft.com/office/drawing/2014/main" id="{7017F194-AC1F-D260-3AD0-2831448497B6}"/>
              </a:ext>
            </a:extLst>
          </p:cNvPr>
          <p:cNvSpPr/>
          <p:nvPr/>
        </p:nvSpPr>
        <p:spPr>
          <a:xfrm>
            <a:off x="1519589" y="989201"/>
            <a:ext cx="10152000" cy="641154"/>
          </a:xfrm>
          <a:prstGeom prst="wedgeRectCallout">
            <a:avLst>
              <a:gd name="adj1" fmla="val -51144"/>
              <a:gd name="adj2" fmla="val -15984"/>
            </a:avLst>
          </a:prstGeom>
          <a:solidFill>
            <a:schemeClr val="tx2">
              <a:alpha val="9028"/>
            </a:schemeClr>
          </a:solidFill>
          <a:ln w="12700">
            <a:solidFill>
              <a:srgbClr val="00319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kumimoji="1" lang="zh-CN" altLang="en-US" b="1" dirty="0">
                <a:solidFill>
                  <a:srgbClr val="00319F"/>
                </a:solidFill>
                <a:latin typeface="+mn-ea"/>
              </a:rPr>
              <a:t>供应链</a:t>
            </a:r>
            <a:r>
              <a:rPr kumimoji="1" lang="en-US" altLang="zh-CN" b="1" dirty="0">
                <a:solidFill>
                  <a:srgbClr val="00319F"/>
                </a:solidFill>
                <a:latin typeface="+mn-ea"/>
              </a:rPr>
              <a:t>/</a:t>
            </a:r>
            <a:r>
              <a:rPr kumimoji="1" lang="zh-CN" altLang="en-US" b="1" dirty="0">
                <a:solidFill>
                  <a:srgbClr val="00319F"/>
                </a:solidFill>
                <a:latin typeface="+mn-ea"/>
              </a:rPr>
              <a:t>排产计划，市场部、销售各自报，到底谁说了算</a:t>
            </a:r>
            <a:r>
              <a:rPr kumimoji="1" lang="en-US" altLang="zh-CN" b="1" dirty="0">
                <a:solidFill>
                  <a:srgbClr val="00319F"/>
                </a:solidFill>
                <a:latin typeface="+mn-ea"/>
              </a:rPr>
              <a:t>/</a:t>
            </a:r>
            <a:r>
              <a:rPr kumimoji="1" lang="zh-CN" altLang="en-US" b="1" dirty="0">
                <a:solidFill>
                  <a:srgbClr val="00319F"/>
                </a:solidFill>
                <a:latin typeface="+mn-ea"/>
              </a:rPr>
              <a:t>应该听谁的？</a:t>
            </a:r>
          </a:p>
        </p:txBody>
      </p:sp>
      <p:graphicFrame>
        <p:nvGraphicFramePr>
          <p:cNvPr id="69" name="图表 68">
            <a:extLst>
              <a:ext uri="{FF2B5EF4-FFF2-40B4-BE49-F238E27FC236}">
                <a16:creationId xmlns:a16="http://schemas.microsoft.com/office/drawing/2014/main" id="{DF9CAB1E-F1ED-91AB-FDFF-FC4D734247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55020960"/>
              </p:ext>
            </p:extLst>
          </p:nvPr>
        </p:nvGraphicFramePr>
        <p:xfrm>
          <a:off x="1982441" y="5005126"/>
          <a:ext cx="5640454" cy="1372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0" name="图表 69">
            <a:extLst>
              <a:ext uri="{FF2B5EF4-FFF2-40B4-BE49-F238E27FC236}">
                <a16:creationId xmlns:a16="http://schemas.microsoft.com/office/drawing/2014/main" id="{18572C60-42AF-8094-C665-637B9C2F75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28565815"/>
              </p:ext>
            </p:extLst>
          </p:nvPr>
        </p:nvGraphicFramePr>
        <p:xfrm>
          <a:off x="1982441" y="5005124"/>
          <a:ext cx="5640454" cy="13722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1" name="椭圆 70">
            <a:extLst>
              <a:ext uri="{FF2B5EF4-FFF2-40B4-BE49-F238E27FC236}">
                <a16:creationId xmlns:a16="http://schemas.microsoft.com/office/drawing/2014/main" id="{424BCB74-6D8A-6E84-4FAA-721D950C338A}"/>
              </a:ext>
            </a:extLst>
          </p:cNvPr>
          <p:cNvSpPr/>
          <p:nvPr/>
        </p:nvSpPr>
        <p:spPr>
          <a:xfrm>
            <a:off x="7961892" y="5831219"/>
            <a:ext cx="108000" cy="108000"/>
          </a:xfrm>
          <a:prstGeom prst="ellipse">
            <a:avLst/>
          </a:prstGeom>
          <a:solidFill>
            <a:srgbClr val="0031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319F"/>
              </a:solidFill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5072856F-F8CC-0EA2-7C78-6549CB75BE41}"/>
              </a:ext>
            </a:extLst>
          </p:cNvPr>
          <p:cNvSpPr txBox="1"/>
          <p:nvPr/>
        </p:nvSpPr>
        <p:spPr>
          <a:xfrm>
            <a:off x="8082559" y="5758687"/>
            <a:ext cx="81447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050" dirty="0">
                <a:solidFill>
                  <a:srgbClr val="00319F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实际值</a:t>
            </a:r>
          </a:p>
        </p:txBody>
      </p:sp>
      <p:sp>
        <p:nvSpPr>
          <p:cNvPr id="73" name="椭圆 72">
            <a:extLst>
              <a:ext uri="{FF2B5EF4-FFF2-40B4-BE49-F238E27FC236}">
                <a16:creationId xmlns:a16="http://schemas.microsoft.com/office/drawing/2014/main" id="{834E98D5-81B1-B3C4-B363-090035DBE28E}"/>
              </a:ext>
            </a:extLst>
          </p:cNvPr>
          <p:cNvSpPr/>
          <p:nvPr/>
        </p:nvSpPr>
        <p:spPr>
          <a:xfrm>
            <a:off x="7961892" y="6059170"/>
            <a:ext cx="108000" cy="108000"/>
          </a:xfrm>
          <a:prstGeom prst="ellipse">
            <a:avLst/>
          </a:prstGeom>
          <a:solidFill>
            <a:srgbClr val="5D8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319F"/>
              </a:solidFill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277E92AA-858B-EA20-56DA-3C89BBD60553}"/>
              </a:ext>
            </a:extLst>
          </p:cNvPr>
          <p:cNvSpPr txBox="1"/>
          <p:nvPr/>
        </p:nvSpPr>
        <p:spPr>
          <a:xfrm>
            <a:off x="8082559" y="5996371"/>
            <a:ext cx="7359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050" dirty="0">
                <a:solidFill>
                  <a:srgbClr val="00319F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预测值</a:t>
            </a:r>
          </a:p>
        </p:txBody>
      </p:sp>
    </p:spTree>
    <p:extLst>
      <p:ext uri="{BB962C8B-B14F-4D97-AF65-F5344CB8AC3E}">
        <p14:creationId xmlns:p14="http://schemas.microsoft.com/office/powerpoint/2010/main" val="3696925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D5A97-07A7-2839-33C8-6A9D52E23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2CC5F7EF-3569-5D4D-87D2-46F70F8CC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120" y="289867"/>
            <a:ext cx="9470548" cy="623416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0B3995"/>
                </a:solidFill>
              </a:rPr>
              <a:t>当月达成滚动预测</a:t>
            </a:r>
          </a:p>
        </p:txBody>
      </p:sp>
      <p:sp>
        <p:nvSpPr>
          <p:cNvPr id="75" name="rect 164">
            <a:extLst>
              <a:ext uri="{FF2B5EF4-FFF2-40B4-BE49-F238E27FC236}">
                <a16:creationId xmlns:a16="http://schemas.microsoft.com/office/drawing/2014/main" id="{B6541AEA-EB42-38F7-7684-041566789C13}"/>
              </a:ext>
            </a:extLst>
          </p:cNvPr>
          <p:cNvSpPr/>
          <p:nvPr/>
        </p:nvSpPr>
        <p:spPr>
          <a:xfrm>
            <a:off x="1512725" y="2667038"/>
            <a:ext cx="10152000" cy="2088000"/>
          </a:xfrm>
          <a:prstGeom prst="rect">
            <a:avLst/>
          </a:prstGeom>
          <a:solidFill>
            <a:schemeClr val="bg1">
              <a:lumMod val="95000"/>
              <a:alpha val="69803"/>
            </a:scheme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 dirty="0"/>
          </a:p>
        </p:txBody>
      </p:sp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C50866D4-0D7C-6CC6-5EA2-555C8007D720}"/>
              </a:ext>
            </a:extLst>
          </p:cNvPr>
          <p:cNvSpPr/>
          <p:nvPr/>
        </p:nvSpPr>
        <p:spPr>
          <a:xfrm>
            <a:off x="1637564" y="2811038"/>
            <a:ext cx="7308000" cy="1800000"/>
          </a:xfrm>
          <a:prstGeom prst="roundRect">
            <a:avLst>
              <a:gd name="adj" fmla="val 6616"/>
            </a:avLst>
          </a:prstGeom>
          <a:noFill/>
          <a:ln w="12700">
            <a:solidFill>
              <a:schemeClr val="tx2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5A0EC093-EE02-B424-BF87-2473DE472C0D}"/>
              </a:ext>
            </a:extLst>
          </p:cNvPr>
          <p:cNvGrpSpPr/>
          <p:nvPr/>
        </p:nvGrpSpPr>
        <p:grpSpPr>
          <a:xfrm>
            <a:off x="6790423" y="3055260"/>
            <a:ext cx="2032911" cy="1311556"/>
            <a:chOff x="6974384" y="2672252"/>
            <a:chExt cx="2232000" cy="1440000"/>
          </a:xfrm>
        </p:grpSpPr>
        <p:sp>
          <p:nvSpPr>
            <p:cNvPr id="78" name="path 166">
              <a:extLst>
                <a:ext uri="{FF2B5EF4-FFF2-40B4-BE49-F238E27FC236}">
                  <a16:creationId xmlns:a16="http://schemas.microsoft.com/office/drawing/2014/main" id="{330FC61C-EC09-E53A-F113-C8B82CEA0069}"/>
                </a:ext>
              </a:extLst>
            </p:cNvPr>
            <p:cNvSpPr/>
            <p:nvPr/>
          </p:nvSpPr>
          <p:spPr>
            <a:xfrm>
              <a:off x="6974384" y="2672252"/>
              <a:ext cx="2232000" cy="1440000"/>
            </a:xfrm>
            <a:custGeom>
              <a:avLst/>
              <a:gdLst/>
              <a:ahLst/>
              <a:cxnLst/>
              <a:rect l="0" t="0" r="0" b="0"/>
              <a:pathLst>
                <a:path w="6516" h="3284">
                  <a:moveTo>
                    <a:pt x="0" y="1642"/>
                  </a:moveTo>
                  <a:cubicBezTo>
                    <a:pt x="0" y="735"/>
                    <a:pt x="1458" y="0"/>
                    <a:pt x="3257" y="0"/>
                  </a:cubicBezTo>
                  <a:cubicBezTo>
                    <a:pt x="5057" y="0"/>
                    <a:pt x="6516" y="735"/>
                    <a:pt x="6516" y="1642"/>
                  </a:cubicBezTo>
                  <a:cubicBezTo>
                    <a:pt x="6516" y="2549"/>
                    <a:pt x="5057" y="3284"/>
                    <a:pt x="3257" y="3284"/>
                  </a:cubicBezTo>
                  <a:cubicBezTo>
                    <a:pt x="1458" y="3284"/>
                    <a:pt x="0" y="2549"/>
                    <a:pt x="0" y="1642"/>
                  </a:cubicBezTo>
                </a:path>
              </a:pathLst>
            </a:custGeom>
            <a:solidFill>
              <a:srgbClr val="FFD400">
                <a:alpha val="30196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 sz="1600"/>
            </a:p>
          </p:txBody>
        </p:sp>
        <p:sp>
          <p:nvSpPr>
            <p:cNvPr id="79" name="path 168">
              <a:extLst>
                <a:ext uri="{FF2B5EF4-FFF2-40B4-BE49-F238E27FC236}">
                  <a16:creationId xmlns:a16="http://schemas.microsoft.com/office/drawing/2014/main" id="{12A528A6-911B-DB1E-BB24-774A36EDE16F}"/>
                </a:ext>
              </a:extLst>
            </p:cNvPr>
            <p:cNvSpPr/>
            <p:nvPr/>
          </p:nvSpPr>
          <p:spPr>
            <a:xfrm>
              <a:off x="6974384" y="2672252"/>
              <a:ext cx="2232000" cy="1440000"/>
            </a:xfrm>
            <a:custGeom>
              <a:avLst/>
              <a:gdLst/>
              <a:ahLst/>
              <a:cxnLst/>
              <a:rect l="0" t="0" r="0" b="0"/>
              <a:pathLst>
                <a:path w="6546" h="3314">
                  <a:moveTo>
                    <a:pt x="15" y="1657"/>
                  </a:moveTo>
                  <a:cubicBezTo>
                    <a:pt x="15" y="750"/>
                    <a:pt x="1473" y="15"/>
                    <a:pt x="3272" y="15"/>
                  </a:cubicBezTo>
                  <a:cubicBezTo>
                    <a:pt x="5072" y="15"/>
                    <a:pt x="6531" y="750"/>
                    <a:pt x="6531" y="1657"/>
                  </a:cubicBezTo>
                  <a:cubicBezTo>
                    <a:pt x="6531" y="2564"/>
                    <a:pt x="5072" y="3299"/>
                    <a:pt x="3272" y="3299"/>
                  </a:cubicBezTo>
                  <a:cubicBezTo>
                    <a:pt x="1473" y="3299"/>
                    <a:pt x="15" y="2564"/>
                    <a:pt x="15" y="1657"/>
                  </a:cubicBezTo>
                </a:path>
              </a:pathLst>
            </a:custGeom>
            <a:noFill/>
            <a:ln w="19050" cap="rnd">
              <a:solidFill>
                <a:srgbClr val="D4DF33"/>
              </a:solidFill>
              <a:prstDash val="dash"/>
              <a:round/>
            </a:ln>
          </p:spPr>
          <p:txBody>
            <a:bodyPr rtlCol="0"/>
            <a:lstStyle/>
            <a:p>
              <a:pPr algn="ctr"/>
              <a:endParaRPr lang="zh-CN" altLang="en-US" sz="1600"/>
            </a:p>
          </p:txBody>
        </p:sp>
        <p:sp>
          <p:nvSpPr>
            <p:cNvPr id="80" name="path 190">
              <a:extLst>
                <a:ext uri="{FF2B5EF4-FFF2-40B4-BE49-F238E27FC236}">
                  <a16:creationId xmlns:a16="http://schemas.microsoft.com/office/drawing/2014/main" id="{87609651-469B-C83E-CB70-C3516D6FDF60}"/>
                </a:ext>
              </a:extLst>
            </p:cNvPr>
            <p:cNvSpPr/>
            <p:nvPr/>
          </p:nvSpPr>
          <p:spPr>
            <a:xfrm>
              <a:off x="6996008" y="2747142"/>
              <a:ext cx="360000" cy="360000"/>
            </a:xfrm>
            <a:custGeom>
              <a:avLst/>
              <a:gdLst/>
              <a:ahLst/>
              <a:cxnLst/>
              <a:rect l="0" t="0" r="0" b="0"/>
              <a:pathLst>
                <a:path w="624" h="625">
                  <a:moveTo>
                    <a:pt x="0" y="312"/>
                  </a:moveTo>
                  <a:cubicBezTo>
                    <a:pt x="0" y="140"/>
                    <a:pt x="139" y="0"/>
                    <a:pt x="312" y="0"/>
                  </a:cubicBezTo>
                  <a:cubicBezTo>
                    <a:pt x="485" y="0"/>
                    <a:pt x="624" y="140"/>
                    <a:pt x="624" y="312"/>
                  </a:cubicBezTo>
                  <a:cubicBezTo>
                    <a:pt x="624" y="485"/>
                    <a:pt x="485" y="625"/>
                    <a:pt x="312" y="625"/>
                  </a:cubicBezTo>
                  <a:cubicBezTo>
                    <a:pt x="139" y="625"/>
                    <a:pt x="0" y="485"/>
                    <a:pt x="0" y="312"/>
                  </a:cubicBezTo>
                </a:path>
              </a:pathLst>
            </a:custGeom>
            <a:solidFill>
              <a:srgbClr val="BF9F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 anchor="ctr"/>
            <a:lstStyle/>
            <a:p>
              <a:pPr algn="ctr"/>
              <a:endParaRPr lang="zh-CN" altLang="en-US" sz="1200">
                <a:latin typeface="+mn-ea"/>
              </a:endParaRPr>
            </a:p>
          </p:txBody>
        </p:sp>
        <p:sp>
          <p:nvSpPr>
            <p:cNvPr id="81" name="textbox 238">
              <a:extLst>
                <a:ext uri="{FF2B5EF4-FFF2-40B4-BE49-F238E27FC236}">
                  <a16:creationId xmlns:a16="http://schemas.microsoft.com/office/drawing/2014/main" id="{A44D77E1-4311-CD79-930D-B7C168F13F68}"/>
                </a:ext>
              </a:extLst>
            </p:cNvPr>
            <p:cNvSpPr/>
            <p:nvPr/>
          </p:nvSpPr>
          <p:spPr>
            <a:xfrm>
              <a:off x="7582422" y="2798267"/>
              <a:ext cx="946808" cy="257751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 anchor="ctr"/>
            <a:lstStyle/>
            <a:p>
              <a:pPr algn="ctr" rtl="0" eaLnBrk="0">
                <a:tabLst/>
              </a:pPr>
              <a:r>
                <a:rPr lang="zh-CN" altLang="en-US" sz="1200" b="1" kern="0" dirty="0">
                  <a:solidFill>
                    <a:srgbClr val="BF9F00">
                      <a:alpha val="100000"/>
                    </a:srgbClr>
                  </a:solidFill>
                  <a:latin typeface="+mn-ea"/>
                  <a:cs typeface="Segoe UI"/>
                </a:rPr>
                <a:t>历史趋势</a:t>
              </a:r>
              <a:endParaRPr sz="1200" dirty="0">
                <a:latin typeface="+mn-ea"/>
                <a:cs typeface="Segoe UI"/>
              </a:endParaRPr>
            </a:p>
          </p:txBody>
        </p:sp>
        <p:sp>
          <p:nvSpPr>
            <p:cNvPr id="82" name="textbox 292">
              <a:extLst>
                <a:ext uri="{FF2B5EF4-FFF2-40B4-BE49-F238E27FC236}">
                  <a16:creationId xmlns:a16="http://schemas.microsoft.com/office/drawing/2014/main" id="{FE1773F0-2B02-53D6-8830-382BBB4E5151}"/>
                </a:ext>
              </a:extLst>
            </p:cNvPr>
            <p:cNvSpPr/>
            <p:nvPr/>
          </p:nvSpPr>
          <p:spPr>
            <a:xfrm>
              <a:off x="7107746" y="2814430"/>
              <a:ext cx="136525" cy="2254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 anchor="ctr"/>
            <a:lstStyle/>
            <a:p>
              <a:pPr algn="ctr" rtl="0" eaLnBrk="0">
                <a:tabLst/>
              </a:pPr>
              <a:r>
                <a:rPr lang="en-US" sz="1200" b="1" kern="0" spc="-70" dirty="0">
                  <a:solidFill>
                    <a:srgbClr val="FFFFFF">
                      <a:alpha val="100000"/>
                    </a:srgbClr>
                  </a:solidFill>
                  <a:latin typeface="+mn-ea"/>
                  <a:cs typeface="Segoe UI"/>
                </a:rPr>
                <a:t>B</a:t>
              </a:r>
              <a:endParaRPr sz="1200" dirty="0">
                <a:latin typeface="+mn-ea"/>
                <a:cs typeface="Segoe UI"/>
              </a:endParaRPr>
            </a:p>
          </p:txBody>
        </p:sp>
        <p:sp>
          <p:nvSpPr>
            <p:cNvPr id="83" name="文本框 82">
              <a:extLst>
                <a:ext uri="{FF2B5EF4-FFF2-40B4-BE49-F238E27FC236}">
                  <a16:creationId xmlns:a16="http://schemas.microsoft.com/office/drawing/2014/main" id="{3C0E0D00-942D-70E7-2266-78576BF8A884}"/>
                </a:ext>
              </a:extLst>
            </p:cNvPr>
            <p:cNvSpPr txBox="1"/>
            <p:nvPr/>
          </p:nvSpPr>
          <p:spPr>
            <a:xfrm>
              <a:off x="7176008" y="3283202"/>
              <a:ext cx="1137023" cy="253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50000"/>
                    </a:schemeClr>
                  </a:solidFill>
                  <a:effectLst/>
                  <a:uLnTx/>
                  <a:uFillTx/>
                  <a:latin typeface="Aria"/>
                  <a:ea typeface="微软雅黑" panose="020B0503020204020204" pitchFamily="34" charset="-122"/>
                  <a:cs typeface="Arial" panose="020B0604020202020204" pitchFamily="34" charset="0"/>
                </a:rPr>
                <a:t>环比</a:t>
              </a: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50000"/>
                    </a:schemeClr>
                  </a:solidFill>
                  <a:effectLst/>
                  <a:uLnTx/>
                  <a:uFillTx/>
                  <a:latin typeface="Aria"/>
                  <a:ea typeface="微软雅黑" panose="020B0503020204020204" pitchFamily="34" charset="-122"/>
                  <a:cs typeface="Arial" panose="020B0604020202020204" pitchFamily="34" charset="0"/>
                </a:rPr>
                <a:t>/</a:t>
              </a: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50000"/>
                    </a:schemeClr>
                  </a:solidFill>
                  <a:effectLst/>
                  <a:uLnTx/>
                  <a:uFillTx/>
                  <a:latin typeface="Aria"/>
                  <a:ea typeface="微软雅黑" panose="020B0503020204020204" pitchFamily="34" charset="-122"/>
                  <a:cs typeface="Arial" panose="020B0604020202020204" pitchFamily="34" charset="0"/>
                </a:rPr>
                <a:t>同比增长率</a:t>
              </a:r>
            </a:p>
          </p:txBody>
        </p:sp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F35BBA99-5DE9-9258-13C0-CF232DCD1C01}"/>
                </a:ext>
              </a:extLst>
            </p:cNvPr>
            <p:cNvSpPr txBox="1"/>
            <p:nvPr/>
          </p:nvSpPr>
          <p:spPr>
            <a:xfrm>
              <a:off x="7693906" y="3608278"/>
              <a:ext cx="1041852" cy="253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50000"/>
                    </a:schemeClr>
                  </a:solidFill>
                  <a:effectLst/>
                  <a:uLnTx/>
                  <a:uFillTx/>
                  <a:latin typeface="Aria"/>
                  <a:ea typeface="微软雅黑" panose="020B0503020204020204" pitchFamily="34" charset="-122"/>
                  <a:cs typeface="Arial" panose="020B0604020202020204" pitchFamily="34" charset="0"/>
                </a:rPr>
                <a:t>近期移动平均</a:t>
              </a:r>
            </a:p>
          </p:txBody>
        </p: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2B0EDF26-B275-EFE0-4583-1E1C2919C842}"/>
                </a:ext>
              </a:extLst>
            </p:cNvPr>
            <p:cNvSpPr txBox="1"/>
            <p:nvPr/>
          </p:nvSpPr>
          <p:spPr>
            <a:xfrm>
              <a:off x="8286688" y="3106183"/>
              <a:ext cx="770073" cy="253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50000"/>
                    </a:schemeClr>
                  </a:solidFill>
                  <a:effectLst/>
                  <a:uLnTx/>
                  <a:uFillTx/>
                  <a:latin typeface="Aria"/>
                  <a:ea typeface="微软雅黑" panose="020B0503020204020204" pitchFamily="34" charset="-122"/>
                  <a:cs typeface="Arial" panose="020B0604020202020204" pitchFamily="34" charset="0"/>
                </a:rPr>
                <a:t>线性外推</a:t>
              </a:r>
            </a:p>
          </p:txBody>
        </p:sp>
      </p:grpSp>
      <p:grpSp>
        <p:nvGrpSpPr>
          <p:cNvPr id="86" name="组合 85">
            <a:extLst>
              <a:ext uri="{FF2B5EF4-FFF2-40B4-BE49-F238E27FC236}">
                <a16:creationId xmlns:a16="http://schemas.microsoft.com/office/drawing/2014/main" id="{8E960410-268A-7633-069A-99B4AA2006D9}"/>
              </a:ext>
            </a:extLst>
          </p:cNvPr>
          <p:cNvGrpSpPr/>
          <p:nvPr/>
        </p:nvGrpSpPr>
        <p:grpSpPr>
          <a:xfrm>
            <a:off x="1882405" y="3055260"/>
            <a:ext cx="2041310" cy="1311556"/>
            <a:chOff x="2070609" y="2672252"/>
            <a:chExt cx="2241222" cy="1440000"/>
          </a:xfrm>
        </p:grpSpPr>
        <p:sp>
          <p:nvSpPr>
            <p:cNvPr id="87" name="path 174">
              <a:extLst>
                <a:ext uri="{FF2B5EF4-FFF2-40B4-BE49-F238E27FC236}">
                  <a16:creationId xmlns:a16="http://schemas.microsoft.com/office/drawing/2014/main" id="{CE1EF740-BDCF-0EF2-7CBB-9EF51DB4856E}"/>
                </a:ext>
              </a:extLst>
            </p:cNvPr>
            <p:cNvSpPr/>
            <p:nvPr/>
          </p:nvSpPr>
          <p:spPr>
            <a:xfrm>
              <a:off x="2079831" y="2672252"/>
              <a:ext cx="2232000" cy="1440000"/>
            </a:xfrm>
            <a:custGeom>
              <a:avLst/>
              <a:gdLst/>
              <a:ahLst/>
              <a:cxnLst/>
              <a:rect l="0" t="0" r="0" b="0"/>
              <a:pathLst>
                <a:path w="3651" h="4122">
                  <a:moveTo>
                    <a:pt x="0" y="2061"/>
                  </a:moveTo>
                  <a:cubicBezTo>
                    <a:pt x="0" y="922"/>
                    <a:pt x="817" y="0"/>
                    <a:pt x="1825" y="0"/>
                  </a:cubicBezTo>
                  <a:cubicBezTo>
                    <a:pt x="2834" y="0"/>
                    <a:pt x="3651" y="922"/>
                    <a:pt x="3651" y="2061"/>
                  </a:cubicBezTo>
                  <a:cubicBezTo>
                    <a:pt x="3651" y="3200"/>
                    <a:pt x="2834" y="4122"/>
                    <a:pt x="1825" y="4122"/>
                  </a:cubicBezTo>
                  <a:cubicBezTo>
                    <a:pt x="817" y="4122"/>
                    <a:pt x="0" y="3200"/>
                    <a:pt x="0" y="2061"/>
                  </a:cubicBezTo>
                </a:path>
              </a:pathLst>
            </a:custGeom>
            <a:solidFill>
              <a:schemeClr val="accent1">
                <a:lumMod val="60000"/>
                <a:lumOff val="40000"/>
                <a:alpha val="20000"/>
              </a:scheme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 sz="1600"/>
            </a:p>
          </p:txBody>
        </p:sp>
        <p:sp>
          <p:nvSpPr>
            <p:cNvPr id="88" name="path 176">
              <a:extLst>
                <a:ext uri="{FF2B5EF4-FFF2-40B4-BE49-F238E27FC236}">
                  <a16:creationId xmlns:a16="http://schemas.microsoft.com/office/drawing/2014/main" id="{4E482644-C1AE-4827-BC06-5EE134F6629C}"/>
                </a:ext>
              </a:extLst>
            </p:cNvPr>
            <p:cNvSpPr/>
            <p:nvPr/>
          </p:nvSpPr>
          <p:spPr>
            <a:xfrm>
              <a:off x="2079831" y="2672252"/>
              <a:ext cx="2232000" cy="1440000"/>
            </a:xfrm>
            <a:custGeom>
              <a:avLst/>
              <a:gdLst/>
              <a:ahLst/>
              <a:cxnLst/>
              <a:rect l="0" t="0" r="0" b="0"/>
              <a:pathLst>
                <a:path w="3681" h="4152">
                  <a:moveTo>
                    <a:pt x="15" y="2076"/>
                  </a:moveTo>
                  <a:cubicBezTo>
                    <a:pt x="15" y="937"/>
                    <a:pt x="832" y="15"/>
                    <a:pt x="1840" y="15"/>
                  </a:cubicBezTo>
                  <a:cubicBezTo>
                    <a:pt x="2849" y="15"/>
                    <a:pt x="3666" y="937"/>
                    <a:pt x="3666" y="2076"/>
                  </a:cubicBezTo>
                  <a:cubicBezTo>
                    <a:pt x="3666" y="3215"/>
                    <a:pt x="2849" y="4137"/>
                    <a:pt x="1840" y="4137"/>
                  </a:cubicBezTo>
                  <a:cubicBezTo>
                    <a:pt x="832" y="4137"/>
                    <a:pt x="15" y="3215"/>
                    <a:pt x="15" y="2076"/>
                  </a:cubicBezTo>
                </a:path>
              </a:pathLst>
            </a:custGeom>
            <a:noFill/>
            <a:ln w="19050" cap="rnd">
              <a:solidFill>
                <a:schemeClr val="accent1"/>
              </a:solidFill>
              <a:prstDash val="dash"/>
              <a:round/>
            </a:ln>
          </p:spPr>
          <p:txBody>
            <a:bodyPr rtlCol="0"/>
            <a:lstStyle/>
            <a:p>
              <a:pPr algn="ctr"/>
              <a:endParaRPr lang="zh-CN" altLang="en-US" sz="1600"/>
            </a:p>
          </p:txBody>
        </p:sp>
        <p:sp>
          <p:nvSpPr>
            <p:cNvPr id="89" name="path 186">
              <a:extLst>
                <a:ext uri="{FF2B5EF4-FFF2-40B4-BE49-F238E27FC236}">
                  <a16:creationId xmlns:a16="http://schemas.microsoft.com/office/drawing/2014/main" id="{EDDBFFE1-E69C-B0D1-0A43-86CA8AF3CB16}"/>
                </a:ext>
              </a:extLst>
            </p:cNvPr>
            <p:cNvSpPr/>
            <p:nvPr/>
          </p:nvSpPr>
          <p:spPr>
            <a:xfrm>
              <a:off x="2070609" y="2747142"/>
              <a:ext cx="360000" cy="360000"/>
            </a:xfrm>
            <a:custGeom>
              <a:avLst/>
              <a:gdLst/>
              <a:ahLst/>
              <a:cxnLst/>
              <a:rect l="0" t="0" r="0" b="0"/>
              <a:pathLst>
                <a:path w="625" h="624">
                  <a:moveTo>
                    <a:pt x="0" y="312"/>
                  </a:moveTo>
                  <a:cubicBezTo>
                    <a:pt x="0" y="139"/>
                    <a:pt x="140" y="0"/>
                    <a:pt x="312" y="0"/>
                  </a:cubicBezTo>
                  <a:cubicBezTo>
                    <a:pt x="485" y="0"/>
                    <a:pt x="625" y="139"/>
                    <a:pt x="625" y="312"/>
                  </a:cubicBezTo>
                  <a:cubicBezTo>
                    <a:pt x="625" y="485"/>
                    <a:pt x="485" y="624"/>
                    <a:pt x="312" y="624"/>
                  </a:cubicBezTo>
                  <a:cubicBezTo>
                    <a:pt x="140" y="624"/>
                    <a:pt x="0" y="485"/>
                    <a:pt x="0" y="312"/>
                  </a:cubicBezTo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 lim="0"/>
            </a:ln>
          </p:spPr>
          <p:txBody>
            <a:bodyPr rtlCol="0" anchor="ctr"/>
            <a:lstStyle/>
            <a:p>
              <a:pPr algn="ctr"/>
              <a:endParaRPr lang="zh-CN" altLang="en-US" sz="1200">
                <a:latin typeface="+mn-ea"/>
              </a:endParaRPr>
            </a:p>
          </p:txBody>
        </p:sp>
        <p:sp>
          <p:nvSpPr>
            <p:cNvPr id="90" name="textbox 288">
              <a:extLst>
                <a:ext uri="{FF2B5EF4-FFF2-40B4-BE49-F238E27FC236}">
                  <a16:creationId xmlns:a16="http://schemas.microsoft.com/office/drawing/2014/main" id="{74D63EE4-E2A2-A442-9DAD-8E9BBFD4F15E}"/>
                </a:ext>
              </a:extLst>
            </p:cNvPr>
            <p:cNvSpPr/>
            <p:nvPr/>
          </p:nvSpPr>
          <p:spPr>
            <a:xfrm>
              <a:off x="2180442" y="2809032"/>
              <a:ext cx="140335" cy="2362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 anchor="ctr"/>
            <a:lstStyle/>
            <a:p>
              <a:pPr algn="ctr" rtl="0" eaLnBrk="0">
                <a:tabLst/>
              </a:pPr>
              <a:r>
                <a:rPr lang="en-US" sz="1200" b="1" kern="0" spc="-90" dirty="0">
                  <a:solidFill>
                    <a:srgbClr val="FFFFFF">
                      <a:alpha val="100000"/>
                    </a:srgbClr>
                  </a:solidFill>
                  <a:latin typeface="+mn-ea"/>
                  <a:cs typeface="Segoe UI"/>
                </a:rPr>
                <a:t>C</a:t>
              </a:r>
              <a:endParaRPr sz="1200" dirty="0">
                <a:latin typeface="+mn-ea"/>
                <a:cs typeface="Segoe UI"/>
              </a:endParaRPr>
            </a:p>
          </p:txBody>
        </p:sp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4937D5E7-D0A3-7387-925D-BAF9DEA1DC48}"/>
                </a:ext>
              </a:extLst>
            </p:cNvPr>
            <p:cNvSpPr txBox="1"/>
            <p:nvPr/>
          </p:nvSpPr>
          <p:spPr>
            <a:xfrm>
              <a:off x="2613245" y="2773254"/>
              <a:ext cx="1165573" cy="30777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 rtl="0" eaLnBrk="0">
                <a:tabLst/>
              </a:pPr>
              <a:r>
                <a:rPr lang="zh-CN" altLang="en-US" sz="1200" b="1" kern="0" spc="60" dirty="0">
                  <a:solidFill>
                    <a:srgbClr val="005B91">
                      <a:alpha val="100000"/>
                    </a:srgbClr>
                  </a:solidFill>
                  <a:latin typeface="+mn-ea"/>
                  <a:cs typeface="Segoe UI"/>
                </a:rPr>
                <a:t>当月进度</a:t>
              </a:r>
            </a:p>
          </p:txBody>
        </p:sp>
        <p:sp>
          <p:nvSpPr>
            <p:cNvPr id="92" name="文本框 91">
              <a:extLst>
                <a:ext uri="{FF2B5EF4-FFF2-40B4-BE49-F238E27FC236}">
                  <a16:creationId xmlns:a16="http://schemas.microsoft.com/office/drawing/2014/main" id="{1188DAF5-98ED-AEE8-372F-E869F645241A}"/>
                </a:ext>
              </a:extLst>
            </p:cNvPr>
            <p:cNvSpPr txBox="1"/>
            <p:nvPr/>
          </p:nvSpPr>
          <p:spPr>
            <a:xfrm>
              <a:off x="2246534" y="3241627"/>
              <a:ext cx="962226" cy="253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900" dirty="0">
                  <a:solidFill>
                    <a:schemeClr val="accent2">
                      <a:lumMod val="50000"/>
                    </a:schemeClr>
                  </a:solidFill>
                  <a:latin typeface="Aria"/>
                  <a:ea typeface="微软雅黑" panose="020B0503020204020204" pitchFamily="34" charset="-122"/>
                  <a:cs typeface="Arial" panose="020B0604020202020204" pitchFamily="34" charset="0"/>
                </a:rPr>
                <a:t>当月累积销量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Aria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93" name="文本框 92">
              <a:extLst>
                <a:ext uri="{FF2B5EF4-FFF2-40B4-BE49-F238E27FC236}">
                  <a16:creationId xmlns:a16="http://schemas.microsoft.com/office/drawing/2014/main" id="{2D7486CD-DD0F-EC29-42E0-6FECF91E98F7}"/>
                </a:ext>
              </a:extLst>
            </p:cNvPr>
            <p:cNvSpPr txBox="1"/>
            <p:nvPr/>
          </p:nvSpPr>
          <p:spPr>
            <a:xfrm>
              <a:off x="2791109" y="3643182"/>
              <a:ext cx="853398" cy="253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900" dirty="0">
                  <a:solidFill>
                    <a:schemeClr val="accent2">
                      <a:lumMod val="50000"/>
                    </a:schemeClr>
                  </a:solidFill>
                  <a:latin typeface="Aria"/>
                  <a:ea typeface="微软雅黑" panose="020B0503020204020204" pitchFamily="34" charset="-122"/>
                  <a:cs typeface="Arial" panose="020B0604020202020204" pitchFamily="34" charset="0"/>
                </a:rPr>
                <a:t>日均销量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Aria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94" name="文本框 93">
              <a:extLst>
                <a:ext uri="{FF2B5EF4-FFF2-40B4-BE49-F238E27FC236}">
                  <a16:creationId xmlns:a16="http://schemas.microsoft.com/office/drawing/2014/main" id="{A4B43B01-CF2A-054F-1EF7-1DA2243D2ECC}"/>
                </a:ext>
              </a:extLst>
            </p:cNvPr>
            <p:cNvSpPr txBox="1"/>
            <p:nvPr/>
          </p:nvSpPr>
          <p:spPr>
            <a:xfrm>
              <a:off x="3279547" y="3308351"/>
              <a:ext cx="998544" cy="253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900" dirty="0">
                  <a:solidFill>
                    <a:schemeClr val="accent2">
                      <a:lumMod val="50000"/>
                    </a:schemeClr>
                  </a:solidFill>
                  <a:latin typeface="Aria"/>
                  <a:ea typeface="微软雅黑" panose="020B0503020204020204" pitchFamily="34" charset="-122"/>
                  <a:cs typeface="Arial" panose="020B0604020202020204" pitchFamily="34" charset="0"/>
                </a:rPr>
                <a:t>历史</a:t>
              </a:r>
              <a:r>
                <a:rPr lang="en-US" altLang="zh-CN" sz="900" dirty="0">
                  <a:solidFill>
                    <a:schemeClr val="accent2">
                      <a:lumMod val="50000"/>
                    </a:schemeClr>
                  </a:solidFill>
                  <a:latin typeface="Aria"/>
                  <a:ea typeface="微软雅黑" panose="020B0503020204020204" pitchFamily="34" charset="-122"/>
                  <a:cs typeface="Arial" panose="020B0604020202020204" pitchFamily="34" charset="0"/>
                </a:rPr>
                <a:t>MTD</a:t>
              </a:r>
              <a:r>
                <a:rPr lang="zh-CN" altLang="en-US" sz="900" dirty="0">
                  <a:solidFill>
                    <a:schemeClr val="accent2">
                      <a:lumMod val="50000"/>
                    </a:schemeClr>
                  </a:solidFill>
                  <a:latin typeface="Aria"/>
                  <a:ea typeface="微软雅黑" panose="020B0503020204020204" pitchFamily="34" charset="-122"/>
                  <a:cs typeface="Arial" panose="020B0604020202020204" pitchFamily="34" charset="0"/>
                </a:rPr>
                <a:t>占比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Aria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95" name="组合 94">
            <a:extLst>
              <a:ext uri="{FF2B5EF4-FFF2-40B4-BE49-F238E27FC236}">
                <a16:creationId xmlns:a16="http://schemas.microsoft.com/office/drawing/2014/main" id="{9387F05B-6881-48A7-64CD-6795B7861972}"/>
              </a:ext>
            </a:extLst>
          </p:cNvPr>
          <p:cNvGrpSpPr/>
          <p:nvPr/>
        </p:nvGrpSpPr>
        <p:grpSpPr>
          <a:xfrm>
            <a:off x="9220911" y="3055260"/>
            <a:ext cx="2074134" cy="1311557"/>
            <a:chOff x="9328587" y="2672251"/>
            <a:chExt cx="2277260" cy="1440001"/>
          </a:xfrm>
        </p:grpSpPr>
        <p:sp>
          <p:nvSpPr>
            <p:cNvPr id="96" name="path 170">
              <a:extLst>
                <a:ext uri="{FF2B5EF4-FFF2-40B4-BE49-F238E27FC236}">
                  <a16:creationId xmlns:a16="http://schemas.microsoft.com/office/drawing/2014/main" id="{A58492B6-90EE-5B51-BE7D-51BD7FF2E470}"/>
                </a:ext>
              </a:extLst>
            </p:cNvPr>
            <p:cNvSpPr/>
            <p:nvPr/>
          </p:nvSpPr>
          <p:spPr>
            <a:xfrm>
              <a:off x="9373847" y="2672251"/>
              <a:ext cx="2232000" cy="1440000"/>
            </a:xfrm>
            <a:custGeom>
              <a:avLst/>
              <a:gdLst/>
              <a:ahLst/>
              <a:cxnLst/>
              <a:rect l="0" t="0" r="0" b="0"/>
              <a:pathLst>
                <a:path w="10164" h="2431">
                  <a:moveTo>
                    <a:pt x="0" y="1215"/>
                  </a:moveTo>
                  <a:cubicBezTo>
                    <a:pt x="0" y="544"/>
                    <a:pt x="2275" y="0"/>
                    <a:pt x="5082" y="0"/>
                  </a:cubicBezTo>
                  <a:cubicBezTo>
                    <a:pt x="7889" y="0"/>
                    <a:pt x="10164" y="544"/>
                    <a:pt x="10164" y="1215"/>
                  </a:cubicBezTo>
                  <a:cubicBezTo>
                    <a:pt x="10164" y="1887"/>
                    <a:pt x="7889" y="2431"/>
                    <a:pt x="5082" y="2431"/>
                  </a:cubicBezTo>
                  <a:cubicBezTo>
                    <a:pt x="2275" y="2431"/>
                    <a:pt x="0" y="1887"/>
                    <a:pt x="0" y="1215"/>
                  </a:cubicBezTo>
                </a:path>
              </a:pathLst>
            </a:custGeom>
            <a:solidFill>
              <a:schemeClr val="accent2">
                <a:alpha val="21960"/>
              </a:scheme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 sz="1600" dirty="0"/>
            </a:p>
          </p:txBody>
        </p:sp>
        <p:sp>
          <p:nvSpPr>
            <p:cNvPr id="97" name="path 172">
              <a:extLst>
                <a:ext uri="{FF2B5EF4-FFF2-40B4-BE49-F238E27FC236}">
                  <a16:creationId xmlns:a16="http://schemas.microsoft.com/office/drawing/2014/main" id="{D5DDA597-B904-8B3E-E16A-6F5FECDFC128}"/>
                </a:ext>
              </a:extLst>
            </p:cNvPr>
            <p:cNvSpPr/>
            <p:nvPr/>
          </p:nvSpPr>
          <p:spPr>
            <a:xfrm>
              <a:off x="9373847" y="2672252"/>
              <a:ext cx="2232000" cy="1440000"/>
            </a:xfrm>
            <a:custGeom>
              <a:avLst/>
              <a:gdLst/>
              <a:ahLst/>
              <a:cxnLst/>
              <a:rect l="0" t="0" r="0" b="0"/>
              <a:pathLst>
                <a:path w="10194" h="2461">
                  <a:moveTo>
                    <a:pt x="15" y="1230"/>
                  </a:moveTo>
                  <a:cubicBezTo>
                    <a:pt x="15" y="559"/>
                    <a:pt x="2290" y="15"/>
                    <a:pt x="5097" y="15"/>
                  </a:cubicBezTo>
                  <a:cubicBezTo>
                    <a:pt x="7904" y="15"/>
                    <a:pt x="10179" y="559"/>
                    <a:pt x="10179" y="1230"/>
                  </a:cubicBezTo>
                  <a:cubicBezTo>
                    <a:pt x="10179" y="1902"/>
                    <a:pt x="7904" y="2446"/>
                    <a:pt x="5097" y="2446"/>
                  </a:cubicBezTo>
                  <a:cubicBezTo>
                    <a:pt x="2290" y="2446"/>
                    <a:pt x="15" y="1902"/>
                    <a:pt x="15" y="1230"/>
                  </a:cubicBezTo>
                </a:path>
              </a:pathLst>
            </a:custGeom>
            <a:noFill/>
            <a:ln w="19050" cap="rnd">
              <a:solidFill>
                <a:srgbClr val="005B91"/>
              </a:solidFill>
              <a:prstDash val="dash"/>
              <a:round/>
            </a:ln>
          </p:spPr>
          <p:txBody>
            <a:bodyPr rtlCol="0"/>
            <a:lstStyle/>
            <a:p>
              <a:pPr algn="ctr"/>
              <a:endParaRPr lang="zh-CN" altLang="en-US" sz="1600"/>
            </a:p>
          </p:txBody>
        </p:sp>
        <p:sp>
          <p:nvSpPr>
            <p:cNvPr id="98" name="path 186">
              <a:extLst>
                <a:ext uri="{FF2B5EF4-FFF2-40B4-BE49-F238E27FC236}">
                  <a16:creationId xmlns:a16="http://schemas.microsoft.com/office/drawing/2014/main" id="{9188F6E4-55BB-2AA0-5E0E-2735254CE0B4}"/>
                </a:ext>
              </a:extLst>
            </p:cNvPr>
            <p:cNvSpPr/>
            <p:nvPr/>
          </p:nvSpPr>
          <p:spPr>
            <a:xfrm>
              <a:off x="9328587" y="2747142"/>
              <a:ext cx="360000" cy="360000"/>
            </a:xfrm>
            <a:custGeom>
              <a:avLst/>
              <a:gdLst/>
              <a:ahLst/>
              <a:cxnLst/>
              <a:rect l="0" t="0" r="0" b="0"/>
              <a:pathLst>
                <a:path w="625" h="624">
                  <a:moveTo>
                    <a:pt x="0" y="312"/>
                  </a:moveTo>
                  <a:cubicBezTo>
                    <a:pt x="0" y="139"/>
                    <a:pt x="140" y="0"/>
                    <a:pt x="312" y="0"/>
                  </a:cubicBezTo>
                  <a:cubicBezTo>
                    <a:pt x="485" y="0"/>
                    <a:pt x="625" y="139"/>
                    <a:pt x="625" y="312"/>
                  </a:cubicBezTo>
                  <a:cubicBezTo>
                    <a:pt x="625" y="485"/>
                    <a:pt x="485" y="624"/>
                    <a:pt x="312" y="624"/>
                  </a:cubicBezTo>
                  <a:cubicBezTo>
                    <a:pt x="140" y="624"/>
                    <a:pt x="0" y="485"/>
                    <a:pt x="0" y="312"/>
                  </a:cubicBezTo>
                </a:path>
              </a:pathLst>
            </a:custGeom>
            <a:solidFill>
              <a:srgbClr val="005B91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 anchor="ctr"/>
            <a:lstStyle/>
            <a:p>
              <a:pPr algn="ctr"/>
              <a:endParaRPr lang="zh-CN" altLang="en-US" sz="1200">
                <a:latin typeface="+mn-ea"/>
              </a:endParaRPr>
            </a:p>
          </p:txBody>
        </p:sp>
        <p:sp>
          <p:nvSpPr>
            <p:cNvPr id="99" name="textbox 288">
              <a:extLst>
                <a:ext uri="{FF2B5EF4-FFF2-40B4-BE49-F238E27FC236}">
                  <a16:creationId xmlns:a16="http://schemas.microsoft.com/office/drawing/2014/main" id="{30A2A1D1-BF4B-FC74-E289-099EF30247AB}"/>
                </a:ext>
              </a:extLst>
            </p:cNvPr>
            <p:cNvSpPr/>
            <p:nvPr/>
          </p:nvSpPr>
          <p:spPr>
            <a:xfrm>
              <a:off x="9438420" y="2809032"/>
              <a:ext cx="140335" cy="2362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 anchor="ctr"/>
            <a:lstStyle/>
            <a:p>
              <a:pPr algn="ctr" rtl="0" eaLnBrk="0">
                <a:tabLst/>
              </a:pPr>
              <a:r>
                <a:rPr lang="en-US" sz="1200" b="1" kern="0" spc="-90" dirty="0">
                  <a:solidFill>
                    <a:srgbClr val="FFFFFF">
                      <a:alpha val="100000"/>
                    </a:srgbClr>
                  </a:solidFill>
                  <a:latin typeface="+mn-ea"/>
                  <a:cs typeface="Segoe UI"/>
                </a:rPr>
                <a:t>D</a:t>
              </a:r>
              <a:endParaRPr sz="1200" dirty="0">
                <a:latin typeface="+mn-ea"/>
                <a:cs typeface="Segoe UI"/>
              </a:endParaRPr>
            </a:p>
          </p:txBody>
        </p:sp>
        <p:sp>
          <p:nvSpPr>
            <p:cNvPr id="100" name="文本框 99">
              <a:extLst>
                <a:ext uri="{FF2B5EF4-FFF2-40B4-BE49-F238E27FC236}">
                  <a16:creationId xmlns:a16="http://schemas.microsoft.com/office/drawing/2014/main" id="{DF695637-9388-EF2D-0DFB-08DC4C727388}"/>
                </a:ext>
              </a:extLst>
            </p:cNvPr>
            <p:cNvSpPr txBox="1"/>
            <p:nvPr/>
          </p:nvSpPr>
          <p:spPr>
            <a:xfrm>
              <a:off x="9961176" y="2773254"/>
              <a:ext cx="1181171" cy="30777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 rtl="0" eaLnBrk="0">
                <a:tabLst/>
              </a:pPr>
              <a:r>
                <a:rPr lang="zh-CN" altLang="en-US" sz="1200" b="1" kern="0" spc="60" dirty="0">
                  <a:solidFill>
                    <a:srgbClr val="005B91">
                      <a:alpha val="100000"/>
                    </a:srgbClr>
                  </a:solidFill>
                  <a:latin typeface="+mn-ea"/>
                  <a:cs typeface="Segoe UI"/>
                </a:rPr>
                <a:t>医院行为</a:t>
              </a:r>
              <a:endParaRPr lang="en-US" altLang="zh-CN" sz="1200" dirty="0">
                <a:latin typeface="+mn-ea"/>
                <a:cs typeface="Segoe UI"/>
              </a:endParaRPr>
            </a:p>
          </p:txBody>
        </p:sp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1BF314D6-9202-D2D4-DFC4-60D8B00F8E6E}"/>
                </a:ext>
              </a:extLst>
            </p:cNvPr>
            <p:cNvSpPr txBox="1"/>
            <p:nvPr/>
          </p:nvSpPr>
          <p:spPr>
            <a:xfrm>
              <a:off x="9765504" y="3594944"/>
              <a:ext cx="1260429" cy="253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50000"/>
                    </a:schemeClr>
                  </a:solidFill>
                  <a:effectLst/>
                  <a:uLnTx/>
                  <a:uFillTx/>
                  <a:latin typeface="Aria"/>
                  <a:ea typeface="微软雅黑" panose="020B0503020204020204" pitchFamily="34" charset="-122"/>
                  <a:cs typeface="Arial" panose="020B0604020202020204" pitchFamily="34" charset="0"/>
                </a:rPr>
                <a:t>距离上次进货月数</a:t>
              </a:r>
            </a:p>
          </p:txBody>
        </p:sp>
        <p:sp>
          <p:nvSpPr>
            <p:cNvPr id="102" name="文本框 101">
              <a:extLst>
                <a:ext uri="{FF2B5EF4-FFF2-40B4-BE49-F238E27FC236}">
                  <a16:creationId xmlns:a16="http://schemas.microsoft.com/office/drawing/2014/main" id="{72F01916-52D2-6208-6B65-9B1B326AA572}"/>
                </a:ext>
              </a:extLst>
            </p:cNvPr>
            <p:cNvSpPr txBox="1"/>
            <p:nvPr/>
          </p:nvSpPr>
          <p:spPr>
            <a:xfrm>
              <a:off x="9557995" y="3150800"/>
              <a:ext cx="727102" cy="253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50000"/>
                    </a:schemeClr>
                  </a:solidFill>
                  <a:effectLst/>
                  <a:uLnTx/>
                  <a:uFillTx/>
                  <a:latin typeface="Aria"/>
                  <a:ea typeface="微软雅黑" panose="020B0503020204020204" pitchFamily="34" charset="-122"/>
                  <a:cs typeface="Arial" panose="020B0604020202020204" pitchFamily="34" charset="0"/>
                </a:rPr>
                <a:t>库存代理</a:t>
              </a:r>
            </a:p>
          </p:txBody>
        </p: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D4292F67-3535-3C45-AACD-9A4B69B3F490}"/>
                </a:ext>
              </a:extLst>
            </p:cNvPr>
            <p:cNvSpPr txBox="1"/>
            <p:nvPr/>
          </p:nvSpPr>
          <p:spPr>
            <a:xfrm>
              <a:off x="10241022" y="3291953"/>
              <a:ext cx="1260428" cy="253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50000"/>
                    </a:schemeClr>
                  </a:solidFill>
                  <a:effectLst/>
                  <a:uLnTx/>
                  <a:uFillTx/>
                  <a:latin typeface="Aria"/>
                  <a:ea typeface="微软雅黑" panose="020B0503020204020204" pitchFamily="34" charset="-122"/>
                  <a:cs typeface="Arial" panose="020B0604020202020204" pitchFamily="34" charset="0"/>
                </a:rPr>
                <a:t>近期进货频次</a:t>
              </a: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50000"/>
                    </a:schemeClr>
                  </a:solidFill>
                  <a:effectLst/>
                  <a:uLnTx/>
                  <a:uFillTx/>
                  <a:latin typeface="Aria"/>
                  <a:ea typeface="微软雅黑" panose="020B0503020204020204" pitchFamily="34" charset="-122"/>
                  <a:cs typeface="Arial" panose="020B0604020202020204" pitchFamily="34" charset="0"/>
                </a:rPr>
                <a:t>/</a:t>
              </a: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50000"/>
                    </a:schemeClr>
                  </a:solidFill>
                  <a:effectLst/>
                  <a:uLnTx/>
                  <a:uFillTx/>
                  <a:latin typeface="Aria"/>
                  <a:ea typeface="微软雅黑" panose="020B0503020204020204" pitchFamily="34" charset="-122"/>
                  <a:cs typeface="Arial" panose="020B0604020202020204" pitchFamily="34" charset="0"/>
                </a:rPr>
                <a:t>总量</a:t>
              </a:r>
            </a:p>
          </p:txBody>
        </p:sp>
      </p:grpSp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9ECD2421-30C8-5854-A017-90CBE78A878A}"/>
              </a:ext>
            </a:extLst>
          </p:cNvPr>
          <p:cNvGrpSpPr/>
          <p:nvPr/>
        </p:nvGrpSpPr>
        <p:grpSpPr>
          <a:xfrm>
            <a:off x="4321293" y="3055260"/>
            <a:ext cx="2071552" cy="1311556"/>
            <a:chOff x="4541995" y="2672252"/>
            <a:chExt cx="2274425" cy="1440000"/>
          </a:xfrm>
        </p:grpSpPr>
        <p:sp>
          <p:nvSpPr>
            <p:cNvPr id="105" name="path 174">
              <a:extLst>
                <a:ext uri="{FF2B5EF4-FFF2-40B4-BE49-F238E27FC236}">
                  <a16:creationId xmlns:a16="http://schemas.microsoft.com/office/drawing/2014/main" id="{FEA4CD41-26BB-F9B2-0311-5B7BB9CF69B5}"/>
                </a:ext>
              </a:extLst>
            </p:cNvPr>
            <p:cNvSpPr/>
            <p:nvPr/>
          </p:nvSpPr>
          <p:spPr>
            <a:xfrm>
              <a:off x="4584420" y="2672252"/>
              <a:ext cx="2232000" cy="1440000"/>
            </a:xfrm>
            <a:custGeom>
              <a:avLst/>
              <a:gdLst/>
              <a:ahLst/>
              <a:cxnLst/>
              <a:rect l="0" t="0" r="0" b="0"/>
              <a:pathLst>
                <a:path w="3651" h="4122">
                  <a:moveTo>
                    <a:pt x="0" y="2061"/>
                  </a:moveTo>
                  <a:cubicBezTo>
                    <a:pt x="0" y="922"/>
                    <a:pt x="817" y="0"/>
                    <a:pt x="1825" y="0"/>
                  </a:cubicBezTo>
                  <a:cubicBezTo>
                    <a:pt x="2834" y="0"/>
                    <a:pt x="3651" y="922"/>
                    <a:pt x="3651" y="2061"/>
                  </a:cubicBezTo>
                  <a:cubicBezTo>
                    <a:pt x="3651" y="3200"/>
                    <a:pt x="2834" y="4122"/>
                    <a:pt x="1825" y="4122"/>
                  </a:cubicBezTo>
                  <a:cubicBezTo>
                    <a:pt x="817" y="4122"/>
                    <a:pt x="0" y="3200"/>
                    <a:pt x="0" y="2061"/>
                  </a:cubicBezTo>
                </a:path>
              </a:pathLst>
            </a:custGeom>
            <a:solidFill>
              <a:srgbClr val="00612A">
                <a:alpha val="2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 sz="1600"/>
            </a:p>
          </p:txBody>
        </p:sp>
        <p:sp>
          <p:nvSpPr>
            <p:cNvPr id="106" name="path 176">
              <a:extLst>
                <a:ext uri="{FF2B5EF4-FFF2-40B4-BE49-F238E27FC236}">
                  <a16:creationId xmlns:a16="http://schemas.microsoft.com/office/drawing/2014/main" id="{89D8494F-BB6A-0F3D-F7F6-D3F3F2D16286}"/>
                </a:ext>
              </a:extLst>
            </p:cNvPr>
            <p:cNvSpPr/>
            <p:nvPr/>
          </p:nvSpPr>
          <p:spPr>
            <a:xfrm>
              <a:off x="4584420" y="2672252"/>
              <a:ext cx="2232000" cy="1440000"/>
            </a:xfrm>
            <a:custGeom>
              <a:avLst/>
              <a:gdLst/>
              <a:ahLst/>
              <a:cxnLst/>
              <a:rect l="0" t="0" r="0" b="0"/>
              <a:pathLst>
                <a:path w="3681" h="4152">
                  <a:moveTo>
                    <a:pt x="15" y="2076"/>
                  </a:moveTo>
                  <a:cubicBezTo>
                    <a:pt x="15" y="937"/>
                    <a:pt x="832" y="15"/>
                    <a:pt x="1840" y="15"/>
                  </a:cubicBezTo>
                  <a:cubicBezTo>
                    <a:pt x="2849" y="15"/>
                    <a:pt x="3666" y="937"/>
                    <a:pt x="3666" y="2076"/>
                  </a:cubicBezTo>
                  <a:cubicBezTo>
                    <a:pt x="3666" y="3215"/>
                    <a:pt x="2849" y="4137"/>
                    <a:pt x="1840" y="4137"/>
                  </a:cubicBezTo>
                  <a:cubicBezTo>
                    <a:pt x="832" y="4137"/>
                    <a:pt x="15" y="3215"/>
                    <a:pt x="15" y="2076"/>
                  </a:cubicBezTo>
                </a:path>
              </a:pathLst>
            </a:custGeom>
            <a:noFill/>
            <a:ln w="19050" cap="rnd">
              <a:solidFill>
                <a:srgbClr val="00612A"/>
              </a:solidFill>
              <a:prstDash val="dash"/>
              <a:round/>
            </a:ln>
          </p:spPr>
          <p:txBody>
            <a:bodyPr rtlCol="0"/>
            <a:lstStyle/>
            <a:p>
              <a:pPr algn="ctr"/>
              <a:endParaRPr lang="zh-CN" altLang="en-US" sz="1600"/>
            </a:p>
          </p:txBody>
        </p:sp>
        <p:sp>
          <p:nvSpPr>
            <p:cNvPr id="107" name="path 192">
              <a:extLst>
                <a:ext uri="{FF2B5EF4-FFF2-40B4-BE49-F238E27FC236}">
                  <a16:creationId xmlns:a16="http://schemas.microsoft.com/office/drawing/2014/main" id="{44773805-8E22-6C91-59CA-2E9B0E330B2B}"/>
                </a:ext>
              </a:extLst>
            </p:cNvPr>
            <p:cNvSpPr/>
            <p:nvPr/>
          </p:nvSpPr>
          <p:spPr>
            <a:xfrm>
              <a:off x="4541995" y="2747142"/>
              <a:ext cx="360000" cy="360000"/>
            </a:xfrm>
            <a:custGeom>
              <a:avLst/>
              <a:gdLst/>
              <a:ahLst/>
              <a:cxnLst/>
              <a:rect l="0" t="0" r="0" b="0"/>
              <a:pathLst>
                <a:path w="624" h="624">
                  <a:moveTo>
                    <a:pt x="0" y="312"/>
                  </a:moveTo>
                  <a:cubicBezTo>
                    <a:pt x="0" y="139"/>
                    <a:pt x="139" y="0"/>
                    <a:pt x="312" y="0"/>
                  </a:cubicBezTo>
                  <a:cubicBezTo>
                    <a:pt x="485" y="0"/>
                    <a:pt x="624" y="139"/>
                    <a:pt x="624" y="312"/>
                  </a:cubicBezTo>
                  <a:cubicBezTo>
                    <a:pt x="624" y="485"/>
                    <a:pt x="485" y="624"/>
                    <a:pt x="312" y="624"/>
                  </a:cubicBezTo>
                  <a:cubicBezTo>
                    <a:pt x="139" y="624"/>
                    <a:pt x="0" y="485"/>
                    <a:pt x="0" y="312"/>
                  </a:cubicBezTo>
                </a:path>
              </a:pathLst>
            </a:custGeom>
            <a:solidFill>
              <a:srgbClr val="00612A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 anchor="ctr"/>
            <a:lstStyle/>
            <a:p>
              <a:pPr algn="ctr"/>
              <a:endParaRPr lang="zh-CN" altLang="en-US" sz="1200">
                <a:latin typeface="+mn-ea"/>
              </a:endParaRPr>
            </a:p>
          </p:txBody>
        </p:sp>
        <p:sp>
          <p:nvSpPr>
            <p:cNvPr id="108" name="textbox 232">
              <a:extLst>
                <a:ext uri="{FF2B5EF4-FFF2-40B4-BE49-F238E27FC236}">
                  <a16:creationId xmlns:a16="http://schemas.microsoft.com/office/drawing/2014/main" id="{3E54607C-4F66-3195-A7DF-A22398C236E1}"/>
                </a:ext>
              </a:extLst>
            </p:cNvPr>
            <p:cNvSpPr/>
            <p:nvPr/>
          </p:nvSpPr>
          <p:spPr>
            <a:xfrm>
              <a:off x="5096060" y="2787176"/>
              <a:ext cx="1209940" cy="279932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 anchor="ctr"/>
            <a:lstStyle/>
            <a:p>
              <a:pPr indent="7620" algn="ctr" rtl="0" eaLnBrk="0">
                <a:tabLst/>
              </a:pPr>
              <a:r>
                <a:rPr lang="zh-CN" altLang="en-US" sz="1200" b="1" kern="0" spc="50" dirty="0">
                  <a:solidFill>
                    <a:srgbClr val="00612A">
                      <a:alpha val="100000"/>
                    </a:srgbClr>
                  </a:solidFill>
                  <a:latin typeface="+mn-ea"/>
                  <a:cs typeface="Segoe UI"/>
                </a:rPr>
                <a:t>时间与季节性</a:t>
              </a:r>
            </a:p>
          </p:txBody>
        </p:sp>
        <p:sp>
          <p:nvSpPr>
            <p:cNvPr id="109" name="textbox 292">
              <a:extLst>
                <a:ext uri="{FF2B5EF4-FFF2-40B4-BE49-F238E27FC236}">
                  <a16:creationId xmlns:a16="http://schemas.microsoft.com/office/drawing/2014/main" id="{2374832D-E60C-AF88-00C1-B8E47D2C5885}"/>
                </a:ext>
              </a:extLst>
            </p:cNvPr>
            <p:cNvSpPr/>
            <p:nvPr/>
          </p:nvSpPr>
          <p:spPr>
            <a:xfrm>
              <a:off x="4653733" y="2814430"/>
              <a:ext cx="136525" cy="2254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 anchor="ctr"/>
            <a:lstStyle/>
            <a:p>
              <a:pPr algn="ctr" rtl="0" eaLnBrk="0">
                <a:tabLst/>
              </a:pPr>
              <a:r>
                <a:rPr lang="en-US" altLang="zh-CN" sz="1200" b="1" kern="0" spc="-70" dirty="0">
                  <a:solidFill>
                    <a:srgbClr val="FFFFFF">
                      <a:alpha val="100000"/>
                    </a:srgbClr>
                  </a:solidFill>
                  <a:latin typeface="+mn-ea"/>
                  <a:cs typeface="Segoe UI"/>
                </a:rPr>
                <a:t>A</a:t>
              </a:r>
              <a:endParaRPr sz="1200" dirty="0">
                <a:latin typeface="+mn-ea"/>
                <a:cs typeface="Segoe UI"/>
              </a:endParaRPr>
            </a:p>
          </p:txBody>
        </p:sp>
        <p:sp>
          <p:nvSpPr>
            <p:cNvPr id="110" name="文本框 109">
              <a:extLst>
                <a:ext uri="{FF2B5EF4-FFF2-40B4-BE49-F238E27FC236}">
                  <a16:creationId xmlns:a16="http://schemas.microsoft.com/office/drawing/2014/main" id="{9244D91B-A77A-5908-EFA9-E9088C6BFB6B}"/>
                </a:ext>
              </a:extLst>
            </p:cNvPr>
            <p:cNvSpPr txBox="1"/>
            <p:nvPr/>
          </p:nvSpPr>
          <p:spPr>
            <a:xfrm>
              <a:off x="4665024" y="3302217"/>
              <a:ext cx="1180101" cy="253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50000"/>
                    </a:schemeClr>
                  </a:solidFill>
                  <a:effectLst/>
                  <a:uLnTx/>
                  <a:uFillTx/>
                  <a:latin typeface="Aria"/>
                  <a:ea typeface="微软雅黑" panose="020B0503020204020204" pitchFamily="34" charset="-122"/>
                  <a:cs typeface="Arial" panose="020B0604020202020204" pitchFamily="34" charset="0"/>
                </a:rPr>
                <a:t>月份</a:t>
              </a: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50000"/>
                    </a:schemeClr>
                  </a:solidFill>
                  <a:effectLst/>
                  <a:uLnTx/>
                  <a:uFillTx/>
                  <a:latin typeface="Aria"/>
                  <a:ea typeface="微软雅黑" panose="020B0503020204020204" pitchFamily="34" charset="-122"/>
                  <a:cs typeface="Arial" panose="020B0604020202020204" pitchFamily="34" charset="0"/>
                </a:rPr>
                <a:t>/</a:t>
              </a: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50000"/>
                    </a:schemeClr>
                  </a:solidFill>
                  <a:effectLst/>
                  <a:uLnTx/>
                  <a:uFillTx/>
                  <a:latin typeface="Aria"/>
                  <a:ea typeface="微软雅黑" panose="020B0503020204020204" pitchFamily="34" charset="-122"/>
                  <a:cs typeface="Arial" panose="020B0604020202020204" pitchFamily="34" charset="0"/>
                </a:rPr>
                <a:t>季度</a:t>
              </a: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50000"/>
                    </a:schemeClr>
                  </a:solidFill>
                  <a:effectLst/>
                  <a:uLnTx/>
                  <a:uFillTx/>
                  <a:latin typeface="Aria"/>
                  <a:ea typeface="微软雅黑" panose="020B0503020204020204" pitchFamily="34" charset="-122"/>
                  <a:cs typeface="Arial" panose="020B0604020202020204" pitchFamily="34" charset="0"/>
                </a:rPr>
                <a:t>/</a:t>
              </a: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50000"/>
                    </a:schemeClr>
                  </a:solidFill>
                  <a:effectLst/>
                  <a:uLnTx/>
                  <a:uFillTx/>
                  <a:latin typeface="Aria"/>
                  <a:ea typeface="微软雅黑" panose="020B0503020204020204" pitchFamily="34" charset="-122"/>
                  <a:cs typeface="Arial" panose="020B0604020202020204" pitchFamily="34" charset="0"/>
                </a:rPr>
                <a:t>节假日</a:t>
              </a:r>
            </a:p>
          </p:txBody>
        </p:sp>
        <p:sp>
          <p:nvSpPr>
            <p:cNvPr id="111" name="文本框 110">
              <a:extLst>
                <a:ext uri="{FF2B5EF4-FFF2-40B4-BE49-F238E27FC236}">
                  <a16:creationId xmlns:a16="http://schemas.microsoft.com/office/drawing/2014/main" id="{6C03304A-2412-B441-A366-065A2ABB5E1A}"/>
                </a:ext>
              </a:extLst>
            </p:cNvPr>
            <p:cNvSpPr txBox="1"/>
            <p:nvPr/>
          </p:nvSpPr>
          <p:spPr>
            <a:xfrm>
              <a:off x="5366780" y="3634859"/>
              <a:ext cx="855301" cy="253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50000"/>
                    </a:schemeClr>
                  </a:solidFill>
                  <a:effectLst/>
                  <a:uLnTx/>
                  <a:uFillTx/>
                  <a:latin typeface="Aria"/>
                  <a:ea typeface="微软雅黑" panose="020B0503020204020204" pitchFamily="34" charset="-122"/>
                  <a:cs typeface="Arial" panose="020B0604020202020204" pitchFamily="34" charset="0"/>
                </a:rPr>
                <a:t>工作日天数</a:t>
              </a:r>
            </a:p>
          </p:txBody>
        </p:sp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25FB1BB4-63C7-85BC-191F-11D14B77976D}"/>
                </a:ext>
              </a:extLst>
            </p:cNvPr>
            <p:cNvSpPr txBox="1"/>
            <p:nvPr/>
          </p:nvSpPr>
          <p:spPr>
            <a:xfrm>
              <a:off x="5840258" y="3117969"/>
              <a:ext cx="855301" cy="253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50000"/>
                    </a:schemeClr>
                  </a:solidFill>
                  <a:effectLst/>
                  <a:uLnTx/>
                  <a:uFillTx/>
                  <a:latin typeface="Aria"/>
                  <a:ea typeface="微软雅黑" panose="020B0503020204020204" pitchFamily="34" charset="-122"/>
                  <a:cs typeface="Arial" panose="020B0604020202020204" pitchFamily="34" charset="0"/>
                </a:rPr>
                <a:t>季节性分量</a:t>
              </a:r>
            </a:p>
          </p:txBody>
        </p:sp>
      </p:grpSp>
      <p:sp>
        <p:nvSpPr>
          <p:cNvPr id="116" name="任意形状 64">
            <a:extLst>
              <a:ext uri="{FF2B5EF4-FFF2-40B4-BE49-F238E27FC236}">
                <a16:creationId xmlns:a16="http://schemas.microsoft.com/office/drawing/2014/main" id="{B31CD78A-D983-A38B-1316-C43F46F358F7}"/>
              </a:ext>
            </a:extLst>
          </p:cNvPr>
          <p:cNvSpPr/>
          <p:nvPr/>
        </p:nvSpPr>
        <p:spPr>
          <a:xfrm>
            <a:off x="1519589" y="989201"/>
            <a:ext cx="10152000" cy="641154"/>
          </a:xfrm>
          <a:prstGeom prst="wedgeRectCallout">
            <a:avLst>
              <a:gd name="adj1" fmla="val -51144"/>
              <a:gd name="adj2" fmla="val -15984"/>
            </a:avLst>
          </a:prstGeom>
          <a:solidFill>
            <a:schemeClr val="tx2">
              <a:alpha val="9028"/>
            </a:schemeClr>
          </a:solidFill>
          <a:ln w="12700">
            <a:solidFill>
              <a:srgbClr val="00319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kumimoji="1" lang="zh-CN" altLang="en-US" b="1" dirty="0">
                <a:solidFill>
                  <a:srgbClr val="00319F"/>
                </a:solidFill>
                <a:latin typeface="+mn-ea"/>
              </a:rPr>
              <a:t>以前看销售进度都是靠销售报，现在</a:t>
            </a:r>
            <a:r>
              <a:rPr kumimoji="1" lang="en-US" altLang="zh-CN" b="1" dirty="0">
                <a:solidFill>
                  <a:srgbClr val="00319F"/>
                </a:solidFill>
                <a:latin typeface="+mn-ea"/>
              </a:rPr>
              <a:t>DDI</a:t>
            </a:r>
            <a:r>
              <a:rPr kumimoji="1" lang="zh-CN" altLang="en-US" b="1" dirty="0">
                <a:solidFill>
                  <a:srgbClr val="00319F"/>
                </a:solidFill>
                <a:latin typeface="+mn-ea"/>
              </a:rPr>
              <a:t>日交付数据每天更新，你看到月底到底能做到多少？</a:t>
            </a:r>
          </a:p>
        </p:txBody>
      </p:sp>
      <p:grpSp>
        <p:nvGrpSpPr>
          <p:cNvPr id="117" name="Google Shape;5614;p76">
            <a:extLst>
              <a:ext uri="{FF2B5EF4-FFF2-40B4-BE49-F238E27FC236}">
                <a16:creationId xmlns:a16="http://schemas.microsoft.com/office/drawing/2014/main" id="{CA02F34C-F2AB-FFED-B34D-4CD5CDE59220}"/>
              </a:ext>
            </a:extLst>
          </p:cNvPr>
          <p:cNvGrpSpPr/>
          <p:nvPr/>
        </p:nvGrpSpPr>
        <p:grpSpPr>
          <a:xfrm>
            <a:off x="688275" y="1083609"/>
            <a:ext cx="337687" cy="452337"/>
            <a:chOff x="3938800" y="4399275"/>
            <a:chExt cx="359700" cy="481825"/>
          </a:xfrm>
          <a:solidFill>
            <a:srgbClr val="00319F"/>
          </a:solidFill>
        </p:grpSpPr>
        <p:sp>
          <p:nvSpPr>
            <p:cNvPr id="118" name="Google Shape;5615;p76">
              <a:extLst>
                <a:ext uri="{FF2B5EF4-FFF2-40B4-BE49-F238E27FC236}">
                  <a16:creationId xmlns:a16="http://schemas.microsoft.com/office/drawing/2014/main" id="{02F196EB-6046-C054-3B45-EBF2C2357072}"/>
                </a:ext>
              </a:extLst>
            </p:cNvPr>
            <p:cNvSpPr/>
            <p:nvPr/>
          </p:nvSpPr>
          <p:spPr>
            <a:xfrm>
              <a:off x="4022650" y="4427525"/>
              <a:ext cx="166625" cy="84700"/>
            </a:xfrm>
            <a:custGeom>
              <a:avLst/>
              <a:gdLst/>
              <a:ahLst/>
              <a:cxnLst/>
              <a:rect l="l" t="t" r="r" b="b"/>
              <a:pathLst>
                <a:path w="6665" h="3388" extrusionOk="0">
                  <a:moveTo>
                    <a:pt x="3909" y="0"/>
                  </a:moveTo>
                  <a:cubicBezTo>
                    <a:pt x="1946" y="3"/>
                    <a:pt x="284" y="1446"/>
                    <a:pt x="1" y="3388"/>
                  </a:cubicBezTo>
                  <a:lnTo>
                    <a:pt x="3909" y="3388"/>
                  </a:lnTo>
                  <a:cubicBezTo>
                    <a:pt x="4807" y="3385"/>
                    <a:pt x="5647" y="2957"/>
                    <a:pt x="6180" y="2235"/>
                  </a:cubicBezTo>
                  <a:cubicBezTo>
                    <a:pt x="6421" y="1909"/>
                    <a:pt x="6589" y="1530"/>
                    <a:pt x="6665" y="1129"/>
                  </a:cubicBezTo>
                  <a:cubicBezTo>
                    <a:pt x="6135" y="602"/>
                    <a:pt x="5463" y="241"/>
                    <a:pt x="4734" y="91"/>
                  </a:cubicBezTo>
                  <a:cubicBezTo>
                    <a:pt x="4463" y="30"/>
                    <a:pt x="4186" y="0"/>
                    <a:pt x="390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sp>
          <p:nvSpPr>
            <p:cNvPr id="119" name="Google Shape;5616;p76">
              <a:extLst>
                <a:ext uri="{FF2B5EF4-FFF2-40B4-BE49-F238E27FC236}">
                  <a16:creationId xmlns:a16="http://schemas.microsoft.com/office/drawing/2014/main" id="{68DE00DD-594C-10CF-F59E-2B22B060149E}"/>
                </a:ext>
              </a:extLst>
            </p:cNvPr>
            <p:cNvSpPr/>
            <p:nvPr/>
          </p:nvSpPr>
          <p:spPr>
            <a:xfrm>
              <a:off x="4021450" y="4484275"/>
              <a:ext cx="197650" cy="199225"/>
            </a:xfrm>
            <a:custGeom>
              <a:avLst/>
              <a:gdLst/>
              <a:ahLst/>
              <a:cxnLst/>
              <a:rect l="l" t="t" r="r" b="b"/>
              <a:pathLst>
                <a:path w="7906" h="7969" extrusionOk="0">
                  <a:moveTo>
                    <a:pt x="7526" y="1"/>
                  </a:moveTo>
                  <a:cubicBezTo>
                    <a:pt x="7420" y="223"/>
                    <a:pt x="7291" y="434"/>
                    <a:pt x="7140" y="633"/>
                  </a:cubicBezTo>
                  <a:cubicBezTo>
                    <a:pt x="6396" y="1648"/>
                    <a:pt x="5216" y="2247"/>
                    <a:pt x="3957" y="2247"/>
                  </a:cubicBezTo>
                  <a:lnTo>
                    <a:pt x="4" y="2247"/>
                  </a:lnTo>
                  <a:lnTo>
                    <a:pt x="4" y="4018"/>
                  </a:lnTo>
                  <a:cubicBezTo>
                    <a:pt x="1" y="4635"/>
                    <a:pt x="148" y="5243"/>
                    <a:pt x="434" y="5788"/>
                  </a:cubicBezTo>
                  <a:lnTo>
                    <a:pt x="434" y="5800"/>
                  </a:lnTo>
                  <a:cubicBezTo>
                    <a:pt x="615" y="6159"/>
                    <a:pt x="850" y="6487"/>
                    <a:pt x="1133" y="6773"/>
                  </a:cubicBezTo>
                  <a:lnTo>
                    <a:pt x="1202" y="6839"/>
                  </a:lnTo>
                  <a:cubicBezTo>
                    <a:pt x="1967" y="7592"/>
                    <a:pt x="2962" y="7968"/>
                    <a:pt x="3958" y="7968"/>
                  </a:cubicBezTo>
                  <a:cubicBezTo>
                    <a:pt x="4959" y="7968"/>
                    <a:pt x="5959" y="7588"/>
                    <a:pt x="6725" y="6827"/>
                  </a:cubicBezTo>
                  <a:lnTo>
                    <a:pt x="6758" y="6794"/>
                  </a:lnTo>
                  <a:cubicBezTo>
                    <a:pt x="6972" y="6583"/>
                    <a:pt x="7158" y="6342"/>
                    <a:pt x="7312" y="6083"/>
                  </a:cubicBezTo>
                  <a:lnTo>
                    <a:pt x="7321" y="6083"/>
                  </a:lnTo>
                  <a:cubicBezTo>
                    <a:pt x="7703" y="5463"/>
                    <a:pt x="7905" y="4746"/>
                    <a:pt x="7902" y="4018"/>
                  </a:cubicBezTo>
                  <a:lnTo>
                    <a:pt x="7902" y="1684"/>
                  </a:lnTo>
                  <a:cubicBezTo>
                    <a:pt x="7902" y="1407"/>
                    <a:pt x="7875" y="1130"/>
                    <a:pt x="7818" y="859"/>
                  </a:cubicBezTo>
                  <a:cubicBezTo>
                    <a:pt x="7764" y="561"/>
                    <a:pt x="7664" y="272"/>
                    <a:pt x="75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sp>
          <p:nvSpPr>
            <p:cNvPr id="120" name="Google Shape;5617;p76">
              <a:extLst>
                <a:ext uri="{FF2B5EF4-FFF2-40B4-BE49-F238E27FC236}">
                  <a16:creationId xmlns:a16="http://schemas.microsoft.com/office/drawing/2014/main" id="{D863598C-84F5-0118-3DF4-F1C2AF48458B}"/>
                </a:ext>
              </a:extLst>
            </p:cNvPr>
            <p:cNvSpPr/>
            <p:nvPr/>
          </p:nvSpPr>
          <p:spPr>
            <a:xfrm>
              <a:off x="4054050" y="4692500"/>
              <a:ext cx="132975" cy="47450"/>
            </a:xfrm>
            <a:custGeom>
              <a:avLst/>
              <a:gdLst/>
              <a:ahLst/>
              <a:cxnLst/>
              <a:rect l="l" t="t" r="r" b="b"/>
              <a:pathLst>
                <a:path w="5319" h="1898" extrusionOk="0">
                  <a:moveTo>
                    <a:pt x="5318" y="1"/>
                  </a:moveTo>
                  <a:lnTo>
                    <a:pt x="5318" y="1"/>
                  </a:lnTo>
                  <a:cubicBezTo>
                    <a:pt x="4550" y="498"/>
                    <a:pt x="3635" y="769"/>
                    <a:pt x="2653" y="769"/>
                  </a:cubicBezTo>
                  <a:cubicBezTo>
                    <a:pt x="2648" y="769"/>
                    <a:pt x="2643" y="769"/>
                    <a:pt x="2637" y="769"/>
                  </a:cubicBezTo>
                  <a:cubicBezTo>
                    <a:pt x="1703" y="769"/>
                    <a:pt x="791" y="507"/>
                    <a:pt x="0" y="13"/>
                  </a:cubicBezTo>
                  <a:lnTo>
                    <a:pt x="0" y="13"/>
                  </a:lnTo>
                  <a:cubicBezTo>
                    <a:pt x="82" y="272"/>
                    <a:pt x="202" y="516"/>
                    <a:pt x="362" y="736"/>
                  </a:cubicBezTo>
                  <a:cubicBezTo>
                    <a:pt x="898" y="1464"/>
                    <a:pt x="1747" y="1895"/>
                    <a:pt x="2653" y="1898"/>
                  </a:cubicBezTo>
                  <a:cubicBezTo>
                    <a:pt x="2660" y="1898"/>
                    <a:pt x="2667" y="1898"/>
                    <a:pt x="2674" y="1898"/>
                  </a:cubicBezTo>
                  <a:cubicBezTo>
                    <a:pt x="3870" y="1898"/>
                    <a:pt x="4935" y="1135"/>
                    <a:pt x="53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sp>
          <p:nvSpPr>
            <p:cNvPr id="121" name="Google Shape;5618;p76">
              <a:extLst>
                <a:ext uri="{FF2B5EF4-FFF2-40B4-BE49-F238E27FC236}">
                  <a16:creationId xmlns:a16="http://schemas.microsoft.com/office/drawing/2014/main" id="{6AB8F971-9B21-D36B-AE35-CD1A3127C507}"/>
                </a:ext>
              </a:extLst>
            </p:cNvPr>
            <p:cNvSpPr/>
            <p:nvPr/>
          </p:nvSpPr>
          <p:spPr>
            <a:xfrm>
              <a:off x="4163275" y="4399275"/>
              <a:ext cx="84275" cy="84200"/>
            </a:xfrm>
            <a:custGeom>
              <a:avLst/>
              <a:gdLst/>
              <a:ahLst/>
              <a:cxnLst/>
              <a:rect l="l" t="t" r="r" b="b"/>
              <a:pathLst>
                <a:path w="3371" h="3368" extrusionOk="0">
                  <a:moveTo>
                    <a:pt x="1090" y="1"/>
                  </a:moveTo>
                  <a:cubicBezTo>
                    <a:pt x="707" y="1"/>
                    <a:pt x="330" y="106"/>
                    <a:pt x="1" y="305"/>
                  </a:cubicBezTo>
                  <a:cubicBezTo>
                    <a:pt x="338" y="420"/>
                    <a:pt x="660" y="573"/>
                    <a:pt x="961" y="769"/>
                  </a:cubicBezTo>
                  <a:lnTo>
                    <a:pt x="961" y="781"/>
                  </a:lnTo>
                  <a:cubicBezTo>
                    <a:pt x="1443" y="1070"/>
                    <a:pt x="1874" y="1446"/>
                    <a:pt x="2226" y="1886"/>
                  </a:cubicBezTo>
                  <a:cubicBezTo>
                    <a:pt x="2587" y="2329"/>
                    <a:pt x="2871" y="2829"/>
                    <a:pt x="3060" y="3368"/>
                  </a:cubicBezTo>
                  <a:cubicBezTo>
                    <a:pt x="3262" y="3033"/>
                    <a:pt x="3370" y="2651"/>
                    <a:pt x="3364" y="2259"/>
                  </a:cubicBezTo>
                  <a:cubicBezTo>
                    <a:pt x="3361" y="1236"/>
                    <a:pt x="2672" y="341"/>
                    <a:pt x="1684" y="79"/>
                  </a:cubicBezTo>
                  <a:cubicBezTo>
                    <a:pt x="1615" y="58"/>
                    <a:pt x="1543" y="46"/>
                    <a:pt x="1467" y="46"/>
                  </a:cubicBezTo>
                  <a:cubicBezTo>
                    <a:pt x="1344" y="34"/>
                    <a:pt x="1232" y="1"/>
                    <a:pt x="1106" y="1"/>
                  </a:cubicBezTo>
                  <a:cubicBezTo>
                    <a:pt x="1101" y="1"/>
                    <a:pt x="1095" y="1"/>
                    <a:pt x="109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sp>
          <p:nvSpPr>
            <p:cNvPr id="122" name="Google Shape;5619;p76">
              <a:extLst>
                <a:ext uri="{FF2B5EF4-FFF2-40B4-BE49-F238E27FC236}">
                  <a16:creationId xmlns:a16="http://schemas.microsoft.com/office/drawing/2014/main" id="{FDEBBBD1-29A0-8CDD-7C3D-44132C9FA82B}"/>
                </a:ext>
              </a:extLst>
            </p:cNvPr>
            <p:cNvSpPr/>
            <p:nvPr/>
          </p:nvSpPr>
          <p:spPr>
            <a:xfrm>
              <a:off x="3938800" y="4692800"/>
              <a:ext cx="359700" cy="188300"/>
            </a:xfrm>
            <a:custGeom>
              <a:avLst/>
              <a:gdLst/>
              <a:ahLst/>
              <a:cxnLst/>
              <a:rect l="l" t="t" r="r" b="b"/>
              <a:pathLst>
                <a:path w="14388" h="7532" extrusionOk="0">
                  <a:moveTo>
                    <a:pt x="11160" y="4144"/>
                  </a:moveTo>
                  <a:cubicBezTo>
                    <a:pt x="11470" y="4144"/>
                    <a:pt x="11723" y="4397"/>
                    <a:pt x="11723" y="4710"/>
                  </a:cubicBezTo>
                  <a:cubicBezTo>
                    <a:pt x="11723" y="5021"/>
                    <a:pt x="11470" y="5274"/>
                    <a:pt x="11160" y="5274"/>
                  </a:cubicBezTo>
                  <a:lnTo>
                    <a:pt x="10031" y="5274"/>
                  </a:lnTo>
                  <a:cubicBezTo>
                    <a:pt x="9718" y="5274"/>
                    <a:pt x="9465" y="5021"/>
                    <a:pt x="9465" y="4710"/>
                  </a:cubicBezTo>
                  <a:cubicBezTo>
                    <a:pt x="9465" y="4397"/>
                    <a:pt x="9718" y="4144"/>
                    <a:pt x="10031" y="4144"/>
                  </a:cubicBezTo>
                  <a:close/>
                  <a:moveTo>
                    <a:pt x="3379" y="1"/>
                  </a:moveTo>
                  <a:lnTo>
                    <a:pt x="2385" y="248"/>
                  </a:lnTo>
                  <a:cubicBezTo>
                    <a:pt x="922" y="615"/>
                    <a:pt x="0" y="2067"/>
                    <a:pt x="295" y="3545"/>
                  </a:cubicBezTo>
                  <a:lnTo>
                    <a:pt x="1006" y="7080"/>
                  </a:lnTo>
                  <a:cubicBezTo>
                    <a:pt x="1060" y="7342"/>
                    <a:pt x="1292" y="7532"/>
                    <a:pt x="1560" y="7532"/>
                  </a:cubicBezTo>
                  <a:lnTo>
                    <a:pt x="12831" y="7532"/>
                  </a:lnTo>
                  <a:cubicBezTo>
                    <a:pt x="12833" y="7532"/>
                    <a:pt x="12835" y="7532"/>
                    <a:pt x="12837" y="7532"/>
                  </a:cubicBezTo>
                  <a:cubicBezTo>
                    <a:pt x="13103" y="7532"/>
                    <a:pt x="13331" y="7343"/>
                    <a:pt x="13382" y="7080"/>
                  </a:cubicBezTo>
                  <a:lnTo>
                    <a:pt x="14096" y="3545"/>
                  </a:lnTo>
                  <a:cubicBezTo>
                    <a:pt x="14388" y="2070"/>
                    <a:pt x="13476" y="621"/>
                    <a:pt x="12018" y="248"/>
                  </a:cubicBezTo>
                  <a:lnTo>
                    <a:pt x="11046" y="13"/>
                  </a:lnTo>
                  <a:cubicBezTo>
                    <a:pt x="10678" y="1506"/>
                    <a:pt x="9474" y="2648"/>
                    <a:pt x="7965" y="2943"/>
                  </a:cubicBezTo>
                  <a:cubicBezTo>
                    <a:pt x="7714" y="2991"/>
                    <a:pt x="7463" y="3015"/>
                    <a:pt x="7214" y="3015"/>
                  </a:cubicBezTo>
                  <a:cubicBezTo>
                    <a:pt x="5960" y="3015"/>
                    <a:pt x="4762" y="2417"/>
                    <a:pt x="4011" y="1377"/>
                  </a:cubicBezTo>
                  <a:cubicBezTo>
                    <a:pt x="3707" y="967"/>
                    <a:pt x="3493" y="498"/>
                    <a:pt x="33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</p:grpSp>
      <p:sp>
        <p:nvSpPr>
          <p:cNvPr id="123" name="矩形: 圆角 122">
            <a:extLst>
              <a:ext uri="{FF2B5EF4-FFF2-40B4-BE49-F238E27FC236}">
                <a16:creationId xmlns:a16="http://schemas.microsoft.com/office/drawing/2014/main" id="{7E1B0902-1775-6BAA-5A3E-CB88E10339E9}"/>
              </a:ext>
            </a:extLst>
          </p:cNvPr>
          <p:cNvSpPr/>
          <p:nvPr/>
        </p:nvSpPr>
        <p:spPr>
          <a:xfrm>
            <a:off x="1511564" y="1828609"/>
            <a:ext cx="2376000" cy="648000"/>
          </a:xfrm>
          <a:prstGeom prst="roundRect">
            <a:avLst/>
          </a:prstGeom>
          <a:gradFill flip="none" rotWithShape="1">
            <a:gsLst>
              <a:gs pos="33000">
                <a:schemeClr val="accent1"/>
              </a:gs>
              <a:gs pos="99000">
                <a:schemeClr val="accent1">
                  <a:alpha val="23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4" name="矩形: 圆角 123">
            <a:extLst>
              <a:ext uri="{FF2B5EF4-FFF2-40B4-BE49-F238E27FC236}">
                <a16:creationId xmlns:a16="http://schemas.microsoft.com/office/drawing/2014/main" id="{4721ABB2-0C92-F5D3-4474-FC2B69C0A6F5}"/>
              </a:ext>
            </a:extLst>
          </p:cNvPr>
          <p:cNvSpPr/>
          <p:nvPr/>
        </p:nvSpPr>
        <p:spPr>
          <a:xfrm>
            <a:off x="4103564" y="1828609"/>
            <a:ext cx="2376000" cy="648000"/>
          </a:xfrm>
          <a:prstGeom prst="roundRect">
            <a:avLst/>
          </a:prstGeom>
          <a:gradFill flip="none" rotWithShape="1">
            <a:gsLst>
              <a:gs pos="33000">
                <a:schemeClr val="accent1"/>
              </a:gs>
              <a:gs pos="99000">
                <a:schemeClr val="accent1">
                  <a:alpha val="23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5" name="矩形: 圆角 124">
            <a:extLst>
              <a:ext uri="{FF2B5EF4-FFF2-40B4-BE49-F238E27FC236}">
                <a16:creationId xmlns:a16="http://schemas.microsoft.com/office/drawing/2014/main" id="{CBA3F7BF-5A88-38FD-7C7E-E2180319C98F}"/>
              </a:ext>
            </a:extLst>
          </p:cNvPr>
          <p:cNvSpPr/>
          <p:nvPr/>
        </p:nvSpPr>
        <p:spPr>
          <a:xfrm>
            <a:off x="6695564" y="1828609"/>
            <a:ext cx="2376000" cy="648000"/>
          </a:xfrm>
          <a:prstGeom prst="roundRect">
            <a:avLst/>
          </a:prstGeom>
          <a:gradFill flip="none" rotWithShape="1">
            <a:gsLst>
              <a:gs pos="33000">
                <a:schemeClr val="accent1"/>
              </a:gs>
              <a:gs pos="99000">
                <a:schemeClr val="accent1">
                  <a:alpha val="23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6" name="矩形: 圆角 125">
            <a:extLst>
              <a:ext uri="{FF2B5EF4-FFF2-40B4-BE49-F238E27FC236}">
                <a16:creationId xmlns:a16="http://schemas.microsoft.com/office/drawing/2014/main" id="{4ED1A515-1D07-A282-9103-9688E613D8E4}"/>
              </a:ext>
            </a:extLst>
          </p:cNvPr>
          <p:cNvSpPr/>
          <p:nvPr/>
        </p:nvSpPr>
        <p:spPr>
          <a:xfrm>
            <a:off x="9287564" y="1828609"/>
            <a:ext cx="2376000" cy="648000"/>
          </a:xfrm>
          <a:prstGeom prst="roundRect">
            <a:avLst/>
          </a:prstGeom>
          <a:gradFill flip="none" rotWithShape="1">
            <a:gsLst>
              <a:gs pos="33000">
                <a:schemeClr val="accent1"/>
              </a:gs>
              <a:gs pos="99000">
                <a:schemeClr val="accent1">
                  <a:alpha val="23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F4177CE1-A1E0-2FFF-A490-497CB515AF1E}"/>
              </a:ext>
            </a:extLst>
          </p:cNvPr>
          <p:cNvSpPr txBox="1"/>
          <p:nvPr/>
        </p:nvSpPr>
        <p:spPr>
          <a:xfrm>
            <a:off x="1532830" y="1844832"/>
            <a:ext cx="1165573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rtl="0" eaLnBrk="0">
              <a:tabLst/>
            </a:pPr>
            <a:r>
              <a:rPr lang="zh-CN" altLang="en-US" sz="1400" b="1" kern="0" spc="60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ea"/>
                <a:cs typeface="Segoe UI"/>
              </a:rPr>
              <a:t>产品颗粒度</a:t>
            </a:r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D7F8049A-606E-039D-AC5D-14411EA609BB}"/>
              </a:ext>
            </a:extLst>
          </p:cNvPr>
          <p:cNvSpPr txBox="1"/>
          <p:nvPr/>
        </p:nvSpPr>
        <p:spPr>
          <a:xfrm>
            <a:off x="2539750" y="2077222"/>
            <a:ext cx="1269673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0" eaLnBrk="0">
              <a:tabLst/>
            </a:pPr>
            <a:r>
              <a:rPr lang="en-US" altLang="zh-CN" sz="1600" b="1" kern="0" spc="60" dirty="0">
                <a:solidFill>
                  <a:schemeClr val="bg1"/>
                </a:solidFill>
                <a:latin typeface="+mn-ea"/>
                <a:cs typeface="Segoe UI"/>
              </a:rPr>
              <a:t>By Brand</a:t>
            </a:r>
            <a:endParaRPr lang="zh-CN" altLang="en-US" sz="1600" b="1" kern="0" spc="60" dirty="0">
              <a:solidFill>
                <a:schemeClr val="bg1"/>
              </a:solidFill>
              <a:latin typeface="+mn-ea"/>
              <a:cs typeface="Segoe UI"/>
            </a:endParaRPr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94CC5A00-18CA-CF05-F1CC-6122DDB24D3D}"/>
              </a:ext>
            </a:extLst>
          </p:cNvPr>
          <p:cNvSpPr txBox="1"/>
          <p:nvPr/>
        </p:nvSpPr>
        <p:spPr>
          <a:xfrm>
            <a:off x="4118326" y="1840374"/>
            <a:ext cx="1375789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rtl="0" eaLnBrk="0">
              <a:tabLst/>
            </a:pPr>
            <a:r>
              <a:rPr lang="zh-CN" altLang="en-US" sz="1400" b="1" kern="0" spc="60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ea"/>
                <a:cs typeface="Segoe UI"/>
              </a:rPr>
              <a:t>预测层级</a:t>
            </a:r>
          </a:p>
        </p:txBody>
      </p:sp>
      <p:sp>
        <p:nvSpPr>
          <p:cNvPr id="130" name="文本框 129">
            <a:extLst>
              <a:ext uri="{FF2B5EF4-FFF2-40B4-BE49-F238E27FC236}">
                <a16:creationId xmlns:a16="http://schemas.microsoft.com/office/drawing/2014/main" id="{16AB7376-43E6-E0A1-AC86-14C7F0E3C11B}"/>
              </a:ext>
            </a:extLst>
          </p:cNvPr>
          <p:cNvSpPr txBox="1"/>
          <p:nvPr/>
        </p:nvSpPr>
        <p:spPr>
          <a:xfrm>
            <a:off x="5293852" y="2072765"/>
            <a:ext cx="1090293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0" eaLnBrk="0">
              <a:tabLst/>
            </a:pPr>
            <a:r>
              <a:rPr lang="zh-CN" altLang="en-US" sz="1600" b="1" kern="0" spc="60" dirty="0">
                <a:solidFill>
                  <a:schemeClr val="bg1"/>
                </a:solidFill>
                <a:latin typeface="+mn-ea"/>
                <a:cs typeface="Segoe UI"/>
              </a:rPr>
              <a:t>全国级别</a:t>
            </a:r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BC54408D-FD1A-EF6E-B143-21A0E6586549}"/>
              </a:ext>
            </a:extLst>
          </p:cNvPr>
          <p:cNvSpPr txBox="1"/>
          <p:nvPr/>
        </p:nvSpPr>
        <p:spPr>
          <a:xfrm>
            <a:off x="6712230" y="1843778"/>
            <a:ext cx="1301534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rtl="0" eaLnBrk="0">
              <a:tabLst/>
            </a:pPr>
            <a:r>
              <a:rPr lang="zh-CN" altLang="en-US" sz="1400" b="1" kern="0" spc="60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ea"/>
                <a:cs typeface="Segoe UI"/>
              </a:rPr>
              <a:t>预测时间窗口</a:t>
            </a: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D02A81B0-A31F-1FA5-8613-BD56A9F28D17}"/>
              </a:ext>
            </a:extLst>
          </p:cNvPr>
          <p:cNvSpPr txBox="1"/>
          <p:nvPr/>
        </p:nvSpPr>
        <p:spPr>
          <a:xfrm>
            <a:off x="7866932" y="2076169"/>
            <a:ext cx="1040186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0" eaLnBrk="0">
              <a:tabLst/>
            </a:pPr>
            <a:r>
              <a:rPr lang="zh-CN" altLang="en-US" sz="1600" b="1" kern="0" spc="60" dirty="0">
                <a:solidFill>
                  <a:schemeClr val="bg1"/>
                </a:solidFill>
                <a:latin typeface="+mn-ea"/>
                <a:cs typeface="Segoe UI"/>
              </a:rPr>
              <a:t>当月</a:t>
            </a: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F099707B-54E8-2683-0B7C-0BEFE850993C}"/>
              </a:ext>
            </a:extLst>
          </p:cNvPr>
          <p:cNvSpPr txBox="1"/>
          <p:nvPr/>
        </p:nvSpPr>
        <p:spPr>
          <a:xfrm>
            <a:off x="9297747" y="1839403"/>
            <a:ext cx="1301534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rtl="0" eaLnBrk="0">
              <a:tabLst/>
            </a:pPr>
            <a:r>
              <a:rPr lang="zh-CN" altLang="en-US" sz="1400" b="1" kern="0" spc="60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ea"/>
                <a:cs typeface="Segoe UI"/>
              </a:rPr>
              <a:t>更新频率</a:t>
            </a: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F0E0905E-8D05-E59F-E91F-732347F3E5B8}"/>
              </a:ext>
            </a:extLst>
          </p:cNvPr>
          <p:cNvSpPr txBox="1"/>
          <p:nvPr/>
        </p:nvSpPr>
        <p:spPr>
          <a:xfrm>
            <a:off x="10157001" y="2071794"/>
            <a:ext cx="1506564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0" eaLnBrk="0">
              <a:tabLst/>
            </a:pPr>
            <a:r>
              <a:rPr lang="zh-CN" altLang="en-US" sz="1600" b="1" kern="0" spc="60" dirty="0">
                <a:solidFill>
                  <a:schemeClr val="bg1"/>
                </a:solidFill>
                <a:latin typeface="+mn-ea"/>
                <a:cs typeface="Segoe UI"/>
              </a:rPr>
              <a:t>每周</a:t>
            </a:r>
            <a:r>
              <a:rPr lang="en-US" altLang="zh-CN" sz="1600" b="1" kern="0" spc="60" dirty="0">
                <a:solidFill>
                  <a:schemeClr val="bg1"/>
                </a:solidFill>
                <a:latin typeface="+mn-ea"/>
                <a:cs typeface="Segoe UI"/>
              </a:rPr>
              <a:t>/</a:t>
            </a:r>
            <a:r>
              <a:rPr lang="zh-CN" altLang="en-US" sz="1600" b="1" kern="0" spc="60" dirty="0">
                <a:solidFill>
                  <a:schemeClr val="bg1"/>
                </a:solidFill>
                <a:latin typeface="+mn-ea"/>
                <a:cs typeface="Segoe UI"/>
              </a:rPr>
              <a:t>日更新</a:t>
            </a:r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E0FDD6CE-9A8B-3BB6-095B-6714CF0038FE}"/>
              </a:ext>
            </a:extLst>
          </p:cNvPr>
          <p:cNvSpPr/>
          <p:nvPr/>
        </p:nvSpPr>
        <p:spPr>
          <a:xfrm>
            <a:off x="1519589" y="4922450"/>
            <a:ext cx="10152000" cy="13320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6" name="梯形 313">
            <a:extLst>
              <a:ext uri="{FF2B5EF4-FFF2-40B4-BE49-F238E27FC236}">
                <a16:creationId xmlns:a16="http://schemas.microsoft.com/office/drawing/2014/main" id="{C27D5F3A-CF75-E04E-D705-FCE5BE33FC34}"/>
              </a:ext>
            </a:extLst>
          </p:cNvPr>
          <p:cNvSpPr/>
          <p:nvPr/>
        </p:nvSpPr>
        <p:spPr>
          <a:xfrm rot="16200000">
            <a:off x="4028898" y="5661631"/>
            <a:ext cx="791998" cy="252000"/>
          </a:xfrm>
          <a:custGeom>
            <a:avLst/>
            <a:gdLst>
              <a:gd name="connsiteX0" fmla="*/ 0 w 5303601"/>
              <a:gd name="connsiteY0" fmla="*/ 567873 h 567873"/>
              <a:gd name="connsiteX1" fmla="*/ 141968 w 5303601"/>
              <a:gd name="connsiteY1" fmla="*/ 0 h 567873"/>
              <a:gd name="connsiteX2" fmla="*/ 5161633 w 5303601"/>
              <a:gd name="connsiteY2" fmla="*/ 0 h 567873"/>
              <a:gd name="connsiteX3" fmla="*/ 5303601 w 5303601"/>
              <a:gd name="connsiteY3" fmla="*/ 567873 h 567873"/>
              <a:gd name="connsiteX4" fmla="*/ 0 w 5303601"/>
              <a:gd name="connsiteY4" fmla="*/ 567873 h 567873"/>
              <a:gd name="connsiteX0" fmla="*/ 0 w 5161633"/>
              <a:gd name="connsiteY0" fmla="*/ 567873 h 567873"/>
              <a:gd name="connsiteX1" fmla="*/ 141968 w 5161633"/>
              <a:gd name="connsiteY1" fmla="*/ 0 h 567873"/>
              <a:gd name="connsiteX2" fmla="*/ 5161633 w 5161633"/>
              <a:gd name="connsiteY2" fmla="*/ 0 h 567873"/>
              <a:gd name="connsiteX3" fmla="*/ 4556255 w 5161633"/>
              <a:gd name="connsiteY3" fmla="*/ 567873 h 567873"/>
              <a:gd name="connsiteX4" fmla="*/ 0 w 5161633"/>
              <a:gd name="connsiteY4" fmla="*/ 567873 h 567873"/>
              <a:gd name="connsiteX0" fmla="*/ 411947 w 5019665"/>
              <a:gd name="connsiteY0" fmla="*/ 550288 h 567873"/>
              <a:gd name="connsiteX1" fmla="*/ 0 w 5019665"/>
              <a:gd name="connsiteY1" fmla="*/ 0 h 567873"/>
              <a:gd name="connsiteX2" fmla="*/ 5019665 w 5019665"/>
              <a:gd name="connsiteY2" fmla="*/ 0 h 567873"/>
              <a:gd name="connsiteX3" fmla="*/ 4414287 w 5019665"/>
              <a:gd name="connsiteY3" fmla="*/ 567873 h 567873"/>
              <a:gd name="connsiteX4" fmla="*/ 411947 w 5019665"/>
              <a:gd name="connsiteY4" fmla="*/ 550288 h 567873"/>
              <a:gd name="connsiteX0" fmla="*/ 411947 w 5019665"/>
              <a:gd name="connsiteY0" fmla="*/ 567873 h 567873"/>
              <a:gd name="connsiteX1" fmla="*/ 0 w 5019665"/>
              <a:gd name="connsiteY1" fmla="*/ 0 h 567873"/>
              <a:gd name="connsiteX2" fmla="*/ 5019665 w 5019665"/>
              <a:gd name="connsiteY2" fmla="*/ 0 h 567873"/>
              <a:gd name="connsiteX3" fmla="*/ 4414287 w 5019665"/>
              <a:gd name="connsiteY3" fmla="*/ 567873 h 567873"/>
              <a:gd name="connsiteX4" fmla="*/ 411947 w 5019665"/>
              <a:gd name="connsiteY4" fmla="*/ 567873 h 5678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19665" h="567873">
                <a:moveTo>
                  <a:pt x="411947" y="567873"/>
                </a:moveTo>
                <a:lnTo>
                  <a:pt x="0" y="0"/>
                </a:lnTo>
                <a:lnTo>
                  <a:pt x="5019665" y="0"/>
                </a:lnTo>
                <a:lnTo>
                  <a:pt x="4414287" y="567873"/>
                </a:lnTo>
                <a:lnTo>
                  <a:pt x="411947" y="56787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721827F8-947E-258D-383F-F42F29AB1B47}"/>
              </a:ext>
            </a:extLst>
          </p:cNvPr>
          <p:cNvSpPr/>
          <p:nvPr/>
        </p:nvSpPr>
        <p:spPr>
          <a:xfrm>
            <a:off x="2479340" y="5391630"/>
            <a:ext cx="1800000" cy="792000"/>
          </a:xfrm>
          <a:prstGeom prst="rect">
            <a:avLst/>
          </a:prstGeom>
          <a:solidFill>
            <a:srgbClr val="00319F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b="1" dirty="0">
                <a:latin typeface="+mn-ea"/>
              </a:rPr>
              <a:t>5~8%</a:t>
            </a:r>
            <a:endParaRPr kumimoji="1" lang="zh-CN" altLang="en-US" sz="1600" b="1" dirty="0">
              <a:latin typeface="+mn-ea"/>
            </a:endParaRPr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16B8B293-4E74-1169-56D6-B1A514E130F1}"/>
              </a:ext>
            </a:extLst>
          </p:cNvPr>
          <p:cNvSpPr/>
          <p:nvPr/>
        </p:nvSpPr>
        <p:spPr>
          <a:xfrm>
            <a:off x="4570454" y="5481630"/>
            <a:ext cx="1800000" cy="612000"/>
          </a:xfrm>
          <a:prstGeom prst="rect">
            <a:avLst/>
          </a:prstGeom>
          <a:solidFill>
            <a:srgbClr val="00319F">
              <a:alpha val="2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b="1" dirty="0">
                <a:latin typeface="+mn-ea"/>
              </a:rPr>
              <a:t>4~6%</a:t>
            </a:r>
            <a:endParaRPr kumimoji="1" lang="zh-CN" altLang="en-US" sz="1600" b="1" dirty="0">
              <a:latin typeface="+mn-ea"/>
            </a:endParaRPr>
          </a:p>
        </p:txBody>
      </p:sp>
      <p:sp>
        <p:nvSpPr>
          <p:cNvPr id="139" name="梯形 313">
            <a:extLst>
              <a:ext uri="{FF2B5EF4-FFF2-40B4-BE49-F238E27FC236}">
                <a16:creationId xmlns:a16="http://schemas.microsoft.com/office/drawing/2014/main" id="{504214AC-0258-3640-937F-C8B30D957683}"/>
              </a:ext>
            </a:extLst>
          </p:cNvPr>
          <p:cNvSpPr/>
          <p:nvPr/>
        </p:nvSpPr>
        <p:spPr>
          <a:xfrm rot="16200000">
            <a:off x="6190438" y="5679631"/>
            <a:ext cx="611998" cy="216000"/>
          </a:xfrm>
          <a:custGeom>
            <a:avLst/>
            <a:gdLst>
              <a:gd name="connsiteX0" fmla="*/ 0 w 5303601"/>
              <a:gd name="connsiteY0" fmla="*/ 567873 h 567873"/>
              <a:gd name="connsiteX1" fmla="*/ 141968 w 5303601"/>
              <a:gd name="connsiteY1" fmla="*/ 0 h 567873"/>
              <a:gd name="connsiteX2" fmla="*/ 5161633 w 5303601"/>
              <a:gd name="connsiteY2" fmla="*/ 0 h 567873"/>
              <a:gd name="connsiteX3" fmla="*/ 5303601 w 5303601"/>
              <a:gd name="connsiteY3" fmla="*/ 567873 h 567873"/>
              <a:gd name="connsiteX4" fmla="*/ 0 w 5303601"/>
              <a:gd name="connsiteY4" fmla="*/ 567873 h 567873"/>
              <a:gd name="connsiteX0" fmla="*/ 0 w 5161633"/>
              <a:gd name="connsiteY0" fmla="*/ 567873 h 567873"/>
              <a:gd name="connsiteX1" fmla="*/ 141968 w 5161633"/>
              <a:gd name="connsiteY1" fmla="*/ 0 h 567873"/>
              <a:gd name="connsiteX2" fmla="*/ 5161633 w 5161633"/>
              <a:gd name="connsiteY2" fmla="*/ 0 h 567873"/>
              <a:gd name="connsiteX3" fmla="*/ 4556255 w 5161633"/>
              <a:gd name="connsiteY3" fmla="*/ 567873 h 567873"/>
              <a:gd name="connsiteX4" fmla="*/ 0 w 5161633"/>
              <a:gd name="connsiteY4" fmla="*/ 567873 h 567873"/>
              <a:gd name="connsiteX0" fmla="*/ 411947 w 5019665"/>
              <a:gd name="connsiteY0" fmla="*/ 550288 h 567873"/>
              <a:gd name="connsiteX1" fmla="*/ 0 w 5019665"/>
              <a:gd name="connsiteY1" fmla="*/ 0 h 567873"/>
              <a:gd name="connsiteX2" fmla="*/ 5019665 w 5019665"/>
              <a:gd name="connsiteY2" fmla="*/ 0 h 567873"/>
              <a:gd name="connsiteX3" fmla="*/ 4414287 w 5019665"/>
              <a:gd name="connsiteY3" fmla="*/ 567873 h 567873"/>
              <a:gd name="connsiteX4" fmla="*/ 411947 w 5019665"/>
              <a:gd name="connsiteY4" fmla="*/ 550288 h 567873"/>
              <a:gd name="connsiteX0" fmla="*/ 411947 w 5019665"/>
              <a:gd name="connsiteY0" fmla="*/ 567873 h 567873"/>
              <a:gd name="connsiteX1" fmla="*/ 0 w 5019665"/>
              <a:gd name="connsiteY1" fmla="*/ 0 h 567873"/>
              <a:gd name="connsiteX2" fmla="*/ 5019665 w 5019665"/>
              <a:gd name="connsiteY2" fmla="*/ 0 h 567873"/>
              <a:gd name="connsiteX3" fmla="*/ 4414287 w 5019665"/>
              <a:gd name="connsiteY3" fmla="*/ 567873 h 567873"/>
              <a:gd name="connsiteX4" fmla="*/ 411947 w 5019665"/>
              <a:gd name="connsiteY4" fmla="*/ 567873 h 5678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19665" h="567873">
                <a:moveTo>
                  <a:pt x="411947" y="567873"/>
                </a:moveTo>
                <a:lnTo>
                  <a:pt x="0" y="0"/>
                </a:lnTo>
                <a:lnTo>
                  <a:pt x="5019665" y="0"/>
                </a:lnTo>
                <a:lnTo>
                  <a:pt x="4414287" y="567873"/>
                </a:lnTo>
                <a:lnTo>
                  <a:pt x="411947" y="56787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43E21147-6054-BBE1-F3FC-021A47A7D69F}"/>
              </a:ext>
            </a:extLst>
          </p:cNvPr>
          <p:cNvSpPr/>
          <p:nvPr/>
        </p:nvSpPr>
        <p:spPr>
          <a:xfrm>
            <a:off x="6622420" y="5562105"/>
            <a:ext cx="1800000" cy="468000"/>
          </a:xfrm>
          <a:prstGeom prst="rect">
            <a:avLst/>
          </a:prstGeom>
          <a:solidFill>
            <a:srgbClr val="00319F">
              <a:alpha val="49629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b="1" dirty="0">
                <a:latin typeface="+mn-ea"/>
              </a:rPr>
              <a:t>3~4%</a:t>
            </a:r>
            <a:endParaRPr kumimoji="1" lang="zh-CN" altLang="en-US" sz="1600" b="1" dirty="0">
              <a:latin typeface="+mn-ea"/>
            </a:endParaRPr>
          </a:p>
        </p:txBody>
      </p:sp>
      <p:sp>
        <p:nvSpPr>
          <p:cNvPr id="141" name="梯形 313">
            <a:extLst>
              <a:ext uri="{FF2B5EF4-FFF2-40B4-BE49-F238E27FC236}">
                <a16:creationId xmlns:a16="http://schemas.microsoft.com/office/drawing/2014/main" id="{0A508FEF-01BF-8CB9-EE09-80D311801649}"/>
              </a:ext>
            </a:extLst>
          </p:cNvPr>
          <p:cNvSpPr/>
          <p:nvPr/>
        </p:nvSpPr>
        <p:spPr>
          <a:xfrm rot="16200000">
            <a:off x="8295808" y="5706105"/>
            <a:ext cx="468000" cy="180000"/>
          </a:xfrm>
          <a:custGeom>
            <a:avLst/>
            <a:gdLst>
              <a:gd name="connsiteX0" fmla="*/ 0 w 5303601"/>
              <a:gd name="connsiteY0" fmla="*/ 567873 h 567873"/>
              <a:gd name="connsiteX1" fmla="*/ 141968 w 5303601"/>
              <a:gd name="connsiteY1" fmla="*/ 0 h 567873"/>
              <a:gd name="connsiteX2" fmla="*/ 5161633 w 5303601"/>
              <a:gd name="connsiteY2" fmla="*/ 0 h 567873"/>
              <a:gd name="connsiteX3" fmla="*/ 5303601 w 5303601"/>
              <a:gd name="connsiteY3" fmla="*/ 567873 h 567873"/>
              <a:gd name="connsiteX4" fmla="*/ 0 w 5303601"/>
              <a:gd name="connsiteY4" fmla="*/ 567873 h 567873"/>
              <a:gd name="connsiteX0" fmla="*/ 0 w 5161633"/>
              <a:gd name="connsiteY0" fmla="*/ 567873 h 567873"/>
              <a:gd name="connsiteX1" fmla="*/ 141968 w 5161633"/>
              <a:gd name="connsiteY1" fmla="*/ 0 h 567873"/>
              <a:gd name="connsiteX2" fmla="*/ 5161633 w 5161633"/>
              <a:gd name="connsiteY2" fmla="*/ 0 h 567873"/>
              <a:gd name="connsiteX3" fmla="*/ 4556255 w 5161633"/>
              <a:gd name="connsiteY3" fmla="*/ 567873 h 567873"/>
              <a:gd name="connsiteX4" fmla="*/ 0 w 5161633"/>
              <a:gd name="connsiteY4" fmla="*/ 567873 h 567873"/>
              <a:gd name="connsiteX0" fmla="*/ 411947 w 5019665"/>
              <a:gd name="connsiteY0" fmla="*/ 550288 h 567873"/>
              <a:gd name="connsiteX1" fmla="*/ 0 w 5019665"/>
              <a:gd name="connsiteY1" fmla="*/ 0 h 567873"/>
              <a:gd name="connsiteX2" fmla="*/ 5019665 w 5019665"/>
              <a:gd name="connsiteY2" fmla="*/ 0 h 567873"/>
              <a:gd name="connsiteX3" fmla="*/ 4414287 w 5019665"/>
              <a:gd name="connsiteY3" fmla="*/ 567873 h 567873"/>
              <a:gd name="connsiteX4" fmla="*/ 411947 w 5019665"/>
              <a:gd name="connsiteY4" fmla="*/ 550288 h 567873"/>
              <a:gd name="connsiteX0" fmla="*/ 411947 w 5019665"/>
              <a:gd name="connsiteY0" fmla="*/ 567873 h 567873"/>
              <a:gd name="connsiteX1" fmla="*/ 0 w 5019665"/>
              <a:gd name="connsiteY1" fmla="*/ 0 h 567873"/>
              <a:gd name="connsiteX2" fmla="*/ 5019665 w 5019665"/>
              <a:gd name="connsiteY2" fmla="*/ 0 h 567873"/>
              <a:gd name="connsiteX3" fmla="*/ 4414287 w 5019665"/>
              <a:gd name="connsiteY3" fmla="*/ 567873 h 567873"/>
              <a:gd name="connsiteX4" fmla="*/ 411947 w 5019665"/>
              <a:gd name="connsiteY4" fmla="*/ 567873 h 5678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19665" h="567873">
                <a:moveTo>
                  <a:pt x="411947" y="567873"/>
                </a:moveTo>
                <a:lnTo>
                  <a:pt x="0" y="0"/>
                </a:lnTo>
                <a:lnTo>
                  <a:pt x="5019665" y="0"/>
                </a:lnTo>
                <a:lnTo>
                  <a:pt x="4414287" y="567873"/>
                </a:lnTo>
                <a:lnTo>
                  <a:pt x="411947" y="56787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DB4DEC35-3B73-BB2B-8189-13D280B35CB4}"/>
              </a:ext>
            </a:extLst>
          </p:cNvPr>
          <p:cNvSpPr/>
          <p:nvPr/>
        </p:nvSpPr>
        <p:spPr>
          <a:xfrm>
            <a:off x="8637197" y="5634104"/>
            <a:ext cx="1800000" cy="324000"/>
          </a:xfrm>
          <a:prstGeom prst="rect">
            <a:avLst/>
          </a:prstGeom>
          <a:solidFill>
            <a:srgbClr val="00319F">
              <a:alpha val="7419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b="1" dirty="0">
                <a:latin typeface="+mn-ea"/>
              </a:rPr>
              <a:t>1~3%</a:t>
            </a:r>
            <a:endParaRPr kumimoji="1" lang="zh-CN" altLang="en-US" sz="1600" b="1" dirty="0">
              <a:latin typeface="+mn-ea"/>
            </a:endParaRPr>
          </a:p>
        </p:txBody>
      </p:sp>
      <p:sp>
        <p:nvSpPr>
          <p:cNvPr id="143" name="下箭头 11">
            <a:extLst>
              <a:ext uri="{FF2B5EF4-FFF2-40B4-BE49-F238E27FC236}">
                <a16:creationId xmlns:a16="http://schemas.microsoft.com/office/drawing/2014/main" id="{AE1BBB19-F76F-F3BA-46B3-080053E8B569}"/>
              </a:ext>
            </a:extLst>
          </p:cNvPr>
          <p:cNvSpPr/>
          <p:nvPr/>
        </p:nvSpPr>
        <p:spPr>
          <a:xfrm rot="16200000">
            <a:off x="6355974" y="1109802"/>
            <a:ext cx="332961" cy="8090011"/>
          </a:xfrm>
          <a:prstGeom prst="downArrow">
            <a:avLst/>
          </a:prstGeom>
          <a:gradFill>
            <a:gsLst>
              <a:gs pos="0">
                <a:schemeClr val="accent1">
                  <a:alpha val="16000"/>
                </a:schemeClr>
              </a:gs>
              <a:gs pos="99000">
                <a:schemeClr val="accent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2">
                  <a:lumMod val="25000"/>
                </a:schemeClr>
              </a:solidFill>
            </a:endParaRPr>
          </a:p>
        </p:txBody>
      </p:sp>
      <p:sp>
        <p:nvSpPr>
          <p:cNvPr id="144" name="文本框 143">
            <a:extLst>
              <a:ext uri="{FF2B5EF4-FFF2-40B4-BE49-F238E27FC236}">
                <a16:creationId xmlns:a16="http://schemas.microsoft.com/office/drawing/2014/main" id="{9DA6DCB3-AD13-835D-ADC3-2DB32FF789D4}"/>
              </a:ext>
            </a:extLst>
          </p:cNvPr>
          <p:cNvSpPr txBox="1"/>
          <p:nvPr/>
        </p:nvSpPr>
        <p:spPr>
          <a:xfrm>
            <a:off x="3106938" y="4985530"/>
            <a:ext cx="5325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1600" b="1" i="1" dirty="0">
                <a:solidFill>
                  <a:schemeClr val="accent2">
                    <a:lumMod val="25000"/>
                  </a:schemeClr>
                </a:solidFill>
                <a:latin typeface="+mn-ea"/>
                <a:cs typeface="Alibaba PuHuiTi Medium" pitchFamily="18" charset="-122"/>
              </a:rPr>
              <a:t>W1</a:t>
            </a:r>
            <a:endParaRPr kumimoji="1" lang="zh-CN" altLang="en-US" sz="1600" b="1" i="1" dirty="0">
              <a:solidFill>
                <a:schemeClr val="accent2">
                  <a:lumMod val="25000"/>
                </a:schemeClr>
              </a:solidFill>
              <a:latin typeface="+mn-ea"/>
              <a:cs typeface="Alibaba PuHuiTi Medium" pitchFamily="18" charset="-122"/>
            </a:endParaRPr>
          </a:p>
        </p:txBody>
      </p:sp>
      <p:sp>
        <p:nvSpPr>
          <p:cNvPr id="145" name="文本框 144">
            <a:extLst>
              <a:ext uri="{FF2B5EF4-FFF2-40B4-BE49-F238E27FC236}">
                <a16:creationId xmlns:a16="http://schemas.microsoft.com/office/drawing/2014/main" id="{CDA0D4C4-1DA3-03CB-9512-620335AFFF22}"/>
              </a:ext>
            </a:extLst>
          </p:cNvPr>
          <p:cNvSpPr txBox="1"/>
          <p:nvPr/>
        </p:nvSpPr>
        <p:spPr>
          <a:xfrm>
            <a:off x="5143066" y="4985530"/>
            <a:ext cx="5325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1600" b="1" i="1" dirty="0">
                <a:solidFill>
                  <a:schemeClr val="accent2">
                    <a:lumMod val="25000"/>
                  </a:schemeClr>
                </a:solidFill>
                <a:latin typeface="+mn-ea"/>
                <a:cs typeface="Alibaba PuHuiTi Medium" pitchFamily="18" charset="-122"/>
              </a:rPr>
              <a:t>W2</a:t>
            </a:r>
            <a:endParaRPr kumimoji="1" lang="zh-CN" altLang="en-US" sz="1600" b="1" i="1" dirty="0">
              <a:solidFill>
                <a:schemeClr val="accent2">
                  <a:lumMod val="25000"/>
                </a:schemeClr>
              </a:solidFill>
              <a:latin typeface="+mn-ea"/>
              <a:cs typeface="Alibaba PuHuiTi Medium" pitchFamily="18" charset="-122"/>
            </a:endParaRPr>
          </a:p>
        </p:txBody>
      </p:sp>
      <p:sp>
        <p:nvSpPr>
          <p:cNvPr id="146" name="文本框 145">
            <a:extLst>
              <a:ext uri="{FF2B5EF4-FFF2-40B4-BE49-F238E27FC236}">
                <a16:creationId xmlns:a16="http://schemas.microsoft.com/office/drawing/2014/main" id="{A38B237B-555A-9767-7887-61AB04396E41}"/>
              </a:ext>
            </a:extLst>
          </p:cNvPr>
          <p:cNvSpPr txBox="1"/>
          <p:nvPr/>
        </p:nvSpPr>
        <p:spPr>
          <a:xfrm>
            <a:off x="7247240" y="4985530"/>
            <a:ext cx="5325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1600" b="1" i="1" dirty="0">
                <a:solidFill>
                  <a:schemeClr val="accent2">
                    <a:lumMod val="25000"/>
                  </a:schemeClr>
                </a:solidFill>
                <a:latin typeface="+mn-ea"/>
                <a:cs typeface="Alibaba PuHuiTi Medium" pitchFamily="18" charset="-122"/>
              </a:rPr>
              <a:t>W3</a:t>
            </a:r>
            <a:endParaRPr kumimoji="1" lang="zh-CN" altLang="en-US" sz="1600" b="1" i="1" dirty="0">
              <a:solidFill>
                <a:schemeClr val="accent2">
                  <a:lumMod val="25000"/>
                </a:schemeClr>
              </a:solidFill>
              <a:latin typeface="+mn-ea"/>
              <a:cs typeface="Alibaba PuHuiTi Medium" pitchFamily="18" charset="-122"/>
            </a:endParaRPr>
          </a:p>
        </p:txBody>
      </p:sp>
      <p:sp>
        <p:nvSpPr>
          <p:cNvPr id="147" name="文本框 146">
            <a:extLst>
              <a:ext uri="{FF2B5EF4-FFF2-40B4-BE49-F238E27FC236}">
                <a16:creationId xmlns:a16="http://schemas.microsoft.com/office/drawing/2014/main" id="{3034568F-D82F-4D7B-F01A-529392C8F78E}"/>
              </a:ext>
            </a:extLst>
          </p:cNvPr>
          <p:cNvSpPr txBox="1"/>
          <p:nvPr/>
        </p:nvSpPr>
        <p:spPr>
          <a:xfrm>
            <a:off x="9231260" y="4985530"/>
            <a:ext cx="5325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1600" b="1" i="1" dirty="0">
                <a:solidFill>
                  <a:schemeClr val="accent2">
                    <a:lumMod val="25000"/>
                  </a:schemeClr>
                </a:solidFill>
                <a:latin typeface="+mn-ea"/>
                <a:cs typeface="Alibaba PuHuiTi Medium" pitchFamily="18" charset="-122"/>
              </a:rPr>
              <a:t>W4</a:t>
            </a:r>
            <a:endParaRPr kumimoji="1" lang="zh-CN" altLang="en-US" sz="1600" b="1" i="1" dirty="0">
              <a:solidFill>
                <a:schemeClr val="accent2">
                  <a:lumMod val="25000"/>
                </a:schemeClr>
              </a:solidFill>
              <a:latin typeface="+mn-ea"/>
              <a:cs typeface="Alibaba PuHuiTi Medium" pitchFamily="18" charset="-122"/>
            </a:endParaRPr>
          </a:p>
        </p:txBody>
      </p:sp>
      <p:sp>
        <p:nvSpPr>
          <p:cNvPr id="148" name="object 16">
            <a:extLst>
              <a:ext uri="{FF2B5EF4-FFF2-40B4-BE49-F238E27FC236}">
                <a16:creationId xmlns:a16="http://schemas.microsoft.com/office/drawing/2014/main" id="{14E52B93-7D03-7B8E-2EE0-44F48367C26A}"/>
              </a:ext>
            </a:extLst>
          </p:cNvPr>
          <p:cNvSpPr/>
          <p:nvPr/>
        </p:nvSpPr>
        <p:spPr>
          <a:xfrm>
            <a:off x="389120" y="1828609"/>
            <a:ext cx="936000" cy="648000"/>
          </a:xfrm>
          <a:custGeom>
            <a:avLst/>
            <a:gdLst/>
            <a:ahLst/>
            <a:cxnLst/>
            <a:rect l="l" t="t" r="r" b="b"/>
            <a:pathLst>
              <a:path w="662940" h="468630">
                <a:moveTo>
                  <a:pt x="546569" y="0"/>
                </a:moveTo>
                <a:lnTo>
                  <a:pt x="0" y="0"/>
                </a:lnTo>
                <a:lnTo>
                  <a:pt x="0" y="468172"/>
                </a:lnTo>
                <a:lnTo>
                  <a:pt x="546569" y="468172"/>
                </a:lnTo>
                <a:lnTo>
                  <a:pt x="591654" y="459071"/>
                </a:lnTo>
                <a:lnTo>
                  <a:pt x="628470" y="434249"/>
                </a:lnTo>
                <a:lnTo>
                  <a:pt x="653292" y="397433"/>
                </a:lnTo>
                <a:lnTo>
                  <a:pt x="662393" y="352348"/>
                </a:lnTo>
                <a:lnTo>
                  <a:pt x="662393" y="115823"/>
                </a:lnTo>
                <a:lnTo>
                  <a:pt x="653292" y="70739"/>
                </a:lnTo>
                <a:lnTo>
                  <a:pt x="628470" y="33923"/>
                </a:lnTo>
                <a:lnTo>
                  <a:pt x="591654" y="9101"/>
                </a:lnTo>
                <a:lnTo>
                  <a:pt x="546569" y="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lIns="0" tIns="0" rIns="0" bIns="0" rtlCol="0" anchor="ctr"/>
          <a:lstStyle/>
          <a:p>
            <a:pPr algn="ctr"/>
            <a:r>
              <a:rPr lang="zh-CN" altLang="en-US" b="1" dirty="0">
                <a:solidFill>
                  <a:schemeClr val="tx2"/>
                </a:solidFill>
              </a:rPr>
              <a:t>目标</a:t>
            </a:r>
            <a:endParaRPr b="1" dirty="0">
              <a:solidFill>
                <a:schemeClr val="tx2"/>
              </a:solidFill>
            </a:endParaRPr>
          </a:p>
        </p:txBody>
      </p:sp>
      <p:sp>
        <p:nvSpPr>
          <p:cNvPr id="149" name="object 34">
            <a:extLst>
              <a:ext uri="{FF2B5EF4-FFF2-40B4-BE49-F238E27FC236}">
                <a16:creationId xmlns:a16="http://schemas.microsoft.com/office/drawing/2014/main" id="{6DC1BB09-1A93-A7ED-3D9C-677C307D92FE}"/>
              </a:ext>
            </a:extLst>
          </p:cNvPr>
          <p:cNvSpPr/>
          <p:nvPr/>
        </p:nvSpPr>
        <p:spPr>
          <a:xfrm>
            <a:off x="389119" y="4966498"/>
            <a:ext cx="936000" cy="1332000"/>
          </a:xfrm>
          <a:custGeom>
            <a:avLst/>
            <a:gdLst/>
            <a:ahLst/>
            <a:cxnLst/>
            <a:rect l="l" t="t" r="r" b="b"/>
            <a:pathLst>
              <a:path w="835025" h="1896745">
                <a:moveTo>
                  <a:pt x="682371" y="0"/>
                </a:moveTo>
                <a:lnTo>
                  <a:pt x="0" y="0"/>
                </a:lnTo>
                <a:lnTo>
                  <a:pt x="0" y="1896529"/>
                </a:lnTo>
                <a:lnTo>
                  <a:pt x="682371" y="1896529"/>
                </a:lnTo>
                <a:lnTo>
                  <a:pt x="730544" y="1888759"/>
                </a:lnTo>
                <a:lnTo>
                  <a:pt x="772379" y="1867123"/>
                </a:lnTo>
                <a:lnTo>
                  <a:pt x="805368" y="1834132"/>
                </a:lnTo>
                <a:lnTo>
                  <a:pt x="827002" y="1792297"/>
                </a:lnTo>
                <a:lnTo>
                  <a:pt x="834771" y="1744129"/>
                </a:lnTo>
                <a:lnTo>
                  <a:pt x="834771" y="152400"/>
                </a:lnTo>
                <a:lnTo>
                  <a:pt x="827002" y="104231"/>
                </a:lnTo>
                <a:lnTo>
                  <a:pt x="805368" y="62396"/>
                </a:lnTo>
                <a:lnTo>
                  <a:pt x="772379" y="29405"/>
                </a:lnTo>
                <a:lnTo>
                  <a:pt x="730544" y="7769"/>
                </a:lnTo>
                <a:lnTo>
                  <a:pt x="682371" y="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lIns="0" tIns="0" rIns="0" bIns="0" rtlCol="0" anchor="ctr"/>
          <a:lstStyle/>
          <a:p>
            <a:pPr algn="ctr"/>
            <a:r>
              <a:rPr lang="zh-CN" altLang="en-US" b="1" dirty="0">
                <a:solidFill>
                  <a:schemeClr val="tx2"/>
                </a:solidFill>
              </a:rPr>
              <a:t>效果</a:t>
            </a:r>
            <a:endParaRPr b="1" dirty="0">
              <a:solidFill>
                <a:schemeClr val="tx2"/>
              </a:solidFill>
            </a:endParaRPr>
          </a:p>
        </p:txBody>
      </p:sp>
      <p:sp>
        <p:nvSpPr>
          <p:cNvPr id="150" name="object 18">
            <a:extLst>
              <a:ext uri="{FF2B5EF4-FFF2-40B4-BE49-F238E27FC236}">
                <a16:creationId xmlns:a16="http://schemas.microsoft.com/office/drawing/2014/main" id="{10983FF0-30EC-2CEA-D520-71126C8B7105}"/>
              </a:ext>
            </a:extLst>
          </p:cNvPr>
          <p:cNvSpPr/>
          <p:nvPr/>
        </p:nvSpPr>
        <p:spPr>
          <a:xfrm>
            <a:off x="389120" y="2687754"/>
            <a:ext cx="936000" cy="2088000"/>
          </a:xfrm>
          <a:custGeom>
            <a:avLst/>
            <a:gdLst/>
            <a:ahLst/>
            <a:cxnLst/>
            <a:rect l="l" t="t" r="r" b="b"/>
            <a:pathLst>
              <a:path w="662940" h="2455545">
                <a:moveTo>
                  <a:pt x="509993" y="0"/>
                </a:moveTo>
                <a:lnTo>
                  <a:pt x="0" y="0"/>
                </a:lnTo>
                <a:lnTo>
                  <a:pt x="0" y="2455024"/>
                </a:lnTo>
                <a:lnTo>
                  <a:pt x="509993" y="2455024"/>
                </a:lnTo>
                <a:lnTo>
                  <a:pt x="558166" y="2447254"/>
                </a:lnTo>
                <a:lnTo>
                  <a:pt x="600002" y="2425618"/>
                </a:lnTo>
                <a:lnTo>
                  <a:pt x="632991" y="2392627"/>
                </a:lnTo>
                <a:lnTo>
                  <a:pt x="654625" y="2350792"/>
                </a:lnTo>
                <a:lnTo>
                  <a:pt x="662393" y="2302624"/>
                </a:lnTo>
                <a:lnTo>
                  <a:pt x="662393" y="152400"/>
                </a:lnTo>
                <a:lnTo>
                  <a:pt x="654625" y="104231"/>
                </a:lnTo>
                <a:lnTo>
                  <a:pt x="632991" y="62396"/>
                </a:lnTo>
                <a:lnTo>
                  <a:pt x="600002" y="29405"/>
                </a:lnTo>
                <a:lnTo>
                  <a:pt x="558166" y="7769"/>
                </a:lnTo>
                <a:lnTo>
                  <a:pt x="509993" y="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lIns="0" tIns="0" rIns="0" bIns="0" rtlCol="0" anchor="ctr"/>
          <a:lstStyle/>
          <a:p>
            <a:pPr algn="ctr"/>
            <a:r>
              <a:rPr lang="zh-CN" altLang="en-US" b="1" dirty="0">
                <a:solidFill>
                  <a:schemeClr val="tx2"/>
                </a:solidFill>
              </a:rPr>
              <a:t>方法</a:t>
            </a:r>
            <a:endParaRPr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194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2E2B5-31D7-4832-5FCF-A7B9D9454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AED8A914-9F19-0E69-B589-447FFEC0E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120" y="289867"/>
            <a:ext cx="9470548" cy="623416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0B3995"/>
                </a:solidFill>
              </a:rPr>
              <a:t>医院采购需求预测</a:t>
            </a:r>
          </a:p>
        </p:txBody>
      </p:sp>
      <p:sp>
        <p:nvSpPr>
          <p:cNvPr id="2" name="rect 164">
            <a:extLst>
              <a:ext uri="{FF2B5EF4-FFF2-40B4-BE49-F238E27FC236}">
                <a16:creationId xmlns:a16="http://schemas.microsoft.com/office/drawing/2014/main" id="{658B5C88-44AD-6FE5-513F-CDF04B37A44C}"/>
              </a:ext>
            </a:extLst>
          </p:cNvPr>
          <p:cNvSpPr/>
          <p:nvPr/>
        </p:nvSpPr>
        <p:spPr>
          <a:xfrm>
            <a:off x="1512725" y="2667038"/>
            <a:ext cx="10152000" cy="2088000"/>
          </a:xfrm>
          <a:prstGeom prst="rect">
            <a:avLst/>
          </a:prstGeom>
          <a:solidFill>
            <a:schemeClr val="bg1">
              <a:lumMod val="95000"/>
              <a:alpha val="69803"/>
            </a:scheme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 dirty="0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52274D30-38E5-6AFC-32A5-FD82C4413989}"/>
              </a:ext>
            </a:extLst>
          </p:cNvPr>
          <p:cNvSpPr/>
          <p:nvPr/>
        </p:nvSpPr>
        <p:spPr>
          <a:xfrm>
            <a:off x="4152878" y="2811038"/>
            <a:ext cx="7308000" cy="1800000"/>
          </a:xfrm>
          <a:prstGeom prst="roundRect">
            <a:avLst>
              <a:gd name="adj" fmla="val 6616"/>
            </a:avLst>
          </a:prstGeom>
          <a:noFill/>
          <a:ln w="12700">
            <a:solidFill>
              <a:schemeClr val="tx2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AB7A69EF-70A6-BFA1-E437-7E26E555F85B}"/>
              </a:ext>
            </a:extLst>
          </p:cNvPr>
          <p:cNvGrpSpPr/>
          <p:nvPr/>
        </p:nvGrpSpPr>
        <p:grpSpPr>
          <a:xfrm>
            <a:off x="6790423" y="3055260"/>
            <a:ext cx="2032911" cy="1311556"/>
            <a:chOff x="6974384" y="2672252"/>
            <a:chExt cx="2232000" cy="1440000"/>
          </a:xfrm>
        </p:grpSpPr>
        <p:sp>
          <p:nvSpPr>
            <p:cNvPr id="6" name="path 166">
              <a:extLst>
                <a:ext uri="{FF2B5EF4-FFF2-40B4-BE49-F238E27FC236}">
                  <a16:creationId xmlns:a16="http://schemas.microsoft.com/office/drawing/2014/main" id="{BAC6B956-C0E9-7A73-8428-6885F3AA5AA7}"/>
                </a:ext>
              </a:extLst>
            </p:cNvPr>
            <p:cNvSpPr/>
            <p:nvPr/>
          </p:nvSpPr>
          <p:spPr>
            <a:xfrm>
              <a:off x="6974384" y="2672252"/>
              <a:ext cx="2232000" cy="1440000"/>
            </a:xfrm>
            <a:custGeom>
              <a:avLst/>
              <a:gdLst/>
              <a:ahLst/>
              <a:cxnLst/>
              <a:rect l="0" t="0" r="0" b="0"/>
              <a:pathLst>
                <a:path w="6516" h="3284">
                  <a:moveTo>
                    <a:pt x="0" y="1642"/>
                  </a:moveTo>
                  <a:cubicBezTo>
                    <a:pt x="0" y="735"/>
                    <a:pt x="1458" y="0"/>
                    <a:pt x="3257" y="0"/>
                  </a:cubicBezTo>
                  <a:cubicBezTo>
                    <a:pt x="5057" y="0"/>
                    <a:pt x="6516" y="735"/>
                    <a:pt x="6516" y="1642"/>
                  </a:cubicBezTo>
                  <a:cubicBezTo>
                    <a:pt x="6516" y="2549"/>
                    <a:pt x="5057" y="3284"/>
                    <a:pt x="3257" y="3284"/>
                  </a:cubicBezTo>
                  <a:cubicBezTo>
                    <a:pt x="1458" y="3284"/>
                    <a:pt x="0" y="2549"/>
                    <a:pt x="0" y="1642"/>
                  </a:cubicBezTo>
                </a:path>
              </a:pathLst>
            </a:custGeom>
            <a:solidFill>
              <a:srgbClr val="FFD400">
                <a:alpha val="30196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 sz="1600"/>
            </a:p>
          </p:txBody>
        </p:sp>
        <p:sp>
          <p:nvSpPr>
            <p:cNvPr id="7" name="path 168">
              <a:extLst>
                <a:ext uri="{FF2B5EF4-FFF2-40B4-BE49-F238E27FC236}">
                  <a16:creationId xmlns:a16="http://schemas.microsoft.com/office/drawing/2014/main" id="{597DF66A-1E57-6A07-BBC6-0990729CE6F5}"/>
                </a:ext>
              </a:extLst>
            </p:cNvPr>
            <p:cNvSpPr/>
            <p:nvPr/>
          </p:nvSpPr>
          <p:spPr>
            <a:xfrm>
              <a:off x="6974384" y="2672252"/>
              <a:ext cx="2232000" cy="1440000"/>
            </a:xfrm>
            <a:custGeom>
              <a:avLst/>
              <a:gdLst/>
              <a:ahLst/>
              <a:cxnLst/>
              <a:rect l="0" t="0" r="0" b="0"/>
              <a:pathLst>
                <a:path w="6546" h="3314">
                  <a:moveTo>
                    <a:pt x="15" y="1657"/>
                  </a:moveTo>
                  <a:cubicBezTo>
                    <a:pt x="15" y="750"/>
                    <a:pt x="1473" y="15"/>
                    <a:pt x="3272" y="15"/>
                  </a:cubicBezTo>
                  <a:cubicBezTo>
                    <a:pt x="5072" y="15"/>
                    <a:pt x="6531" y="750"/>
                    <a:pt x="6531" y="1657"/>
                  </a:cubicBezTo>
                  <a:cubicBezTo>
                    <a:pt x="6531" y="2564"/>
                    <a:pt x="5072" y="3299"/>
                    <a:pt x="3272" y="3299"/>
                  </a:cubicBezTo>
                  <a:cubicBezTo>
                    <a:pt x="1473" y="3299"/>
                    <a:pt x="15" y="2564"/>
                    <a:pt x="15" y="1657"/>
                  </a:cubicBezTo>
                </a:path>
              </a:pathLst>
            </a:custGeom>
            <a:noFill/>
            <a:ln w="19050" cap="rnd">
              <a:solidFill>
                <a:srgbClr val="D4DF33"/>
              </a:solidFill>
              <a:prstDash val="dash"/>
              <a:round/>
            </a:ln>
          </p:spPr>
          <p:txBody>
            <a:bodyPr rtlCol="0"/>
            <a:lstStyle/>
            <a:p>
              <a:pPr algn="ctr"/>
              <a:endParaRPr lang="zh-CN" altLang="en-US" sz="1600"/>
            </a:p>
          </p:txBody>
        </p:sp>
        <p:sp>
          <p:nvSpPr>
            <p:cNvPr id="8" name="path 190">
              <a:extLst>
                <a:ext uri="{FF2B5EF4-FFF2-40B4-BE49-F238E27FC236}">
                  <a16:creationId xmlns:a16="http://schemas.microsoft.com/office/drawing/2014/main" id="{184E087F-D40C-CD3D-5603-B0DF5466DF5B}"/>
                </a:ext>
              </a:extLst>
            </p:cNvPr>
            <p:cNvSpPr/>
            <p:nvPr/>
          </p:nvSpPr>
          <p:spPr>
            <a:xfrm>
              <a:off x="6996008" y="2747142"/>
              <a:ext cx="360000" cy="360000"/>
            </a:xfrm>
            <a:custGeom>
              <a:avLst/>
              <a:gdLst/>
              <a:ahLst/>
              <a:cxnLst/>
              <a:rect l="0" t="0" r="0" b="0"/>
              <a:pathLst>
                <a:path w="624" h="625">
                  <a:moveTo>
                    <a:pt x="0" y="312"/>
                  </a:moveTo>
                  <a:cubicBezTo>
                    <a:pt x="0" y="140"/>
                    <a:pt x="139" y="0"/>
                    <a:pt x="312" y="0"/>
                  </a:cubicBezTo>
                  <a:cubicBezTo>
                    <a:pt x="485" y="0"/>
                    <a:pt x="624" y="140"/>
                    <a:pt x="624" y="312"/>
                  </a:cubicBezTo>
                  <a:cubicBezTo>
                    <a:pt x="624" y="485"/>
                    <a:pt x="485" y="625"/>
                    <a:pt x="312" y="625"/>
                  </a:cubicBezTo>
                  <a:cubicBezTo>
                    <a:pt x="139" y="625"/>
                    <a:pt x="0" y="485"/>
                    <a:pt x="0" y="312"/>
                  </a:cubicBezTo>
                </a:path>
              </a:pathLst>
            </a:custGeom>
            <a:solidFill>
              <a:srgbClr val="BF9F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 anchor="ctr"/>
            <a:lstStyle/>
            <a:p>
              <a:pPr algn="ctr"/>
              <a:endParaRPr lang="zh-CN" altLang="en-US" sz="1200">
                <a:latin typeface="+mn-ea"/>
              </a:endParaRPr>
            </a:p>
          </p:txBody>
        </p:sp>
        <p:sp>
          <p:nvSpPr>
            <p:cNvPr id="9" name="textbox 238">
              <a:extLst>
                <a:ext uri="{FF2B5EF4-FFF2-40B4-BE49-F238E27FC236}">
                  <a16:creationId xmlns:a16="http://schemas.microsoft.com/office/drawing/2014/main" id="{66DA9C3F-42C0-1E27-F806-FF78AEAF47A2}"/>
                </a:ext>
              </a:extLst>
            </p:cNvPr>
            <p:cNvSpPr/>
            <p:nvPr/>
          </p:nvSpPr>
          <p:spPr>
            <a:xfrm>
              <a:off x="7582422" y="2798267"/>
              <a:ext cx="946808" cy="257751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 anchor="ctr"/>
            <a:lstStyle/>
            <a:p>
              <a:pPr algn="ctr" rtl="0" eaLnBrk="0">
                <a:tabLst/>
              </a:pPr>
              <a:r>
                <a:rPr lang="zh-CN" altLang="en-US" sz="1200" b="1" kern="0" dirty="0">
                  <a:solidFill>
                    <a:srgbClr val="BF9F00">
                      <a:alpha val="100000"/>
                    </a:srgbClr>
                  </a:solidFill>
                  <a:latin typeface="+mn-ea"/>
                  <a:cs typeface="Segoe UI"/>
                </a:rPr>
                <a:t>历史趋势</a:t>
              </a:r>
              <a:endParaRPr sz="1200" dirty="0">
                <a:latin typeface="+mn-ea"/>
                <a:cs typeface="Segoe UI"/>
              </a:endParaRPr>
            </a:p>
          </p:txBody>
        </p:sp>
        <p:sp>
          <p:nvSpPr>
            <p:cNvPr id="10" name="textbox 292">
              <a:extLst>
                <a:ext uri="{FF2B5EF4-FFF2-40B4-BE49-F238E27FC236}">
                  <a16:creationId xmlns:a16="http://schemas.microsoft.com/office/drawing/2014/main" id="{5241652C-F062-1D24-56D0-62E5D7B039D8}"/>
                </a:ext>
              </a:extLst>
            </p:cNvPr>
            <p:cNvSpPr/>
            <p:nvPr/>
          </p:nvSpPr>
          <p:spPr>
            <a:xfrm>
              <a:off x="7107746" y="2814430"/>
              <a:ext cx="136525" cy="2254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 anchor="ctr"/>
            <a:lstStyle/>
            <a:p>
              <a:pPr algn="ctr" rtl="0" eaLnBrk="0">
                <a:tabLst/>
              </a:pPr>
              <a:r>
                <a:rPr lang="en-US" sz="1200" b="1" kern="0" spc="-70" dirty="0">
                  <a:solidFill>
                    <a:srgbClr val="FFFFFF">
                      <a:alpha val="100000"/>
                    </a:srgbClr>
                  </a:solidFill>
                  <a:latin typeface="+mn-ea"/>
                  <a:cs typeface="Segoe UI"/>
                </a:rPr>
                <a:t>B</a:t>
              </a:r>
              <a:endParaRPr sz="1200" dirty="0">
                <a:latin typeface="+mn-ea"/>
                <a:cs typeface="Segoe UI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FD9C1AD2-A4D9-357F-30B6-BC523264E35B}"/>
                </a:ext>
              </a:extLst>
            </p:cNvPr>
            <p:cNvSpPr txBox="1"/>
            <p:nvPr/>
          </p:nvSpPr>
          <p:spPr>
            <a:xfrm>
              <a:off x="7176008" y="3283202"/>
              <a:ext cx="1137023" cy="253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50000"/>
                    </a:schemeClr>
                  </a:solidFill>
                  <a:effectLst/>
                  <a:uLnTx/>
                  <a:uFillTx/>
                  <a:latin typeface="Aria"/>
                  <a:ea typeface="微软雅黑" panose="020B0503020204020204" pitchFamily="34" charset="-122"/>
                  <a:cs typeface="Arial" panose="020B0604020202020204" pitchFamily="34" charset="0"/>
                </a:rPr>
                <a:t>环比</a:t>
              </a: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50000"/>
                    </a:schemeClr>
                  </a:solidFill>
                  <a:effectLst/>
                  <a:uLnTx/>
                  <a:uFillTx/>
                  <a:latin typeface="Aria"/>
                  <a:ea typeface="微软雅黑" panose="020B0503020204020204" pitchFamily="34" charset="-122"/>
                  <a:cs typeface="Arial" panose="020B0604020202020204" pitchFamily="34" charset="0"/>
                </a:rPr>
                <a:t>/</a:t>
              </a: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50000"/>
                    </a:schemeClr>
                  </a:solidFill>
                  <a:effectLst/>
                  <a:uLnTx/>
                  <a:uFillTx/>
                  <a:latin typeface="Aria"/>
                  <a:ea typeface="微软雅黑" panose="020B0503020204020204" pitchFamily="34" charset="-122"/>
                  <a:cs typeface="Arial" panose="020B0604020202020204" pitchFamily="34" charset="0"/>
                </a:rPr>
                <a:t>同比增长率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42BD6980-5576-A5B9-9B39-BF1AC3EB5C2C}"/>
                </a:ext>
              </a:extLst>
            </p:cNvPr>
            <p:cNvSpPr txBox="1"/>
            <p:nvPr/>
          </p:nvSpPr>
          <p:spPr>
            <a:xfrm>
              <a:off x="7693906" y="3608278"/>
              <a:ext cx="1041852" cy="253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50000"/>
                    </a:schemeClr>
                  </a:solidFill>
                  <a:effectLst/>
                  <a:uLnTx/>
                  <a:uFillTx/>
                  <a:latin typeface="Aria"/>
                  <a:ea typeface="微软雅黑" panose="020B0503020204020204" pitchFamily="34" charset="-122"/>
                  <a:cs typeface="Arial" panose="020B0604020202020204" pitchFamily="34" charset="0"/>
                </a:rPr>
                <a:t>近期移动平均</a:t>
              </a: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B966337C-3C5D-1F04-520A-9F7D69697012}"/>
                </a:ext>
              </a:extLst>
            </p:cNvPr>
            <p:cNvSpPr txBox="1"/>
            <p:nvPr/>
          </p:nvSpPr>
          <p:spPr>
            <a:xfrm>
              <a:off x="8286688" y="3106183"/>
              <a:ext cx="770073" cy="253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50000"/>
                    </a:schemeClr>
                  </a:solidFill>
                  <a:effectLst/>
                  <a:uLnTx/>
                  <a:uFillTx/>
                  <a:latin typeface="Aria"/>
                  <a:ea typeface="微软雅黑" panose="020B0503020204020204" pitchFamily="34" charset="-122"/>
                  <a:cs typeface="Arial" panose="020B0604020202020204" pitchFamily="34" charset="0"/>
                </a:rPr>
                <a:t>线性外推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BD9CFFE9-3F78-012B-9C11-A4D75C0F0601}"/>
              </a:ext>
            </a:extLst>
          </p:cNvPr>
          <p:cNvGrpSpPr/>
          <p:nvPr/>
        </p:nvGrpSpPr>
        <p:grpSpPr>
          <a:xfrm>
            <a:off x="1882405" y="3055260"/>
            <a:ext cx="2041310" cy="1311556"/>
            <a:chOff x="2070609" y="2672252"/>
            <a:chExt cx="2241222" cy="1440000"/>
          </a:xfrm>
        </p:grpSpPr>
        <p:sp>
          <p:nvSpPr>
            <p:cNvPr id="15" name="path 174">
              <a:extLst>
                <a:ext uri="{FF2B5EF4-FFF2-40B4-BE49-F238E27FC236}">
                  <a16:creationId xmlns:a16="http://schemas.microsoft.com/office/drawing/2014/main" id="{14D77B0A-E4F5-FCE8-A02B-BC9F60A6D4BC}"/>
                </a:ext>
              </a:extLst>
            </p:cNvPr>
            <p:cNvSpPr/>
            <p:nvPr/>
          </p:nvSpPr>
          <p:spPr>
            <a:xfrm>
              <a:off x="2079831" y="2672252"/>
              <a:ext cx="2232000" cy="1440000"/>
            </a:xfrm>
            <a:custGeom>
              <a:avLst/>
              <a:gdLst/>
              <a:ahLst/>
              <a:cxnLst/>
              <a:rect l="0" t="0" r="0" b="0"/>
              <a:pathLst>
                <a:path w="3651" h="4122">
                  <a:moveTo>
                    <a:pt x="0" y="2061"/>
                  </a:moveTo>
                  <a:cubicBezTo>
                    <a:pt x="0" y="922"/>
                    <a:pt x="817" y="0"/>
                    <a:pt x="1825" y="0"/>
                  </a:cubicBezTo>
                  <a:cubicBezTo>
                    <a:pt x="2834" y="0"/>
                    <a:pt x="3651" y="922"/>
                    <a:pt x="3651" y="2061"/>
                  </a:cubicBezTo>
                  <a:cubicBezTo>
                    <a:pt x="3651" y="3200"/>
                    <a:pt x="2834" y="4122"/>
                    <a:pt x="1825" y="4122"/>
                  </a:cubicBezTo>
                  <a:cubicBezTo>
                    <a:pt x="817" y="4122"/>
                    <a:pt x="0" y="3200"/>
                    <a:pt x="0" y="2061"/>
                  </a:cubicBezTo>
                </a:path>
              </a:pathLst>
            </a:custGeom>
            <a:solidFill>
              <a:schemeClr val="accent1">
                <a:lumMod val="60000"/>
                <a:lumOff val="40000"/>
                <a:alpha val="20000"/>
              </a:scheme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 sz="1600"/>
            </a:p>
          </p:txBody>
        </p:sp>
        <p:sp>
          <p:nvSpPr>
            <p:cNvPr id="16" name="path 176">
              <a:extLst>
                <a:ext uri="{FF2B5EF4-FFF2-40B4-BE49-F238E27FC236}">
                  <a16:creationId xmlns:a16="http://schemas.microsoft.com/office/drawing/2014/main" id="{1033ADC5-16EB-A610-26E0-F78372D9DA94}"/>
                </a:ext>
              </a:extLst>
            </p:cNvPr>
            <p:cNvSpPr/>
            <p:nvPr/>
          </p:nvSpPr>
          <p:spPr>
            <a:xfrm>
              <a:off x="2079831" y="2672252"/>
              <a:ext cx="2232000" cy="1440000"/>
            </a:xfrm>
            <a:custGeom>
              <a:avLst/>
              <a:gdLst/>
              <a:ahLst/>
              <a:cxnLst/>
              <a:rect l="0" t="0" r="0" b="0"/>
              <a:pathLst>
                <a:path w="3681" h="4152">
                  <a:moveTo>
                    <a:pt x="15" y="2076"/>
                  </a:moveTo>
                  <a:cubicBezTo>
                    <a:pt x="15" y="937"/>
                    <a:pt x="832" y="15"/>
                    <a:pt x="1840" y="15"/>
                  </a:cubicBezTo>
                  <a:cubicBezTo>
                    <a:pt x="2849" y="15"/>
                    <a:pt x="3666" y="937"/>
                    <a:pt x="3666" y="2076"/>
                  </a:cubicBezTo>
                  <a:cubicBezTo>
                    <a:pt x="3666" y="3215"/>
                    <a:pt x="2849" y="4137"/>
                    <a:pt x="1840" y="4137"/>
                  </a:cubicBezTo>
                  <a:cubicBezTo>
                    <a:pt x="832" y="4137"/>
                    <a:pt x="15" y="3215"/>
                    <a:pt x="15" y="2076"/>
                  </a:cubicBezTo>
                </a:path>
              </a:pathLst>
            </a:custGeom>
            <a:noFill/>
            <a:ln w="19050" cap="rnd">
              <a:solidFill>
                <a:schemeClr val="accent1"/>
              </a:solidFill>
              <a:prstDash val="dash"/>
              <a:round/>
            </a:ln>
          </p:spPr>
          <p:txBody>
            <a:bodyPr rtlCol="0"/>
            <a:lstStyle/>
            <a:p>
              <a:pPr algn="ctr"/>
              <a:endParaRPr lang="zh-CN" altLang="en-US" sz="1600"/>
            </a:p>
          </p:txBody>
        </p:sp>
        <p:sp>
          <p:nvSpPr>
            <p:cNvPr id="17" name="path 186">
              <a:extLst>
                <a:ext uri="{FF2B5EF4-FFF2-40B4-BE49-F238E27FC236}">
                  <a16:creationId xmlns:a16="http://schemas.microsoft.com/office/drawing/2014/main" id="{47AAFCF3-F119-74D9-5374-0BEF5627C202}"/>
                </a:ext>
              </a:extLst>
            </p:cNvPr>
            <p:cNvSpPr/>
            <p:nvPr/>
          </p:nvSpPr>
          <p:spPr>
            <a:xfrm>
              <a:off x="2070609" y="2747142"/>
              <a:ext cx="360000" cy="360000"/>
            </a:xfrm>
            <a:custGeom>
              <a:avLst/>
              <a:gdLst/>
              <a:ahLst/>
              <a:cxnLst/>
              <a:rect l="0" t="0" r="0" b="0"/>
              <a:pathLst>
                <a:path w="625" h="624">
                  <a:moveTo>
                    <a:pt x="0" y="312"/>
                  </a:moveTo>
                  <a:cubicBezTo>
                    <a:pt x="0" y="139"/>
                    <a:pt x="140" y="0"/>
                    <a:pt x="312" y="0"/>
                  </a:cubicBezTo>
                  <a:cubicBezTo>
                    <a:pt x="485" y="0"/>
                    <a:pt x="625" y="139"/>
                    <a:pt x="625" y="312"/>
                  </a:cubicBezTo>
                  <a:cubicBezTo>
                    <a:pt x="625" y="485"/>
                    <a:pt x="485" y="624"/>
                    <a:pt x="312" y="624"/>
                  </a:cubicBezTo>
                  <a:cubicBezTo>
                    <a:pt x="140" y="624"/>
                    <a:pt x="0" y="485"/>
                    <a:pt x="0" y="312"/>
                  </a:cubicBezTo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 lim="0"/>
            </a:ln>
          </p:spPr>
          <p:txBody>
            <a:bodyPr rtlCol="0" anchor="ctr"/>
            <a:lstStyle/>
            <a:p>
              <a:pPr algn="ctr"/>
              <a:endParaRPr lang="zh-CN" altLang="en-US" sz="1200">
                <a:latin typeface="+mn-ea"/>
              </a:endParaRPr>
            </a:p>
          </p:txBody>
        </p:sp>
        <p:sp>
          <p:nvSpPr>
            <p:cNvPr id="18" name="textbox 288">
              <a:extLst>
                <a:ext uri="{FF2B5EF4-FFF2-40B4-BE49-F238E27FC236}">
                  <a16:creationId xmlns:a16="http://schemas.microsoft.com/office/drawing/2014/main" id="{742C60ED-6472-01E2-2491-9FB370DFEE28}"/>
                </a:ext>
              </a:extLst>
            </p:cNvPr>
            <p:cNvSpPr/>
            <p:nvPr/>
          </p:nvSpPr>
          <p:spPr>
            <a:xfrm>
              <a:off x="2180442" y="2809032"/>
              <a:ext cx="140335" cy="2362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 anchor="ctr"/>
            <a:lstStyle/>
            <a:p>
              <a:pPr algn="ctr" rtl="0" eaLnBrk="0">
                <a:tabLst/>
              </a:pPr>
              <a:r>
                <a:rPr lang="en-US" sz="1200" b="1" kern="0" spc="-90" dirty="0">
                  <a:solidFill>
                    <a:srgbClr val="FFFFFF">
                      <a:alpha val="100000"/>
                    </a:srgbClr>
                  </a:solidFill>
                  <a:latin typeface="+mn-ea"/>
                  <a:cs typeface="Segoe UI"/>
                </a:rPr>
                <a:t>C</a:t>
              </a:r>
              <a:endParaRPr sz="1200" dirty="0">
                <a:latin typeface="+mn-ea"/>
                <a:cs typeface="Segoe UI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C6F6A2BE-811C-4B89-50C9-9465DABA23FC}"/>
                </a:ext>
              </a:extLst>
            </p:cNvPr>
            <p:cNvSpPr txBox="1"/>
            <p:nvPr/>
          </p:nvSpPr>
          <p:spPr>
            <a:xfrm>
              <a:off x="2613245" y="2773254"/>
              <a:ext cx="1165573" cy="30777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 rtl="0" eaLnBrk="0">
                <a:tabLst/>
              </a:pPr>
              <a:r>
                <a:rPr lang="zh-CN" altLang="en-US" sz="1200" b="1" kern="0" spc="60" dirty="0">
                  <a:solidFill>
                    <a:srgbClr val="005B91">
                      <a:alpha val="100000"/>
                    </a:srgbClr>
                  </a:solidFill>
                  <a:latin typeface="+mn-ea"/>
                  <a:cs typeface="Segoe UI"/>
                </a:rPr>
                <a:t>当月进度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9C5E7F35-7B95-F090-288B-86793A6FA071}"/>
                </a:ext>
              </a:extLst>
            </p:cNvPr>
            <p:cNvSpPr txBox="1"/>
            <p:nvPr/>
          </p:nvSpPr>
          <p:spPr>
            <a:xfrm>
              <a:off x="2246534" y="3241627"/>
              <a:ext cx="962226" cy="253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900" dirty="0">
                  <a:solidFill>
                    <a:schemeClr val="accent2">
                      <a:lumMod val="50000"/>
                    </a:schemeClr>
                  </a:solidFill>
                  <a:latin typeface="Aria"/>
                  <a:ea typeface="微软雅黑" panose="020B0503020204020204" pitchFamily="34" charset="-122"/>
                  <a:cs typeface="Arial" panose="020B0604020202020204" pitchFamily="34" charset="0"/>
                </a:rPr>
                <a:t>当月累积销量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Aria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03F4BD3F-B8FE-EC8A-7940-1C0D482BE6C8}"/>
                </a:ext>
              </a:extLst>
            </p:cNvPr>
            <p:cNvSpPr txBox="1"/>
            <p:nvPr/>
          </p:nvSpPr>
          <p:spPr>
            <a:xfrm>
              <a:off x="2791109" y="3643182"/>
              <a:ext cx="853398" cy="253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900" dirty="0">
                  <a:solidFill>
                    <a:schemeClr val="accent2">
                      <a:lumMod val="50000"/>
                    </a:schemeClr>
                  </a:solidFill>
                  <a:latin typeface="Aria"/>
                  <a:ea typeface="微软雅黑" panose="020B0503020204020204" pitchFamily="34" charset="-122"/>
                  <a:cs typeface="Arial" panose="020B0604020202020204" pitchFamily="34" charset="0"/>
                </a:rPr>
                <a:t>日均销量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Aria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E31364F0-3E7F-E17B-91B1-3F7014DC50C5}"/>
                </a:ext>
              </a:extLst>
            </p:cNvPr>
            <p:cNvSpPr txBox="1"/>
            <p:nvPr/>
          </p:nvSpPr>
          <p:spPr>
            <a:xfrm>
              <a:off x="3279547" y="3308351"/>
              <a:ext cx="998544" cy="253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900" dirty="0">
                  <a:solidFill>
                    <a:schemeClr val="accent2">
                      <a:lumMod val="50000"/>
                    </a:schemeClr>
                  </a:solidFill>
                  <a:latin typeface="Aria"/>
                  <a:ea typeface="微软雅黑" panose="020B0503020204020204" pitchFamily="34" charset="-122"/>
                  <a:cs typeface="Arial" panose="020B0604020202020204" pitchFamily="34" charset="0"/>
                </a:rPr>
                <a:t>历史</a:t>
              </a:r>
              <a:r>
                <a:rPr lang="en-US" altLang="zh-CN" sz="900" dirty="0">
                  <a:solidFill>
                    <a:schemeClr val="accent2">
                      <a:lumMod val="50000"/>
                    </a:schemeClr>
                  </a:solidFill>
                  <a:latin typeface="Aria"/>
                  <a:ea typeface="微软雅黑" panose="020B0503020204020204" pitchFamily="34" charset="-122"/>
                  <a:cs typeface="Arial" panose="020B0604020202020204" pitchFamily="34" charset="0"/>
                </a:rPr>
                <a:t>MTD</a:t>
              </a:r>
              <a:r>
                <a:rPr lang="zh-CN" altLang="en-US" sz="900" dirty="0">
                  <a:solidFill>
                    <a:schemeClr val="accent2">
                      <a:lumMod val="50000"/>
                    </a:schemeClr>
                  </a:solidFill>
                  <a:latin typeface="Aria"/>
                  <a:ea typeface="微软雅黑" panose="020B0503020204020204" pitchFamily="34" charset="-122"/>
                  <a:cs typeface="Arial" panose="020B0604020202020204" pitchFamily="34" charset="0"/>
                </a:rPr>
                <a:t>占比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Aria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38BFBBCB-87D4-183C-FDD8-A87F94935090}"/>
              </a:ext>
            </a:extLst>
          </p:cNvPr>
          <p:cNvGrpSpPr/>
          <p:nvPr/>
        </p:nvGrpSpPr>
        <p:grpSpPr>
          <a:xfrm>
            <a:off x="9220911" y="3055260"/>
            <a:ext cx="2074134" cy="1311556"/>
            <a:chOff x="9328587" y="2672252"/>
            <a:chExt cx="2277260" cy="1440000"/>
          </a:xfrm>
        </p:grpSpPr>
        <p:sp>
          <p:nvSpPr>
            <p:cNvPr id="24" name="path 170">
              <a:extLst>
                <a:ext uri="{FF2B5EF4-FFF2-40B4-BE49-F238E27FC236}">
                  <a16:creationId xmlns:a16="http://schemas.microsoft.com/office/drawing/2014/main" id="{04E7EEA7-A371-D356-2D40-F733614D264C}"/>
                </a:ext>
              </a:extLst>
            </p:cNvPr>
            <p:cNvSpPr/>
            <p:nvPr/>
          </p:nvSpPr>
          <p:spPr>
            <a:xfrm>
              <a:off x="9373847" y="2672252"/>
              <a:ext cx="2232000" cy="1440000"/>
            </a:xfrm>
            <a:custGeom>
              <a:avLst/>
              <a:gdLst/>
              <a:ahLst/>
              <a:cxnLst/>
              <a:rect l="0" t="0" r="0" b="0"/>
              <a:pathLst>
                <a:path w="10164" h="2431">
                  <a:moveTo>
                    <a:pt x="0" y="1215"/>
                  </a:moveTo>
                  <a:cubicBezTo>
                    <a:pt x="0" y="544"/>
                    <a:pt x="2275" y="0"/>
                    <a:pt x="5082" y="0"/>
                  </a:cubicBezTo>
                  <a:cubicBezTo>
                    <a:pt x="7889" y="0"/>
                    <a:pt x="10164" y="544"/>
                    <a:pt x="10164" y="1215"/>
                  </a:cubicBezTo>
                  <a:cubicBezTo>
                    <a:pt x="10164" y="1887"/>
                    <a:pt x="7889" y="2431"/>
                    <a:pt x="5082" y="2431"/>
                  </a:cubicBezTo>
                  <a:cubicBezTo>
                    <a:pt x="2275" y="2431"/>
                    <a:pt x="0" y="1887"/>
                    <a:pt x="0" y="1215"/>
                  </a:cubicBezTo>
                </a:path>
              </a:pathLst>
            </a:custGeom>
            <a:solidFill>
              <a:schemeClr val="accent2">
                <a:alpha val="21960"/>
              </a:scheme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 sz="1600" dirty="0"/>
            </a:p>
          </p:txBody>
        </p:sp>
        <p:sp>
          <p:nvSpPr>
            <p:cNvPr id="25" name="path 172">
              <a:extLst>
                <a:ext uri="{FF2B5EF4-FFF2-40B4-BE49-F238E27FC236}">
                  <a16:creationId xmlns:a16="http://schemas.microsoft.com/office/drawing/2014/main" id="{5E7E83AF-B744-B576-D6AB-3F7B5482B9C0}"/>
                </a:ext>
              </a:extLst>
            </p:cNvPr>
            <p:cNvSpPr/>
            <p:nvPr/>
          </p:nvSpPr>
          <p:spPr>
            <a:xfrm>
              <a:off x="9373847" y="2672252"/>
              <a:ext cx="2232000" cy="1440000"/>
            </a:xfrm>
            <a:custGeom>
              <a:avLst/>
              <a:gdLst/>
              <a:ahLst/>
              <a:cxnLst/>
              <a:rect l="0" t="0" r="0" b="0"/>
              <a:pathLst>
                <a:path w="10194" h="2461">
                  <a:moveTo>
                    <a:pt x="15" y="1230"/>
                  </a:moveTo>
                  <a:cubicBezTo>
                    <a:pt x="15" y="559"/>
                    <a:pt x="2290" y="15"/>
                    <a:pt x="5097" y="15"/>
                  </a:cubicBezTo>
                  <a:cubicBezTo>
                    <a:pt x="7904" y="15"/>
                    <a:pt x="10179" y="559"/>
                    <a:pt x="10179" y="1230"/>
                  </a:cubicBezTo>
                  <a:cubicBezTo>
                    <a:pt x="10179" y="1902"/>
                    <a:pt x="7904" y="2446"/>
                    <a:pt x="5097" y="2446"/>
                  </a:cubicBezTo>
                  <a:cubicBezTo>
                    <a:pt x="2290" y="2446"/>
                    <a:pt x="15" y="1902"/>
                    <a:pt x="15" y="1230"/>
                  </a:cubicBezTo>
                </a:path>
              </a:pathLst>
            </a:custGeom>
            <a:noFill/>
            <a:ln w="19050" cap="rnd">
              <a:solidFill>
                <a:srgbClr val="005B91"/>
              </a:solidFill>
              <a:prstDash val="dash"/>
              <a:round/>
            </a:ln>
          </p:spPr>
          <p:txBody>
            <a:bodyPr rtlCol="0"/>
            <a:lstStyle/>
            <a:p>
              <a:pPr algn="ctr"/>
              <a:endParaRPr lang="zh-CN" altLang="en-US" sz="1600"/>
            </a:p>
          </p:txBody>
        </p:sp>
        <p:sp>
          <p:nvSpPr>
            <p:cNvPr id="26" name="path 186">
              <a:extLst>
                <a:ext uri="{FF2B5EF4-FFF2-40B4-BE49-F238E27FC236}">
                  <a16:creationId xmlns:a16="http://schemas.microsoft.com/office/drawing/2014/main" id="{E4CDF795-06CC-1B34-CD03-0743BCC6FD6B}"/>
                </a:ext>
              </a:extLst>
            </p:cNvPr>
            <p:cNvSpPr/>
            <p:nvPr/>
          </p:nvSpPr>
          <p:spPr>
            <a:xfrm>
              <a:off x="9328587" y="2747142"/>
              <a:ext cx="360000" cy="360000"/>
            </a:xfrm>
            <a:custGeom>
              <a:avLst/>
              <a:gdLst/>
              <a:ahLst/>
              <a:cxnLst/>
              <a:rect l="0" t="0" r="0" b="0"/>
              <a:pathLst>
                <a:path w="625" h="624">
                  <a:moveTo>
                    <a:pt x="0" y="312"/>
                  </a:moveTo>
                  <a:cubicBezTo>
                    <a:pt x="0" y="139"/>
                    <a:pt x="140" y="0"/>
                    <a:pt x="312" y="0"/>
                  </a:cubicBezTo>
                  <a:cubicBezTo>
                    <a:pt x="485" y="0"/>
                    <a:pt x="625" y="139"/>
                    <a:pt x="625" y="312"/>
                  </a:cubicBezTo>
                  <a:cubicBezTo>
                    <a:pt x="625" y="485"/>
                    <a:pt x="485" y="624"/>
                    <a:pt x="312" y="624"/>
                  </a:cubicBezTo>
                  <a:cubicBezTo>
                    <a:pt x="140" y="624"/>
                    <a:pt x="0" y="485"/>
                    <a:pt x="0" y="312"/>
                  </a:cubicBezTo>
                </a:path>
              </a:pathLst>
            </a:custGeom>
            <a:solidFill>
              <a:srgbClr val="005B91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 anchor="ctr"/>
            <a:lstStyle/>
            <a:p>
              <a:pPr algn="ctr"/>
              <a:endParaRPr lang="zh-CN" altLang="en-US" sz="1200">
                <a:latin typeface="+mn-ea"/>
              </a:endParaRPr>
            </a:p>
          </p:txBody>
        </p:sp>
        <p:sp>
          <p:nvSpPr>
            <p:cNvPr id="27" name="textbox 288">
              <a:extLst>
                <a:ext uri="{FF2B5EF4-FFF2-40B4-BE49-F238E27FC236}">
                  <a16:creationId xmlns:a16="http://schemas.microsoft.com/office/drawing/2014/main" id="{851E39D1-8F33-E195-9344-78485CC6B7E9}"/>
                </a:ext>
              </a:extLst>
            </p:cNvPr>
            <p:cNvSpPr/>
            <p:nvPr/>
          </p:nvSpPr>
          <p:spPr>
            <a:xfrm>
              <a:off x="9438420" y="2809032"/>
              <a:ext cx="140335" cy="2362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 anchor="ctr"/>
            <a:lstStyle/>
            <a:p>
              <a:pPr algn="ctr" rtl="0" eaLnBrk="0">
                <a:tabLst/>
              </a:pPr>
              <a:r>
                <a:rPr lang="en-US" sz="1200" b="1" kern="0" spc="-90" dirty="0">
                  <a:solidFill>
                    <a:srgbClr val="FFFFFF">
                      <a:alpha val="100000"/>
                    </a:srgbClr>
                  </a:solidFill>
                  <a:latin typeface="+mn-ea"/>
                  <a:cs typeface="Segoe UI"/>
                </a:rPr>
                <a:t>D</a:t>
              </a:r>
              <a:endParaRPr sz="1200" dirty="0">
                <a:latin typeface="+mn-ea"/>
                <a:cs typeface="Segoe UI"/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5D06C48C-C44A-0337-E5E3-B5013CE53E9F}"/>
                </a:ext>
              </a:extLst>
            </p:cNvPr>
            <p:cNvSpPr txBox="1"/>
            <p:nvPr/>
          </p:nvSpPr>
          <p:spPr>
            <a:xfrm>
              <a:off x="9961176" y="2773254"/>
              <a:ext cx="1181171" cy="30777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 rtl="0" eaLnBrk="0">
                <a:tabLst/>
              </a:pPr>
              <a:r>
                <a:rPr lang="zh-CN" altLang="en-US" sz="1200" b="1" kern="0" spc="60" dirty="0">
                  <a:solidFill>
                    <a:srgbClr val="005B91">
                      <a:alpha val="100000"/>
                    </a:srgbClr>
                  </a:solidFill>
                  <a:latin typeface="+mn-ea"/>
                  <a:cs typeface="Segoe UI"/>
                </a:rPr>
                <a:t>医院行为</a:t>
              </a:r>
              <a:endParaRPr lang="en-US" altLang="zh-CN" sz="1200" dirty="0">
                <a:latin typeface="+mn-ea"/>
                <a:cs typeface="Segoe UI"/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6DA6A532-2F97-9EEA-8B23-09FAB120D649}"/>
                </a:ext>
              </a:extLst>
            </p:cNvPr>
            <p:cNvSpPr txBox="1"/>
            <p:nvPr/>
          </p:nvSpPr>
          <p:spPr>
            <a:xfrm>
              <a:off x="9765504" y="3594944"/>
              <a:ext cx="1260429" cy="253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50000"/>
                    </a:schemeClr>
                  </a:solidFill>
                  <a:effectLst/>
                  <a:uLnTx/>
                  <a:uFillTx/>
                  <a:latin typeface="Aria"/>
                  <a:ea typeface="微软雅黑" panose="020B0503020204020204" pitchFamily="34" charset="-122"/>
                  <a:cs typeface="Arial" panose="020B0604020202020204" pitchFamily="34" charset="0"/>
                </a:rPr>
                <a:t>距离上次进货月数</a:t>
              </a: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B28B5D5A-F78B-C2CC-E145-A407087BFA83}"/>
                </a:ext>
              </a:extLst>
            </p:cNvPr>
            <p:cNvSpPr txBox="1"/>
            <p:nvPr/>
          </p:nvSpPr>
          <p:spPr>
            <a:xfrm>
              <a:off x="9557995" y="3150800"/>
              <a:ext cx="727102" cy="253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50000"/>
                    </a:schemeClr>
                  </a:solidFill>
                  <a:effectLst/>
                  <a:uLnTx/>
                  <a:uFillTx/>
                  <a:latin typeface="Aria"/>
                  <a:ea typeface="微软雅黑" panose="020B0503020204020204" pitchFamily="34" charset="-122"/>
                  <a:cs typeface="Arial" panose="020B0604020202020204" pitchFamily="34" charset="0"/>
                </a:rPr>
                <a:t>库存代理</a:t>
              </a: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C82617E2-C433-0B04-D864-F99B18C499BC}"/>
                </a:ext>
              </a:extLst>
            </p:cNvPr>
            <p:cNvSpPr txBox="1"/>
            <p:nvPr/>
          </p:nvSpPr>
          <p:spPr>
            <a:xfrm>
              <a:off x="10241022" y="3291953"/>
              <a:ext cx="1260428" cy="253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50000"/>
                    </a:schemeClr>
                  </a:solidFill>
                  <a:effectLst/>
                  <a:uLnTx/>
                  <a:uFillTx/>
                  <a:latin typeface="Aria"/>
                  <a:ea typeface="微软雅黑" panose="020B0503020204020204" pitchFamily="34" charset="-122"/>
                  <a:cs typeface="Arial" panose="020B0604020202020204" pitchFamily="34" charset="0"/>
                </a:rPr>
                <a:t>近期进货频次</a:t>
              </a: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50000"/>
                    </a:schemeClr>
                  </a:solidFill>
                  <a:effectLst/>
                  <a:uLnTx/>
                  <a:uFillTx/>
                  <a:latin typeface="Aria"/>
                  <a:ea typeface="微软雅黑" panose="020B0503020204020204" pitchFamily="34" charset="-122"/>
                  <a:cs typeface="Arial" panose="020B0604020202020204" pitchFamily="34" charset="0"/>
                </a:rPr>
                <a:t>/</a:t>
              </a: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50000"/>
                    </a:schemeClr>
                  </a:solidFill>
                  <a:effectLst/>
                  <a:uLnTx/>
                  <a:uFillTx/>
                  <a:latin typeface="Aria"/>
                  <a:ea typeface="微软雅黑" panose="020B0503020204020204" pitchFamily="34" charset="-122"/>
                  <a:cs typeface="Arial" panose="020B0604020202020204" pitchFamily="34" charset="0"/>
                </a:rPr>
                <a:t>总量</a:t>
              </a: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FD941AC8-84B6-F853-5A0B-7103BADEA080}"/>
              </a:ext>
            </a:extLst>
          </p:cNvPr>
          <p:cNvGrpSpPr/>
          <p:nvPr/>
        </p:nvGrpSpPr>
        <p:grpSpPr>
          <a:xfrm>
            <a:off x="4321293" y="3055260"/>
            <a:ext cx="2071552" cy="1311556"/>
            <a:chOff x="4541995" y="2672252"/>
            <a:chExt cx="2274425" cy="1440000"/>
          </a:xfrm>
        </p:grpSpPr>
        <p:sp>
          <p:nvSpPr>
            <p:cNvPr id="33" name="path 174">
              <a:extLst>
                <a:ext uri="{FF2B5EF4-FFF2-40B4-BE49-F238E27FC236}">
                  <a16:creationId xmlns:a16="http://schemas.microsoft.com/office/drawing/2014/main" id="{DF7192CB-D704-F39E-8CC8-99D52293BDE4}"/>
                </a:ext>
              </a:extLst>
            </p:cNvPr>
            <p:cNvSpPr/>
            <p:nvPr/>
          </p:nvSpPr>
          <p:spPr>
            <a:xfrm>
              <a:off x="4584420" y="2672252"/>
              <a:ext cx="2232000" cy="1440000"/>
            </a:xfrm>
            <a:custGeom>
              <a:avLst/>
              <a:gdLst/>
              <a:ahLst/>
              <a:cxnLst/>
              <a:rect l="0" t="0" r="0" b="0"/>
              <a:pathLst>
                <a:path w="3651" h="4122">
                  <a:moveTo>
                    <a:pt x="0" y="2061"/>
                  </a:moveTo>
                  <a:cubicBezTo>
                    <a:pt x="0" y="922"/>
                    <a:pt x="817" y="0"/>
                    <a:pt x="1825" y="0"/>
                  </a:cubicBezTo>
                  <a:cubicBezTo>
                    <a:pt x="2834" y="0"/>
                    <a:pt x="3651" y="922"/>
                    <a:pt x="3651" y="2061"/>
                  </a:cubicBezTo>
                  <a:cubicBezTo>
                    <a:pt x="3651" y="3200"/>
                    <a:pt x="2834" y="4122"/>
                    <a:pt x="1825" y="4122"/>
                  </a:cubicBezTo>
                  <a:cubicBezTo>
                    <a:pt x="817" y="4122"/>
                    <a:pt x="0" y="3200"/>
                    <a:pt x="0" y="2061"/>
                  </a:cubicBezTo>
                </a:path>
              </a:pathLst>
            </a:custGeom>
            <a:solidFill>
              <a:srgbClr val="00612A">
                <a:alpha val="2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 sz="1600"/>
            </a:p>
          </p:txBody>
        </p:sp>
        <p:sp>
          <p:nvSpPr>
            <p:cNvPr id="34" name="path 176">
              <a:extLst>
                <a:ext uri="{FF2B5EF4-FFF2-40B4-BE49-F238E27FC236}">
                  <a16:creationId xmlns:a16="http://schemas.microsoft.com/office/drawing/2014/main" id="{A4597EBC-8C0D-CD3D-8F7D-73447A3C2E70}"/>
                </a:ext>
              </a:extLst>
            </p:cNvPr>
            <p:cNvSpPr/>
            <p:nvPr/>
          </p:nvSpPr>
          <p:spPr>
            <a:xfrm>
              <a:off x="4584420" y="2672252"/>
              <a:ext cx="2232000" cy="1440000"/>
            </a:xfrm>
            <a:custGeom>
              <a:avLst/>
              <a:gdLst/>
              <a:ahLst/>
              <a:cxnLst/>
              <a:rect l="0" t="0" r="0" b="0"/>
              <a:pathLst>
                <a:path w="3681" h="4152">
                  <a:moveTo>
                    <a:pt x="15" y="2076"/>
                  </a:moveTo>
                  <a:cubicBezTo>
                    <a:pt x="15" y="937"/>
                    <a:pt x="832" y="15"/>
                    <a:pt x="1840" y="15"/>
                  </a:cubicBezTo>
                  <a:cubicBezTo>
                    <a:pt x="2849" y="15"/>
                    <a:pt x="3666" y="937"/>
                    <a:pt x="3666" y="2076"/>
                  </a:cubicBezTo>
                  <a:cubicBezTo>
                    <a:pt x="3666" y="3215"/>
                    <a:pt x="2849" y="4137"/>
                    <a:pt x="1840" y="4137"/>
                  </a:cubicBezTo>
                  <a:cubicBezTo>
                    <a:pt x="832" y="4137"/>
                    <a:pt x="15" y="3215"/>
                    <a:pt x="15" y="2076"/>
                  </a:cubicBezTo>
                </a:path>
              </a:pathLst>
            </a:custGeom>
            <a:noFill/>
            <a:ln w="19050" cap="rnd">
              <a:solidFill>
                <a:srgbClr val="00612A"/>
              </a:solidFill>
              <a:prstDash val="dash"/>
              <a:round/>
            </a:ln>
          </p:spPr>
          <p:txBody>
            <a:bodyPr rtlCol="0"/>
            <a:lstStyle/>
            <a:p>
              <a:pPr algn="ctr"/>
              <a:endParaRPr lang="zh-CN" altLang="en-US" sz="1600"/>
            </a:p>
          </p:txBody>
        </p:sp>
        <p:sp>
          <p:nvSpPr>
            <p:cNvPr id="35" name="path 192">
              <a:extLst>
                <a:ext uri="{FF2B5EF4-FFF2-40B4-BE49-F238E27FC236}">
                  <a16:creationId xmlns:a16="http://schemas.microsoft.com/office/drawing/2014/main" id="{FAC99475-898E-6EB2-C828-07018D407520}"/>
                </a:ext>
              </a:extLst>
            </p:cNvPr>
            <p:cNvSpPr/>
            <p:nvPr/>
          </p:nvSpPr>
          <p:spPr>
            <a:xfrm>
              <a:off x="4541995" y="2747142"/>
              <a:ext cx="360000" cy="360000"/>
            </a:xfrm>
            <a:custGeom>
              <a:avLst/>
              <a:gdLst/>
              <a:ahLst/>
              <a:cxnLst/>
              <a:rect l="0" t="0" r="0" b="0"/>
              <a:pathLst>
                <a:path w="624" h="624">
                  <a:moveTo>
                    <a:pt x="0" y="312"/>
                  </a:moveTo>
                  <a:cubicBezTo>
                    <a:pt x="0" y="139"/>
                    <a:pt x="139" y="0"/>
                    <a:pt x="312" y="0"/>
                  </a:cubicBezTo>
                  <a:cubicBezTo>
                    <a:pt x="485" y="0"/>
                    <a:pt x="624" y="139"/>
                    <a:pt x="624" y="312"/>
                  </a:cubicBezTo>
                  <a:cubicBezTo>
                    <a:pt x="624" y="485"/>
                    <a:pt x="485" y="624"/>
                    <a:pt x="312" y="624"/>
                  </a:cubicBezTo>
                  <a:cubicBezTo>
                    <a:pt x="139" y="624"/>
                    <a:pt x="0" y="485"/>
                    <a:pt x="0" y="312"/>
                  </a:cubicBezTo>
                </a:path>
              </a:pathLst>
            </a:custGeom>
            <a:solidFill>
              <a:srgbClr val="00612A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 anchor="ctr"/>
            <a:lstStyle/>
            <a:p>
              <a:pPr algn="ctr"/>
              <a:endParaRPr lang="zh-CN" altLang="en-US" sz="1200">
                <a:latin typeface="+mn-ea"/>
              </a:endParaRPr>
            </a:p>
          </p:txBody>
        </p:sp>
        <p:sp>
          <p:nvSpPr>
            <p:cNvPr id="36" name="textbox 232">
              <a:extLst>
                <a:ext uri="{FF2B5EF4-FFF2-40B4-BE49-F238E27FC236}">
                  <a16:creationId xmlns:a16="http://schemas.microsoft.com/office/drawing/2014/main" id="{0FD7AFE2-782A-607C-CB8D-EA9D90736AFF}"/>
                </a:ext>
              </a:extLst>
            </p:cNvPr>
            <p:cNvSpPr/>
            <p:nvPr/>
          </p:nvSpPr>
          <p:spPr>
            <a:xfrm>
              <a:off x="5096060" y="2787176"/>
              <a:ext cx="1209940" cy="279932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 anchor="ctr"/>
            <a:lstStyle/>
            <a:p>
              <a:pPr indent="7620" algn="ctr" rtl="0" eaLnBrk="0">
                <a:tabLst/>
              </a:pPr>
              <a:r>
                <a:rPr lang="zh-CN" altLang="en-US" sz="1200" b="1" kern="0" spc="50" dirty="0">
                  <a:solidFill>
                    <a:srgbClr val="00612A">
                      <a:alpha val="100000"/>
                    </a:srgbClr>
                  </a:solidFill>
                  <a:latin typeface="+mn-ea"/>
                  <a:cs typeface="Segoe UI"/>
                </a:rPr>
                <a:t>时间与季节性</a:t>
              </a:r>
            </a:p>
          </p:txBody>
        </p:sp>
        <p:sp>
          <p:nvSpPr>
            <p:cNvPr id="37" name="textbox 292">
              <a:extLst>
                <a:ext uri="{FF2B5EF4-FFF2-40B4-BE49-F238E27FC236}">
                  <a16:creationId xmlns:a16="http://schemas.microsoft.com/office/drawing/2014/main" id="{905E2AFB-1191-B219-DB37-EBF0B78978EB}"/>
                </a:ext>
              </a:extLst>
            </p:cNvPr>
            <p:cNvSpPr/>
            <p:nvPr/>
          </p:nvSpPr>
          <p:spPr>
            <a:xfrm>
              <a:off x="4653733" y="2814430"/>
              <a:ext cx="136525" cy="2254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 anchor="ctr"/>
            <a:lstStyle/>
            <a:p>
              <a:pPr algn="ctr" rtl="0" eaLnBrk="0">
                <a:tabLst/>
              </a:pPr>
              <a:r>
                <a:rPr lang="en-US" altLang="zh-CN" sz="1200" b="1" kern="0" spc="-70" dirty="0">
                  <a:solidFill>
                    <a:srgbClr val="FFFFFF">
                      <a:alpha val="100000"/>
                    </a:srgbClr>
                  </a:solidFill>
                  <a:latin typeface="+mn-ea"/>
                  <a:cs typeface="Segoe UI"/>
                </a:rPr>
                <a:t>A</a:t>
              </a:r>
              <a:endParaRPr sz="1200" dirty="0">
                <a:latin typeface="+mn-ea"/>
                <a:cs typeface="Segoe UI"/>
              </a:endParaRP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200886D-CB9B-B6C9-85F2-667667D804BB}"/>
                </a:ext>
              </a:extLst>
            </p:cNvPr>
            <p:cNvSpPr txBox="1"/>
            <p:nvPr/>
          </p:nvSpPr>
          <p:spPr>
            <a:xfrm>
              <a:off x="4665024" y="3302217"/>
              <a:ext cx="1180101" cy="253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50000"/>
                    </a:schemeClr>
                  </a:solidFill>
                  <a:effectLst/>
                  <a:uLnTx/>
                  <a:uFillTx/>
                  <a:latin typeface="Aria"/>
                  <a:ea typeface="微软雅黑" panose="020B0503020204020204" pitchFamily="34" charset="-122"/>
                  <a:cs typeface="Arial" panose="020B0604020202020204" pitchFamily="34" charset="0"/>
                </a:rPr>
                <a:t>月份</a:t>
              </a: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50000"/>
                    </a:schemeClr>
                  </a:solidFill>
                  <a:effectLst/>
                  <a:uLnTx/>
                  <a:uFillTx/>
                  <a:latin typeface="Aria"/>
                  <a:ea typeface="微软雅黑" panose="020B0503020204020204" pitchFamily="34" charset="-122"/>
                  <a:cs typeface="Arial" panose="020B0604020202020204" pitchFamily="34" charset="0"/>
                </a:rPr>
                <a:t>/</a:t>
              </a: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50000"/>
                    </a:schemeClr>
                  </a:solidFill>
                  <a:effectLst/>
                  <a:uLnTx/>
                  <a:uFillTx/>
                  <a:latin typeface="Aria"/>
                  <a:ea typeface="微软雅黑" panose="020B0503020204020204" pitchFamily="34" charset="-122"/>
                  <a:cs typeface="Arial" panose="020B0604020202020204" pitchFamily="34" charset="0"/>
                </a:rPr>
                <a:t>季度</a:t>
              </a: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50000"/>
                    </a:schemeClr>
                  </a:solidFill>
                  <a:effectLst/>
                  <a:uLnTx/>
                  <a:uFillTx/>
                  <a:latin typeface="Aria"/>
                  <a:ea typeface="微软雅黑" panose="020B0503020204020204" pitchFamily="34" charset="-122"/>
                  <a:cs typeface="Arial" panose="020B0604020202020204" pitchFamily="34" charset="0"/>
                </a:rPr>
                <a:t>/</a:t>
              </a: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50000"/>
                    </a:schemeClr>
                  </a:solidFill>
                  <a:effectLst/>
                  <a:uLnTx/>
                  <a:uFillTx/>
                  <a:latin typeface="Aria"/>
                  <a:ea typeface="微软雅黑" panose="020B0503020204020204" pitchFamily="34" charset="-122"/>
                  <a:cs typeface="Arial" panose="020B0604020202020204" pitchFamily="34" charset="0"/>
                </a:rPr>
                <a:t>节假日</a:t>
              </a: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7728A40F-36B0-4939-8892-5C044A7D102E}"/>
                </a:ext>
              </a:extLst>
            </p:cNvPr>
            <p:cNvSpPr txBox="1"/>
            <p:nvPr/>
          </p:nvSpPr>
          <p:spPr>
            <a:xfrm>
              <a:off x="5366780" y="3634859"/>
              <a:ext cx="855301" cy="253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50000"/>
                    </a:schemeClr>
                  </a:solidFill>
                  <a:effectLst/>
                  <a:uLnTx/>
                  <a:uFillTx/>
                  <a:latin typeface="Aria"/>
                  <a:ea typeface="微软雅黑" panose="020B0503020204020204" pitchFamily="34" charset="-122"/>
                  <a:cs typeface="Arial" panose="020B0604020202020204" pitchFamily="34" charset="0"/>
                </a:rPr>
                <a:t>工作日天数</a:t>
              </a: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AA44CFA6-5483-970B-71BB-F8399539C201}"/>
                </a:ext>
              </a:extLst>
            </p:cNvPr>
            <p:cNvSpPr txBox="1"/>
            <p:nvPr/>
          </p:nvSpPr>
          <p:spPr>
            <a:xfrm>
              <a:off x="5840258" y="3117969"/>
              <a:ext cx="855301" cy="253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50000"/>
                    </a:schemeClr>
                  </a:solidFill>
                  <a:effectLst/>
                  <a:uLnTx/>
                  <a:uFillTx/>
                  <a:latin typeface="Aria"/>
                  <a:ea typeface="微软雅黑" panose="020B0503020204020204" pitchFamily="34" charset="-122"/>
                  <a:cs typeface="Arial" panose="020B0604020202020204" pitchFamily="34" charset="0"/>
                </a:rPr>
                <a:t>季节性分量</a:t>
              </a:r>
            </a:p>
          </p:txBody>
        </p:sp>
      </p:grpSp>
      <p:sp>
        <p:nvSpPr>
          <p:cNvPr id="44" name="任意形状 64">
            <a:extLst>
              <a:ext uri="{FF2B5EF4-FFF2-40B4-BE49-F238E27FC236}">
                <a16:creationId xmlns:a16="http://schemas.microsoft.com/office/drawing/2014/main" id="{1E22A39A-FF29-5194-0CF2-155B776ED62C}"/>
              </a:ext>
            </a:extLst>
          </p:cNvPr>
          <p:cNvSpPr/>
          <p:nvPr/>
        </p:nvSpPr>
        <p:spPr>
          <a:xfrm>
            <a:off x="1519589" y="989201"/>
            <a:ext cx="10152000" cy="641154"/>
          </a:xfrm>
          <a:prstGeom prst="wedgeRectCallout">
            <a:avLst>
              <a:gd name="adj1" fmla="val -51144"/>
              <a:gd name="adj2" fmla="val -15984"/>
            </a:avLst>
          </a:prstGeom>
          <a:solidFill>
            <a:schemeClr val="tx2">
              <a:alpha val="9028"/>
            </a:schemeClr>
          </a:solidFill>
          <a:ln w="12700">
            <a:solidFill>
              <a:srgbClr val="00319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ts val="2400"/>
              </a:lnSpc>
            </a:pPr>
            <a:r>
              <a:rPr kumimoji="1" lang="zh-CN" altLang="en-US" b="1" dirty="0">
                <a:solidFill>
                  <a:srgbClr val="00319F"/>
                </a:solidFill>
                <a:latin typeface="+mn-ea"/>
              </a:rPr>
              <a:t>看这个区域进度比较慢，到底问题出在哪些医院上面了？</a:t>
            </a:r>
            <a:endParaRPr kumimoji="1" lang="en-US" altLang="zh-CN" b="1" dirty="0">
              <a:solidFill>
                <a:srgbClr val="00319F"/>
              </a:solidFill>
              <a:latin typeface="+mn-ea"/>
            </a:endParaRPr>
          </a:p>
          <a:p>
            <a:pPr algn="ctr">
              <a:lnSpc>
                <a:spcPts val="2400"/>
              </a:lnSpc>
            </a:pPr>
            <a:r>
              <a:rPr kumimoji="1" lang="zh-CN" altLang="en-US" b="1" dirty="0">
                <a:solidFill>
                  <a:srgbClr val="00319F"/>
                </a:solidFill>
                <a:latin typeface="+mn-ea"/>
              </a:rPr>
              <a:t>如果我想把生意做得更好，应该抓哪些医院？</a:t>
            </a:r>
          </a:p>
        </p:txBody>
      </p:sp>
      <p:grpSp>
        <p:nvGrpSpPr>
          <p:cNvPr id="45" name="Google Shape;5614;p76">
            <a:extLst>
              <a:ext uri="{FF2B5EF4-FFF2-40B4-BE49-F238E27FC236}">
                <a16:creationId xmlns:a16="http://schemas.microsoft.com/office/drawing/2014/main" id="{BA903AEE-A72D-E392-3ED9-E34B351BD930}"/>
              </a:ext>
            </a:extLst>
          </p:cNvPr>
          <p:cNvGrpSpPr/>
          <p:nvPr/>
        </p:nvGrpSpPr>
        <p:grpSpPr>
          <a:xfrm>
            <a:off x="688275" y="1083609"/>
            <a:ext cx="337687" cy="452337"/>
            <a:chOff x="3938800" y="4399275"/>
            <a:chExt cx="359700" cy="481825"/>
          </a:xfrm>
          <a:solidFill>
            <a:srgbClr val="00319F"/>
          </a:solidFill>
        </p:grpSpPr>
        <p:sp>
          <p:nvSpPr>
            <p:cNvPr id="46" name="Google Shape;5615;p76">
              <a:extLst>
                <a:ext uri="{FF2B5EF4-FFF2-40B4-BE49-F238E27FC236}">
                  <a16:creationId xmlns:a16="http://schemas.microsoft.com/office/drawing/2014/main" id="{D86220FD-FF18-F72C-7DF8-BC0F011659C6}"/>
                </a:ext>
              </a:extLst>
            </p:cNvPr>
            <p:cNvSpPr/>
            <p:nvPr/>
          </p:nvSpPr>
          <p:spPr>
            <a:xfrm>
              <a:off x="4022650" y="4427525"/>
              <a:ext cx="166625" cy="84700"/>
            </a:xfrm>
            <a:custGeom>
              <a:avLst/>
              <a:gdLst/>
              <a:ahLst/>
              <a:cxnLst/>
              <a:rect l="l" t="t" r="r" b="b"/>
              <a:pathLst>
                <a:path w="6665" h="3388" extrusionOk="0">
                  <a:moveTo>
                    <a:pt x="3909" y="0"/>
                  </a:moveTo>
                  <a:cubicBezTo>
                    <a:pt x="1946" y="3"/>
                    <a:pt x="284" y="1446"/>
                    <a:pt x="1" y="3388"/>
                  </a:cubicBezTo>
                  <a:lnTo>
                    <a:pt x="3909" y="3388"/>
                  </a:lnTo>
                  <a:cubicBezTo>
                    <a:pt x="4807" y="3385"/>
                    <a:pt x="5647" y="2957"/>
                    <a:pt x="6180" y="2235"/>
                  </a:cubicBezTo>
                  <a:cubicBezTo>
                    <a:pt x="6421" y="1909"/>
                    <a:pt x="6589" y="1530"/>
                    <a:pt x="6665" y="1129"/>
                  </a:cubicBezTo>
                  <a:cubicBezTo>
                    <a:pt x="6135" y="602"/>
                    <a:pt x="5463" y="241"/>
                    <a:pt x="4734" y="91"/>
                  </a:cubicBezTo>
                  <a:cubicBezTo>
                    <a:pt x="4463" y="30"/>
                    <a:pt x="4186" y="0"/>
                    <a:pt x="390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sp>
          <p:nvSpPr>
            <p:cNvPr id="47" name="Google Shape;5616;p76">
              <a:extLst>
                <a:ext uri="{FF2B5EF4-FFF2-40B4-BE49-F238E27FC236}">
                  <a16:creationId xmlns:a16="http://schemas.microsoft.com/office/drawing/2014/main" id="{EC86FE0F-ACAF-9A68-7D99-65AB8F56206E}"/>
                </a:ext>
              </a:extLst>
            </p:cNvPr>
            <p:cNvSpPr/>
            <p:nvPr/>
          </p:nvSpPr>
          <p:spPr>
            <a:xfrm>
              <a:off x="4021450" y="4484275"/>
              <a:ext cx="197650" cy="199225"/>
            </a:xfrm>
            <a:custGeom>
              <a:avLst/>
              <a:gdLst/>
              <a:ahLst/>
              <a:cxnLst/>
              <a:rect l="l" t="t" r="r" b="b"/>
              <a:pathLst>
                <a:path w="7906" h="7969" extrusionOk="0">
                  <a:moveTo>
                    <a:pt x="7526" y="1"/>
                  </a:moveTo>
                  <a:cubicBezTo>
                    <a:pt x="7420" y="223"/>
                    <a:pt x="7291" y="434"/>
                    <a:pt x="7140" y="633"/>
                  </a:cubicBezTo>
                  <a:cubicBezTo>
                    <a:pt x="6396" y="1648"/>
                    <a:pt x="5216" y="2247"/>
                    <a:pt x="3957" y="2247"/>
                  </a:cubicBezTo>
                  <a:lnTo>
                    <a:pt x="4" y="2247"/>
                  </a:lnTo>
                  <a:lnTo>
                    <a:pt x="4" y="4018"/>
                  </a:lnTo>
                  <a:cubicBezTo>
                    <a:pt x="1" y="4635"/>
                    <a:pt x="148" y="5243"/>
                    <a:pt x="434" y="5788"/>
                  </a:cubicBezTo>
                  <a:lnTo>
                    <a:pt x="434" y="5800"/>
                  </a:lnTo>
                  <a:cubicBezTo>
                    <a:pt x="615" y="6159"/>
                    <a:pt x="850" y="6487"/>
                    <a:pt x="1133" y="6773"/>
                  </a:cubicBezTo>
                  <a:lnTo>
                    <a:pt x="1202" y="6839"/>
                  </a:lnTo>
                  <a:cubicBezTo>
                    <a:pt x="1967" y="7592"/>
                    <a:pt x="2962" y="7968"/>
                    <a:pt x="3958" y="7968"/>
                  </a:cubicBezTo>
                  <a:cubicBezTo>
                    <a:pt x="4959" y="7968"/>
                    <a:pt x="5959" y="7588"/>
                    <a:pt x="6725" y="6827"/>
                  </a:cubicBezTo>
                  <a:lnTo>
                    <a:pt x="6758" y="6794"/>
                  </a:lnTo>
                  <a:cubicBezTo>
                    <a:pt x="6972" y="6583"/>
                    <a:pt x="7158" y="6342"/>
                    <a:pt x="7312" y="6083"/>
                  </a:cubicBezTo>
                  <a:lnTo>
                    <a:pt x="7321" y="6083"/>
                  </a:lnTo>
                  <a:cubicBezTo>
                    <a:pt x="7703" y="5463"/>
                    <a:pt x="7905" y="4746"/>
                    <a:pt x="7902" y="4018"/>
                  </a:cubicBezTo>
                  <a:lnTo>
                    <a:pt x="7902" y="1684"/>
                  </a:lnTo>
                  <a:cubicBezTo>
                    <a:pt x="7902" y="1407"/>
                    <a:pt x="7875" y="1130"/>
                    <a:pt x="7818" y="859"/>
                  </a:cubicBezTo>
                  <a:cubicBezTo>
                    <a:pt x="7764" y="561"/>
                    <a:pt x="7664" y="272"/>
                    <a:pt x="75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sp>
          <p:nvSpPr>
            <p:cNvPr id="48" name="Google Shape;5617;p76">
              <a:extLst>
                <a:ext uri="{FF2B5EF4-FFF2-40B4-BE49-F238E27FC236}">
                  <a16:creationId xmlns:a16="http://schemas.microsoft.com/office/drawing/2014/main" id="{B9951C2B-66D9-DEC8-FFDB-497F98AD0985}"/>
                </a:ext>
              </a:extLst>
            </p:cNvPr>
            <p:cNvSpPr/>
            <p:nvPr/>
          </p:nvSpPr>
          <p:spPr>
            <a:xfrm>
              <a:off x="4054050" y="4692500"/>
              <a:ext cx="132975" cy="47450"/>
            </a:xfrm>
            <a:custGeom>
              <a:avLst/>
              <a:gdLst/>
              <a:ahLst/>
              <a:cxnLst/>
              <a:rect l="l" t="t" r="r" b="b"/>
              <a:pathLst>
                <a:path w="5319" h="1898" extrusionOk="0">
                  <a:moveTo>
                    <a:pt x="5318" y="1"/>
                  </a:moveTo>
                  <a:lnTo>
                    <a:pt x="5318" y="1"/>
                  </a:lnTo>
                  <a:cubicBezTo>
                    <a:pt x="4550" y="498"/>
                    <a:pt x="3635" y="769"/>
                    <a:pt x="2653" y="769"/>
                  </a:cubicBezTo>
                  <a:cubicBezTo>
                    <a:pt x="2648" y="769"/>
                    <a:pt x="2643" y="769"/>
                    <a:pt x="2637" y="769"/>
                  </a:cubicBezTo>
                  <a:cubicBezTo>
                    <a:pt x="1703" y="769"/>
                    <a:pt x="791" y="507"/>
                    <a:pt x="0" y="13"/>
                  </a:cubicBezTo>
                  <a:lnTo>
                    <a:pt x="0" y="13"/>
                  </a:lnTo>
                  <a:cubicBezTo>
                    <a:pt x="82" y="272"/>
                    <a:pt x="202" y="516"/>
                    <a:pt x="362" y="736"/>
                  </a:cubicBezTo>
                  <a:cubicBezTo>
                    <a:pt x="898" y="1464"/>
                    <a:pt x="1747" y="1895"/>
                    <a:pt x="2653" y="1898"/>
                  </a:cubicBezTo>
                  <a:cubicBezTo>
                    <a:pt x="2660" y="1898"/>
                    <a:pt x="2667" y="1898"/>
                    <a:pt x="2674" y="1898"/>
                  </a:cubicBezTo>
                  <a:cubicBezTo>
                    <a:pt x="3870" y="1898"/>
                    <a:pt x="4935" y="1135"/>
                    <a:pt x="53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sp>
          <p:nvSpPr>
            <p:cNvPr id="49" name="Google Shape;5618;p76">
              <a:extLst>
                <a:ext uri="{FF2B5EF4-FFF2-40B4-BE49-F238E27FC236}">
                  <a16:creationId xmlns:a16="http://schemas.microsoft.com/office/drawing/2014/main" id="{E5CED4A9-5C5F-AC21-6EBF-963F7787E4C5}"/>
                </a:ext>
              </a:extLst>
            </p:cNvPr>
            <p:cNvSpPr/>
            <p:nvPr/>
          </p:nvSpPr>
          <p:spPr>
            <a:xfrm>
              <a:off x="4163275" y="4399275"/>
              <a:ext cx="84275" cy="84200"/>
            </a:xfrm>
            <a:custGeom>
              <a:avLst/>
              <a:gdLst/>
              <a:ahLst/>
              <a:cxnLst/>
              <a:rect l="l" t="t" r="r" b="b"/>
              <a:pathLst>
                <a:path w="3371" h="3368" extrusionOk="0">
                  <a:moveTo>
                    <a:pt x="1090" y="1"/>
                  </a:moveTo>
                  <a:cubicBezTo>
                    <a:pt x="707" y="1"/>
                    <a:pt x="330" y="106"/>
                    <a:pt x="1" y="305"/>
                  </a:cubicBezTo>
                  <a:cubicBezTo>
                    <a:pt x="338" y="420"/>
                    <a:pt x="660" y="573"/>
                    <a:pt x="961" y="769"/>
                  </a:cubicBezTo>
                  <a:lnTo>
                    <a:pt x="961" y="781"/>
                  </a:lnTo>
                  <a:cubicBezTo>
                    <a:pt x="1443" y="1070"/>
                    <a:pt x="1874" y="1446"/>
                    <a:pt x="2226" y="1886"/>
                  </a:cubicBezTo>
                  <a:cubicBezTo>
                    <a:pt x="2587" y="2329"/>
                    <a:pt x="2871" y="2829"/>
                    <a:pt x="3060" y="3368"/>
                  </a:cubicBezTo>
                  <a:cubicBezTo>
                    <a:pt x="3262" y="3033"/>
                    <a:pt x="3370" y="2651"/>
                    <a:pt x="3364" y="2259"/>
                  </a:cubicBezTo>
                  <a:cubicBezTo>
                    <a:pt x="3361" y="1236"/>
                    <a:pt x="2672" y="341"/>
                    <a:pt x="1684" y="79"/>
                  </a:cubicBezTo>
                  <a:cubicBezTo>
                    <a:pt x="1615" y="58"/>
                    <a:pt x="1543" y="46"/>
                    <a:pt x="1467" y="46"/>
                  </a:cubicBezTo>
                  <a:cubicBezTo>
                    <a:pt x="1344" y="34"/>
                    <a:pt x="1232" y="1"/>
                    <a:pt x="1106" y="1"/>
                  </a:cubicBezTo>
                  <a:cubicBezTo>
                    <a:pt x="1101" y="1"/>
                    <a:pt x="1095" y="1"/>
                    <a:pt x="109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sp>
          <p:nvSpPr>
            <p:cNvPr id="50" name="Google Shape;5619;p76">
              <a:extLst>
                <a:ext uri="{FF2B5EF4-FFF2-40B4-BE49-F238E27FC236}">
                  <a16:creationId xmlns:a16="http://schemas.microsoft.com/office/drawing/2014/main" id="{ED48A72C-1299-C89E-38DE-9E7361BBBDD8}"/>
                </a:ext>
              </a:extLst>
            </p:cNvPr>
            <p:cNvSpPr/>
            <p:nvPr/>
          </p:nvSpPr>
          <p:spPr>
            <a:xfrm>
              <a:off x="3938800" y="4692800"/>
              <a:ext cx="359700" cy="188300"/>
            </a:xfrm>
            <a:custGeom>
              <a:avLst/>
              <a:gdLst/>
              <a:ahLst/>
              <a:cxnLst/>
              <a:rect l="l" t="t" r="r" b="b"/>
              <a:pathLst>
                <a:path w="14388" h="7532" extrusionOk="0">
                  <a:moveTo>
                    <a:pt x="11160" y="4144"/>
                  </a:moveTo>
                  <a:cubicBezTo>
                    <a:pt x="11470" y="4144"/>
                    <a:pt x="11723" y="4397"/>
                    <a:pt x="11723" y="4710"/>
                  </a:cubicBezTo>
                  <a:cubicBezTo>
                    <a:pt x="11723" y="5021"/>
                    <a:pt x="11470" y="5274"/>
                    <a:pt x="11160" y="5274"/>
                  </a:cubicBezTo>
                  <a:lnTo>
                    <a:pt x="10031" y="5274"/>
                  </a:lnTo>
                  <a:cubicBezTo>
                    <a:pt x="9718" y="5274"/>
                    <a:pt x="9465" y="5021"/>
                    <a:pt x="9465" y="4710"/>
                  </a:cubicBezTo>
                  <a:cubicBezTo>
                    <a:pt x="9465" y="4397"/>
                    <a:pt x="9718" y="4144"/>
                    <a:pt x="10031" y="4144"/>
                  </a:cubicBezTo>
                  <a:close/>
                  <a:moveTo>
                    <a:pt x="3379" y="1"/>
                  </a:moveTo>
                  <a:lnTo>
                    <a:pt x="2385" y="248"/>
                  </a:lnTo>
                  <a:cubicBezTo>
                    <a:pt x="922" y="615"/>
                    <a:pt x="0" y="2067"/>
                    <a:pt x="295" y="3545"/>
                  </a:cubicBezTo>
                  <a:lnTo>
                    <a:pt x="1006" y="7080"/>
                  </a:lnTo>
                  <a:cubicBezTo>
                    <a:pt x="1060" y="7342"/>
                    <a:pt x="1292" y="7532"/>
                    <a:pt x="1560" y="7532"/>
                  </a:cubicBezTo>
                  <a:lnTo>
                    <a:pt x="12831" y="7532"/>
                  </a:lnTo>
                  <a:cubicBezTo>
                    <a:pt x="12833" y="7532"/>
                    <a:pt x="12835" y="7532"/>
                    <a:pt x="12837" y="7532"/>
                  </a:cubicBezTo>
                  <a:cubicBezTo>
                    <a:pt x="13103" y="7532"/>
                    <a:pt x="13331" y="7343"/>
                    <a:pt x="13382" y="7080"/>
                  </a:cubicBezTo>
                  <a:lnTo>
                    <a:pt x="14096" y="3545"/>
                  </a:lnTo>
                  <a:cubicBezTo>
                    <a:pt x="14388" y="2070"/>
                    <a:pt x="13476" y="621"/>
                    <a:pt x="12018" y="248"/>
                  </a:cubicBezTo>
                  <a:lnTo>
                    <a:pt x="11046" y="13"/>
                  </a:lnTo>
                  <a:cubicBezTo>
                    <a:pt x="10678" y="1506"/>
                    <a:pt x="9474" y="2648"/>
                    <a:pt x="7965" y="2943"/>
                  </a:cubicBezTo>
                  <a:cubicBezTo>
                    <a:pt x="7714" y="2991"/>
                    <a:pt x="7463" y="3015"/>
                    <a:pt x="7214" y="3015"/>
                  </a:cubicBezTo>
                  <a:cubicBezTo>
                    <a:pt x="5960" y="3015"/>
                    <a:pt x="4762" y="2417"/>
                    <a:pt x="4011" y="1377"/>
                  </a:cubicBezTo>
                  <a:cubicBezTo>
                    <a:pt x="3707" y="967"/>
                    <a:pt x="3493" y="498"/>
                    <a:pt x="33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</p:grp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41909D64-D76A-0F84-70D4-5F09B3B13EFE}"/>
              </a:ext>
            </a:extLst>
          </p:cNvPr>
          <p:cNvSpPr/>
          <p:nvPr/>
        </p:nvSpPr>
        <p:spPr>
          <a:xfrm>
            <a:off x="1511564" y="1828609"/>
            <a:ext cx="2376000" cy="648000"/>
          </a:xfrm>
          <a:prstGeom prst="roundRect">
            <a:avLst/>
          </a:prstGeom>
          <a:gradFill flip="none" rotWithShape="1">
            <a:gsLst>
              <a:gs pos="33000">
                <a:schemeClr val="accent1"/>
              </a:gs>
              <a:gs pos="99000">
                <a:schemeClr val="accent1">
                  <a:alpha val="23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F911AE8F-BE40-3F1C-77E9-A476B4DAA90C}"/>
              </a:ext>
            </a:extLst>
          </p:cNvPr>
          <p:cNvSpPr/>
          <p:nvPr/>
        </p:nvSpPr>
        <p:spPr>
          <a:xfrm>
            <a:off x="4103564" y="1828609"/>
            <a:ext cx="2376000" cy="648000"/>
          </a:xfrm>
          <a:prstGeom prst="roundRect">
            <a:avLst/>
          </a:prstGeom>
          <a:gradFill flip="none" rotWithShape="1">
            <a:gsLst>
              <a:gs pos="33000">
                <a:schemeClr val="accent1"/>
              </a:gs>
              <a:gs pos="99000">
                <a:schemeClr val="accent1">
                  <a:alpha val="23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F54B0102-3A5B-D633-E503-98184903480A}"/>
              </a:ext>
            </a:extLst>
          </p:cNvPr>
          <p:cNvSpPr/>
          <p:nvPr/>
        </p:nvSpPr>
        <p:spPr>
          <a:xfrm>
            <a:off x="6695564" y="1828609"/>
            <a:ext cx="2376000" cy="648000"/>
          </a:xfrm>
          <a:prstGeom prst="roundRect">
            <a:avLst/>
          </a:prstGeom>
          <a:gradFill flip="none" rotWithShape="1">
            <a:gsLst>
              <a:gs pos="33000">
                <a:schemeClr val="accent1"/>
              </a:gs>
              <a:gs pos="99000">
                <a:schemeClr val="accent1">
                  <a:alpha val="23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37A1A4F7-6272-F52D-BBA3-415D222F8411}"/>
              </a:ext>
            </a:extLst>
          </p:cNvPr>
          <p:cNvSpPr/>
          <p:nvPr/>
        </p:nvSpPr>
        <p:spPr>
          <a:xfrm>
            <a:off x="9287564" y="1828609"/>
            <a:ext cx="2376000" cy="648000"/>
          </a:xfrm>
          <a:prstGeom prst="roundRect">
            <a:avLst/>
          </a:prstGeom>
          <a:gradFill flip="none" rotWithShape="1">
            <a:gsLst>
              <a:gs pos="33000">
                <a:schemeClr val="accent1"/>
              </a:gs>
              <a:gs pos="99000">
                <a:schemeClr val="accent1">
                  <a:alpha val="23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B706A1BA-2C7E-F688-C9DA-FA15A1564102}"/>
              </a:ext>
            </a:extLst>
          </p:cNvPr>
          <p:cNvSpPr txBox="1"/>
          <p:nvPr/>
        </p:nvSpPr>
        <p:spPr>
          <a:xfrm>
            <a:off x="1532830" y="1844832"/>
            <a:ext cx="1165573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rtl="0" eaLnBrk="0">
              <a:tabLst/>
            </a:pPr>
            <a:r>
              <a:rPr lang="zh-CN" altLang="en-US" sz="1400" b="1" kern="0" spc="60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ea"/>
                <a:cs typeface="Segoe UI"/>
              </a:rPr>
              <a:t>产品颗粒度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FD236993-486C-107D-9EB4-8DFC91E053EF}"/>
              </a:ext>
            </a:extLst>
          </p:cNvPr>
          <p:cNvSpPr txBox="1"/>
          <p:nvPr/>
        </p:nvSpPr>
        <p:spPr>
          <a:xfrm>
            <a:off x="2539750" y="2077222"/>
            <a:ext cx="1269673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0" eaLnBrk="0">
              <a:tabLst/>
            </a:pPr>
            <a:r>
              <a:rPr lang="en-US" altLang="zh-CN" sz="1600" b="1" kern="0" spc="60" dirty="0">
                <a:solidFill>
                  <a:schemeClr val="bg1"/>
                </a:solidFill>
                <a:latin typeface="+mn-ea"/>
                <a:cs typeface="Segoe UI"/>
              </a:rPr>
              <a:t>By Brand</a:t>
            </a:r>
            <a:endParaRPr lang="zh-CN" altLang="en-US" sz="1600" b="1" kern="0" spc="60" dirty="0">
              <a:solidFill>
                <a:schemeClr val="bg1"/>
              </a:solidFill>
              <a:latin typeface="+mn-ea"/>
              <a:cs typeface="Segoe UI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6E92C040-B0EC-203F-E552-0B6B8E0ECDC3}"/>
              </a:ext>
            </a:extLst>
          </p:cNvPr>
          <p:cNvSpPr txBox="1"/>
          <p:nvPr/>
        </p:nvSpPr>
        <p:spPr>
          <a:xfrm>
            <a:off x="4118326" y="1840374"/>
            <a:ext cx="1375789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rtl="0" eaLnBrk="0">
              <a:tabLst/>
            </a:pPr>
            <a:r>
              <a:rPr lang="zh-CN" altLang="en-US" sz="1400" b="1" kern="0" spc="60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ea"/>
                <a:cs typeface="Segoe UI"/>
              </a:rPr>
              <a:t>预测层级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660B0C08-05E2-06FE-0129-AAB708DADAB0}"/>
              </a:ext>
            </a:extLst>
          </p:cNvPr>
          <p:cNvSpPr txBox="1"/>
          <p:nvPr/>
        </p:nvSpPr>
        <p:spPr>
          <a:xfrm>
            <a:off x="5293852" y="2072765"/>
            <a:ext cx="1090293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0" eaLnBrk="0">
              <a:tabLst/>
            </a:pPr>
            <a:r>
              <a:rPr lang="zh-CN" altLang="en-US" sz="1600" b="1" kern="0" spc="60" dirty="0">
                <a:solidFill>
                  <a:schemeClr val="bg1"/>
                </a:solidFill>
                <a:latin typeface="+mn-ea"/>
                <a:cs typeface="Segoe UI"/>
              </a:rPr>
              <a:t>医院级别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D52BB556-E634-6FD6-EF47-7B448F5C2AB0}"/>
              </a:ext>
            </a:extLst>
          </p:cNvPr>
          <p:cNvSpPr txBox="1"/>
          <p:nvPr/>
        </p:nvSpPr>
        <p:spPr>
          <a:xfrm>
            <a:off x="6712230" y="1843778"/>
            <a:ext cx="1301534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rtl="0" eaLnBrk="0">
              <a:tabLst/>
            </a:pPr>
            <a:r>
              <a:rPr lang="zh-CN" altLang="en-US" sz="1400" b="1" kern="0" spc="60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ea"/>
                <a:cs typeface="Segoe UI"/>
              </a:rPr>
              <a:t>预测时间窗口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97D7F4A2-FC5F-6925-8076-BE2406FF9090}"/>
              </a:ext>
            </a:extLst>
          </p:cNvPr>
          <p:cNvSpPr txBox="1"/>
          <p:nvPr/>
        </p:nvSpPr>
        <p:spPr>
          <a:xfrm>
            <a:off x="7866932" y="2076169"/>
            <a:ext cx="1040186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0" eaLnBrk="0">
              <a:tabLst/>
            </a:pPr>
            <a:r>
              <a:rPr lang="zh-CN" altLang="en-US" sz="1600" b="1" kern="0" spc="60" dirty="0">
                <a:solidFill>
                  <a:schemeClr val="bg1"/>
                </a:solidFill>
                <a:latin typeface="+mn-ea"/>
                <a:cs typeface="Segoe UI"/>
              </a:rPr>
              <a:t>当月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F74F426A-2EF5-F271-F808-1A3DB56E5709}"/>
              </a:ext>
            </a:extLst>
          </p:cNvPr>
          <p:cNvSpPr txBox="1"/>
          <p:nvPr/>
        </p:nvSpPr>
        <p:spPr>
          <a:xfrm>
            <a:off x="9297747" y="1839403"/>
            <a:ext cx="1301534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rtl="0" eaLnBrk="0">
              <a:tabLst/>
            </a:pPr>
            <a:r>
              <a:rPr lang="zh-CN" altLang="en-US" sz="1400" b="1" kern="0" spc="60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ea"/>
                <a:cs typeface="Segoe UI"/>
              </a:rPr>
              <a:t>更新频率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6DA2E75F-9FC5-192E-257B-5A1585947CEB}"/>
              </a:ext>
            </a:extLst>
          </p:cNvPr>
          <p:cNvSpPr txBox="1"/>
          <p:nvPr/>
        </p:nvSpPr>
        <p:spPr>
          <a:xfrm>
            <a:off x="10157001" y="2071794"/>
            <a:ext cx="1506564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0" eaLnBrk="0">
              <a:tabLst/>
            </a:pPr>
            <a:r>
              <a:rPr lang="zh-CN" altLang="en-US" sz="1600" b="1" kern="0" spc="60" dirty="0">
                <a:solidFill>
                  <a:schemeClr val="bg1"/>
                </a:solidFill>
                <a:latin typeface="+mn-ea"/>
                <a:cs typeface="Segoe UI"/>
              </a:rPr>
              <a:t>每月更新</a:t>
            </a:r>
          </a:p>
        </p:txBody>
      </p:sp>
      <p:sp>
        <p:nvSpPr>
          <p:cNvPr id="64" name="圆角矩形 36">
            <a:extLst>
              <a:ext uri="{FF2B5EF4-FFF2-40B4-BE49-F238E27FC236}">
                <a16:creationId xmlns:a16="http://schemas.microsoft.com/office/drawing/2014/main" id="{A93F70F4-5E0D-0CE3-CBB2-E09C5EB44F4A}"/>
              </a:ext>
            </a:extLst>
          </p:cNvPr>
          <p:cNvSpPr/>
          <p:nvPr/>
        </p:nvSpPr>
        <p:spPr>
          <a:xfrm>
            <a:off x="1511564" y="4969176"/>
            <a:ext cx="3240000" cy="1332000"/>
          </a:xfrm>
          <a:prstGeom prst="roundRect">
            <a:avLst>
              <a:gd name="adj" fmla="val 10029"/>
            </a:avLst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+mn-ea"/>
            </a:endParaRPr>
          </a:p>
        </p:txBody>
      </p:sp>
      <p:sp>
        <p:nvSpPr>
          <p:cNvPr id="65" name="圆角矩形 36">
            <a:extLst>
              <a:ext uri="{FF2B5EF4-FFF2-40B4-BE49-F238E27FC236}">
                <a16:creationId xmlns:a16="http://schemas.microsoft.com/office/drawing/2014/main" id="{72D164B4-8D0B-0AC9-10C5-503DCA580CF1}"/>
              </a:ext>
            </a:extLst>
          </p:cNvPr>
          <p:cNvSpPr/>
          <p:nvPr/>
        </p:nvSpPr>
        <p:spPr>
          <a:xfrm>
            <a:off x="1619564" y="4969176"/>
            <a:ext cx="3168000" cy="1332000"/>
          </a:xfrm>
          <a:prstGeom prst="roundRect">
            <a:avLst>
              <a:gd name="adj" fmla="val 8019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+mn-ea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374E5F91-C67F-6AD3-B51F-077D3DF70350}"/>
              </a:ext>
            </a:extLst>
          </p:cNvPr>
          <p:cNvSpPr txBox="1"/>
          <p:nvPr/>
        </p:nvSpPr>
        <p:spPr>
          <a:xfrm>
            <a:off x="2077093" y="5512884"/>
            <a:ext cx="21920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600" b="1" dirty="0">
                <a:solidFill>
                  <a:srgbClr val="00319F"/>
                </a:solidFill>
                <a:latin typeface="+mn-ea"/>
                <a:cs typeface="Alibaba PuHuiTi Heavy" pitchFamily="18" charset="-122"/>
              </a:rPr>
              <a:t>&lt;20%</a:t>
            </a:r>
            <a:endParaRPr kumimoji="1" lang="zh-CN" altLang="en-US" sz="3600" b="1" dirty="0">
              <a:solidFill>
                <a:srgbClr val="00319F"/>
              </a:solidFill>
              <a:latin typeface="+mn-ea"/>
              <a:cs typeface="Alibaba PuHuiTi Heavy" pitchFamily="18" charset="-122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398CEBA1-5717-271D-EE00-CA0B506488AA}"/>
              </a:ext>
            </a:extLst>
          </p:cNvPr>
          <p:cNvSpPr txBox="1"/>
          <p:nvPr/>
        </p:nvSpPr>
        <p:spPr>
          <a:xfrm>
            <a:off x="2195742" y="5057840"/>
            <a:ext cx="2665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00319F"/>
                </a:solidFill>
                <a:latin typeface="+mn-ea"/>
                <a:cs typeface="Alibaba PuHuiTi" pitchFamily="18" charset="-122"/>
              </a:rPr>
              <a:t>Top20%</a:t>
            </a:r>
            <a:r>
              <a:rPr kumimoji="1" lang="zh-CN" altLang="en-US" b="1" dirty="0">
                <a:solidFill>
                  <a:srgbClr val="00319F"/>
                </a:solidFill>
                <a:latin typeface="+mn-ea"/>
                <a:cs typeface="Alibaba PuHuiTi" pitchFamily="18" charset="-122"/>
              </a:rPr>
              <a:t>医院平均误差</a:t>
            </a:r>
          </a:p>
        </p:txBody>
      </p:sp>
      <p:sp>
        <p:nvSpPr>
          <p:cNvPr id="68" name="Google Shape;10516;p36">
            <a:extLst>
              <a:ext uri="{FF2B5EF4-FFF2-40B4-BE49-F238E27FC236}">
                <a16:creationId xmlns:a16="http://schemas.microsoft.com/office/drawing/2014/main" id="{5AE8EC7E-3381-45D6-45F4-722BC4112956}"/>
              </a:ext>
            </a:extLst>
          </p:cNvPr>
          <p:cNvSpPr/>
          <p:nvPr/>
        </p:nvSpPr>
        <p:spPr>
          <a:xfrm>
            <a:off x="1780642" y="5066909"/>
            <a:ext cx="381112" cy="351195"/>
          </a:xfrm>
          <a:custGeom>
            <a:avLst/>
            <a:gdLst/>
            <a:ahLst/>
            <a:cxnLst/>
            <a:rect l="l" t="t" r="r" b="b"/>
            <a:pathLst>
              <a:path w="11217" h="10342" extrusionOk="0">
                <a:moveTo>
                  <a:pt x="3394" y="1186"/>
                </a:moveTo>
                <a:lnTo>
                  <a:pt x="3394" y="1507"/>
                </a:lnTo>
                <a:lnTo>
                  <a:pt x="1668" y="1507"/>
                </a:lnTo>
                <a:lnTo>
                  <a:pt x="1668" y="1186"/>
                </a:lnTo>
                <a:close/>
                <a:moveTo>
                  <a:pt x="3096" y="1829"/>
                </a:moveTo>
                <a:lnTo>
                  <a:pt x="3096" y="2090"/>
                </a:lnTo>
                <a:lnTo>
                  <a:pt x="2013" y="3043"/>
                </a:lnTo>
                <a:lnTo>
                  <a:pt x="2013" y="1829"/>
                </a:lnTo>
                <a:close/>
                <a:moveTo>
                  <a:pt x="6740" y="5948"/>
                </a:moveTo>
                <a:cubicBezTo>
                  <a:pt x="6775" y="5948"/>
                  <a:pt x="6799" y="5972"/>
                  <a:pt x="6799" y="6008"/>
                </a:cubicBezTo>
                <a:lnTo>
                  <a:pt x="6799" y="10020"/>
                </a:lnTo>
                <a:lnTo>
                  <a:pt x="4644" y="10020"/>
                </a:lnTo>
                <a:lnTo>
                  <a:pt x="4644" y="6008"/>
                </a:lnTo>
                <a:cubicBezTo>
                  <a:pt x="4644" y="5972"/>
                  <a:pt x="4668" y="5948"/>
                  <a:pt x="4704" y="5948"/>
                </a:cubicBezTo>
                <a:close/>
                <a:moveTo>
                  <a:pt x="5601" y="1"/>
                </a:moveTo>
                <a:cubicBezTo>
                  <a:pt x="5543" y="1"/>
                  <a:pt x="5484" y="19"/>
                  <a:pt x="5430" y="55"/>
                </a:cubicBezTo>
                <a:lnTo>
                  <a:pt x="3692" y="1567"/>
                </a:lnTo>
                <a:lnTo>
                  <a:pt x="3692" y="1126"/>
                </a:lnTo>
                <a:cubicBezTo>
                  <a:pt x="3692" y="995"/>
                  <a:pt x="3573" y="876"/>
                  <a:pt x="3442" y="876"/>
                </a:cubicBezTo>
                <a:lnTo>
                  <a:pt x="1596" y="876"/>
                </a:lnTo>
                <a:cubicBezTo>
                  <a:pt x="1453" y="876"/>
                  <a:pt x="1334" y="995"/>
                  <a:pt x="1334" y="1126"/>
                </a:cubicBezTo>
                <a:lnTo>
                  <a:pt x="1334" y="1590"/>
                </a:lnTo>
                <a:cubicBezTo>
                  <a:pt x="1334" y="1721"/>
                  <a:pt x="1453" y="1840"/>
                  <a:pt x="1596" y="1840"/>
                </a:cubicBezTo>
                <a:lnTo>
                  <a:pt x="1691" y="1840"/>
                </a:lnTo>
                <a:lnTo>
                  <a:pt x="1691" y="3329"/>
                </a:lnTo>
                <a:lnTo>
                  <a:pt x="108" y="4710"/>
                </a:lnTo>
                <a:cubicBezTo>
                  <a:pt x="25" y="4781"/>
                  <a:pt x="1" y="4888"/>
                  <a:pt x="25" y="4984"/>
                </a:cubicBezTo>
                <a:cubicBezTo>
                  <a:pt x="60" y="5079"/>
                  <a:pt x="167" y="5138"/>
                  <a:pt x="251" y="5138"/>
                </a:cubicBezTo>
                <a:lnTo>
                  <a:pt x="1322" y="5138"/>
                </a:lnTo>
                <a:lnTo>
                  <a:pt x="1322" y="7972"/>
                </a:lnTo>
                <a:cubicBezTo>
                  <a:pt x="1322" y="8056"/>
                  <a:pt x="1394" y="8139"/>
                  <a:pt x="1489" y="8139"/>
                </a:cubicBezTo>
                <a:cubicBezTo>
                  <a:pt x="1572" y="8139"/>
                  <a:pt x="1656" y="8056"/>
                  <a:pt x="1656" y="7972"/>
                </a:cubicBezTo>
                <a:lnTo>
                  <a:pt x="1656" y="5055"/>
                </a:lnTo>
                <a:lnTo>
                  <a:pt x="5609" y="1614"/>
                </a:lnTo>
                <a:lnTo>
                  <a:pt x="9561" y="5055"/>
                </a:lnTo>
                <a:lnTo>
                  <a:pt x="9561" y="9937"/>
                </a:lnTo>
                <a:cubicBezTo>
                  <a:pt x="9561" y="9984"/>
                  <a:pt x="9526" y="10020"/>
                  <a:pt x="9478" y="10020"/>
                </a:cubicBezTo>
                <a:lnTo>
                  <a:pt x="7109" y="10020"/>
                </a:lnTo>
                <a:lnTo>
                  <a:pt x="7109" y="6008"/>
                </a:lnTo>
                <a:cubicBezTo>
                  <a:pt x="7109" y="5793"/>
                  <a:pt x="6930" y="5615"/>
                  <a:pt x="6728" y="5615"/>
                </a:cubicBezTo>
                <a:lnTo>
                  <a:pt x="4680" y="5615"/>
                </a:lnTo>
                <a:cubicBezTo>
                  <a:pt x="4478" y="5615"/>
                  <a:pt x="4299" y="5793"/>
                  <a:pt x="4299" y="6008"/>
                </a:cubicBezTo>
                <a:lnTo>
                  <a:pt x="4299" y="10020"/>
                </a:lnTo>
                <a:lnTo>
                  <a:pt x="1739" y="10020"/>
                </a:lnTo>
                <a:cubicBezTo>
                  <a:pt x="1691" y="10020"/>
                  <a:pt x="1656" y="9984"/>
                  <a:pt x="1656" y="9937"/>
                </a:cubicBezTo>
                <a:lnTo>
                  <a:pt x="1656" y="8734"/>
                </a:lnTo>
                <a:cubicBezTo>
                  <a:pt x="1656" y="8639"/>
                  <a:pt x="1572" y="8567"/>
                  <a:pt x="1489" y="8567"/>
                </a:cubicBezTo>
                <a:cubicBezTo>
                  <a:pt x="1394" y="8567"/>
                  <a:pt x="1322" y="8639"/>
                  <a:pt x="1322" y="8734"/>
                </a:cubicBezTo>
                <a:lnTo>
                  <a:pt x="1322" y="9937"/>
                </a:lnTo>
                <a:cubicBezTo>
                  <a:pt x="1322" y="10163"/>
                  <a:pt x="1501" y="10342"/>
                  <a:pt x="1727" y="10342"/>
                </a:cubicBezTo>
                <a:lnTo>
                  <a:pt x="9466" y="10342"/>
                </a:lnTo>
                <a:cubicBezTo>
                  <a:pt x="9692" y="10342"/>
                  <a:pt x="9871" y="10163"/>
                  <a:pt x="9871" y="9937"/>
                </a:cubicBezTo>
                <a:lnTo>
                  <a:pt x="9871" y="5127"/>
                </a:lnTo>
                <a:lnTo>
                  <a:pt x="10943" y="5127"/>
                </a:lnTo>
                <a:cubicBezTo>
                  <a:pt x="11038" y="5127"/>
                  <a:pt x="11133" y="5067"/>
                  <a:pt x="11157" y="4960"/>
                </a:cubicBezTo>
                <a:cubicBezTo>
                  <a:pt x="11216" y="4877"/>
                  <a:pt x="11205" y="4769"/>
                  <a:pt x="11121" y="4698"/>
                </a:cubicBezTo>
                <a:lnTo>
                  <a:pt x="8811" y="2686"/>
                </a:lnTo>
                <a:cubicBezTo>
                  <a:pt x="8785" y="2659"/>
                  <a:pt x="8748" y="2647"/>
                  <a:pt x="8711" y="2647"/>
                </a:cubicBezTo>
                <a:cubicBezTo>
                  <a:pt x="8665" y="2647"/>
                  <a:pt x="8618" y="2665"/>
                  <a:pt x="8585" y="2698"/>
                </a:cubicBezTo>
                <a:cubicBezTo>
                  <a:pt x="8526" y="2757"/>
                  <a:pt x="8538" y="2864"/>
                  <a:pt x="8597" y="2924"/>
                </a:cubicBezTo>
                <a:lnTo>
                  <a:pt x="10764" y="4805"/>
                </a:lnTo>
                <a:lnTo>
                  <a:pt x="9776" y="4805"/>
                </a:lnTo>
                <a:lnTo>
                  <a:pt x="5763" y="1305"/>
                </a:lnTo>
                <a:cubicBezTo>
                  <a:pt x="5716" y="1269"/>
                  <a:pt x="5659" y="1251"/>
                  <a:pt x="5601" y="1251"/>
                </a:cubicBezTo>
                <a:cubicBezTo>
                  <a:pt x="5543" y="1251"/>
                  <a:pt x="5484" y="1269"/>
                  <a:pt x="5430" y="1305"/>
                </a:cubicBezTo>
                <a:lnTo>
                  <a:pt x="1418" y="4805"/>
                </a:lnTo>
                <a:lnTo>
                  <a:pt x="429" y="4805"/>
                </a:lnTo>
                <a:lnTo>
                  <a:pt x="1918" y="3507"/>
                </a:lnTo>
                <a:lnTo>
                  <a:pt x="3335" y="2281"/>
                </a:lnTo>
                <a:lnTo>
                  <a:pt x="5609" y="340"/>
                </a:lnTo>
                <a:lnTo>
                  <a:pt x="8026" y="2436"/>
                </a:lnTo>
                <a:cubicBezTo>
                  <a:pt x="8052" y="2463"/>
                  <a:pt x="8086" y="2475"/>
                  <a:pt x="8121" y="2475"/>
                </a:cubicBezTo>
                <a:cubicBezTo>
                  <a:pt x="8164" y="2475"/>
                  <a:pt x="8207" y="2457"/>
                  <a:pt x="8240" y="2424"/>
                </a:cubicBezTo>
                <a:cubicBezTo>
                  <a:pt x="8299" y="2364"/>
                  <a:pt x="8288" y="2257"/>
                  <a:pt x="8228" y="2198"/>
                </a:cubicBezTo>
                <a:lnTo>
                  <a:pt x="5763" y="55"/>
                </a:lnTo>
                <a:cubicBezTo>
                  <a:pt x="5716" y="19"/>
                  <a:pt x="5659" y="1"/>
                  <a:pt x="5601" y="1"/>
                </a:cubicBezTo>
                <a:close/>
              </a:path>
            </a:pathLst>
          </a:custGeom>
          <a:solidFill>
            <a:srgbClr val="00319F"/>
          </a:solidFill>
          <a:ln>
            <a:solidFill>
              <a:srgbClr val="00319F"/>
            </a:solidFill>
          </a:ln>
        </p:spPr>
        <p:txBody>
          <a:bodyPr spcFirstLastPara="1" wrap="square" lIns="82939" tIns="82939" rIns="82939" bIns="82939" anchor="ctr" anchorCtr="0">
            <a:noAutofit/>
          </a:bodyPr>
          <a:lstStyle/>
          <a:p>
            <a:endParaRPr sz="1633"/>
          </a:p>
        </p:txBody>
      </p:sp>
      <p:sp>
        <p:nvSpPr>
          <p:cNvPr id="70" name="圆角矩形 36">
            <a:extLst>
              <a:ext uri="{FF2B5EF4-FFF2-40B4-BE49-F238E27FC236}">
                <a16:creationId xmlns:a16="http://schemas.microsoft.com/office/drawing/2014/main" id="{284CCA83-8652-B53B-ED38-D7F0C5E0BFB9}"/>
              </a:ext>
            </a:extLst>
          </p:cNvPr>
          <p:cNvSpPr/>
          <p:nvPr/>
        </p:nvSpPr>
        <p:spPr>
          <a:xfrm>
            <a:off x="4945808" y="4969176"/>
            <a:ext cx="3240000" cy="1332000"/>
          </a:xfrm>
          <a:prstGeom prst="roundRect">
            <a:avLst>
              <a:gd name="adj" fmla="val 10029"/>
            </a:avLst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+mn-ea"/>
            </a:endParaRPr>
          </a:p>
        </p:txBody>
      </p:sp>
      <p:sp>
        <p:nvSpPr>
          <p:cNvPr id="71" name="圆角矩形 36">
            <a:extLst>
              <a:ext uri="{FF2B5EF4-FFF2-40B4-BE49-F238E27FC236}">
                <a16:creationId xmlns:a16="http://schemas.microsoft.com/office/drawing/2014/main" id="{F17FF5D9-EFE1-606E-6563-A4FA5E3F74E2}"/>
              </a:ext>
            </a:extLst>
          </p:cNvPr>
          <p:cNvSpPr/>
          <p:nvPr/>
        </p:nvSpPr>
        <p:spPr>
          <a:xfrm>
            <a:off x="5053808" y="4969176"/>
            <a:ext cx="3168000" cy="1332000"/>
          </a:xfrm>
          <a:prstGeom prst="roundRect">
            <a:avLst>
              <a:gd name="adj" fmla="val 8019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+mn-ea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E0DEF792-866C-FFA0-5511-290F0623E016}"/>
              </a:ext>
            </a:extLst>
          </p:cNvPr>
          <p:cNvSpPr txBox="1"/>
          <p:nvPr/>
        </p:nvSpPr>
        <p:spPr>
          <a:xfrm>
            <a:off x="5629986" y="5057840"/>
            <a:ext cx="2665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solidFill>
                  <a:srgbClr val="00319F"/>
                </a:solidFill>
                <a:latin typeface="+mn-ea"/>
                <a:cs typeface="Alibaba PuHuiTi" pitchFamily="18" charset="-122"/>
              </a:rPr>
              <a:t>省份汇总误差</a:t>
            </a:r>
          </a:p>
        </p:txBody>
      </p:sp>
      <p:grpSp>
        <p:nvGrpSpPr>
          <p:cNvPr id="73" name="Google Shape;10457;p36">
            <a:extLst>
              <a:ext uri="{FF2B5EF4-FFF2-40B4-BE49-F238E27FC236}">
                <a16:creationId xmlns:a16="http://schemas.microsoft.com/office/drawing/2014/main" id="{8731B0AF-3218-6DD8-FF26-B0176CB0924F}"/>
              </a:ext>
            </a:extLst>
          </p:cNvPr>
          <p:cNvGrpSpPr/>
          <p:nvPr/>
        </p:nvGrpSpPr>
        <p:grpSpPr>
          <a:xfrm>
            <a:off x="5219195" y="5042691"/>
            <a:ext cx="336221" cy="357072"/>
            <a:chOff x="7429366" y="3223183"/>
            <a:chExt cx="334634" cy="333904"/>
          </a:xfrm>
          <a:solidFill>
            <a:srgbClr val="00319F"/>
          </a:solidFill>
        </p:grpSpPr>
        <p:sp>
          <p:nvSpPr>
            <p:cNvPr id="153" name="Google Shape;10458;p36">
              <a:extLst>
                <a:ext uri="{FF2B5EF4-FFF2-40B4-BE49-F238E27FC236}">
                  <a16:creationId xmlns:a16="http://schemas.microsoft.com/office/drawing/2014/main" id="{511B4BCC-C170-46FD-CD44-E3AAA0843837}"/>
                </a:ext>
              </a:extLst>
            </p:cNvPr>
            <p:cNvSpPr/>
            <p:nvPr/>
          </p:nvSpPr>
          <p:spPr>
            <a:xfrm>
              <a:off x="7429366" y="3223183"/>
              <a:ext cx="334634" cy="333904"/>
            </a:xfrm>
            <a:custGeom>
              <a:avLst/>
              <a:gdLst/>
              <a:ahLst/>
              <a:cxnLst/>
              <a:rect l="l" t="t" r="r" b="b"/>
              <a:pathLst>
                <a:path w="10538" h="10515" extrusionOk="0">
                  <a:moveTo>
                    <a:pt x="6978" y="322"/>
                  </a:moveTo>
                  <a:cubicBezTo>
                    <a:pt x="7930" y="322"/>
                    <a:pt x="8716" y="1096"/>
                    <a:pt x="8716" y="2061"/>
                  </a:cubicBezTo>
                  <a:cubicBezTo>
                    <a:pt x="8716" y="2334"/>
                    <a:pt x="8633" y="2644"/>
                    <a:pt x="8478" y="2942"/>
                  </a:cubicBezTo>
                  <a:cubicBezTo>
                    <a:pt x="8478" y="2954"/>
                    <a:pt x="8466" y="2977"/>
                    <a:pt x="8466" y="2977"/>
                  </a:cubicBezTo>
                  <a:cubicBezTo>
                    <a:pt x="8061" y="3823"/>
                    <a:pt x="7276" y="4704"/>
                    <a:pt x="6978" y="5025"/>
                  </a:cubicBezTo>
                  <a:cubicBezTo>
                    <a:pt x="6680" y="4716"/>
                    <a:pt x="5894" y="3835"/>
                    <a:pt x="5490" y="2989"/>
                  </a:cubicBezTo>
                  <a:cubicBezTo>
                    <a:pt x="5490" y="2977"/>
                    <a:pt x="5478" y="2954"/>
                    <a:pt x="5478" y="2942"/>
                  </a:cubicBezTo>
                  <a:cubicBezTo>
                    <a:pt x="5323" y="2632"/>
                    <a:pt x="5240" y="2334"/>
                    <a:pt x="5240" y="2061"/>
                  </a:cubicBezTo>
                  <a:cubicBezTo>
                    <a:pt x="5240" y="1096"/>
                    <a:pt x="6025" y="322"/>
                    <a:pt x="6978" y="322"/>
                  </a:cubicBezTo>
                  <a:close/>
                  <a:moveTo>
                    <a:pt x="5252" y="3227"/>
                  </a:moveTo>
                  <a:cubicBezTo>
                    <a:pt x="5728" y="4192"/>
                    <a:pt x="6597" y="5121"/>
                    <a:pt x="6811" y="5335"/>
                  </a:cubicBezTo>
                  <a:lnTo>
                    <a:pt x="6811" y="5811"/>
                  </a:lnTo>
                  <a:lnTo>
                    <a:pt x="3751" y="6728"/>
                  </a:lnTo>
                  <a:lnTo>
                    <a:pt x="3751" y="3668"/>
                  </a:lnTo>
                  <a:lnTo>
                    <a:pt x="5252" y="3227"/>
                  </a:lnTo>
                  <a:close/>
                  <a:moveTo>
                    <a:pt x="8704" y="3239"/>
                  </a:moveTo>
                  <a:lnTo>
                    <a:pt x="10205" y="3668"/>
                  </a:lnTo>
                  <a:lnTo>
                    <a:pt x="10205" y="6728"/>
                  </a:lnTo>
                  <a:lnTo>
                    <a:pt x="7145" y="5811"/>
                  </a:lnTo>
                  <a:lnTo>
                    <a:pt x="7145" y="5335"/>
                  </a:lnTo>
                  <a:cubicBezTo>
                    <a:pt x="7371" y="5121"/>
                    <a:pt x="8228" y="4192"/>
                    <a:pt x="8704" y="3239"/>
                  </a:cubicBezTo>
                  <a:close/>
                  <a:moveTo>
                    <a:pt x="358" y="2763"/>
                  </a:moveTo>
                  <a:lnTo>
                    <a:pt x="3418" y="3668"/>
                  </a:lnTo>
                  <a:lnTo>
                    <a:pt x="3418" y="6728"/>
                  </a:lnTo>
                  <a:lnTo>
                    <a:pt x="2263" y="6383"/>
                  </a:lnTo>
                  <a:cubicBezTo>
                    <a:pt x="2244" y="6375"/>
                    <a:pt x="2225" y="6372"/>
                    <a:pt x="2208" y="6372"/>
                  </a:cubicBezTo>
                  <a:cubicBezTo>
                    <a:pt x="2136" y="6372"/>
                    <a:pt x="2077" y="6425"/>
                    <a:pt x="2049" y="6502"/>
                  </a:cubicBezTo>
                  <a:cubicBezTo>
                    <a:pt x="2025" y="6585"/>
                    <a:pt x="2084" y="6680"/>
                    <a:pt x="2168" y="6704"/>
                  </a:cubicBezTo>
                  <a:lnTo>
                    <a:pt x="3418" y="7085"/>
                  </a:lnTo>
                  <a:lnTo>
                    <a:pt x="3418" y="10121"/>
                  </a:lnTo>
                  <a:lnTo>
                    <a:pt x="358" y="9204"/>
                  </a:lnTo>
                  <a:lnTo>
                    <a:pt x="358" y="6168"/>
                  </a:lnTo>
                  <a:lnTo>
                    <a:pt x="1513" y="6514"/>
                  </a:lnTo>
                  <a:lnTo>
                    <a:pt x="1561" y="6514"/>
                  </a:lnTo>
                  <a:cubicBezTo>
                    <a:pt x="1632" y="6514"/>
                    <a:pt x="1692" y="6466"/>
                    <a:pt x="1727" y="6394"/>
                  </a:cubicBezTo>
                  <a:cubicBezTo>
                    <a:pt x="1751" y="6311"/>
                    <a:pt x="1692" y="6216"/>
                    <a:pt x="1608" y="6192"/>
                  </a:cubicBezTo>
                  <a:lnTo>
                    <a:pt x="358" y="5811"/>
                  </a:lnTo>
                  <a:lnTo>
                    <a:pt x="358" y="2763"/>
                  </a:lnTo>
                  <a:close/>
                  <a:moveTo>
                    <a:pt x="7145" y="6156"/>
                  </a:moveTo>
                  <a:lnTo>
                    <a:pt x="10205" y="7061"/>
                  </a:lnTo>
                  <a:lnTo>
                    <a:pt x="10205" y="10121"/>
                  </a:lnTo>
                  <a:lnTo>
                    <a:pt x="7145" y="9204"/>
                  </a:lnTo>
                  <a:lnTo>
                    <a:pt x="7145" y="7990"/>
                  </a:lnTo>
                  <a:cubicBezTo>
                    <a:pt x="7145" y="7895"/>
                    <a:pt x="7073" y="7823"/>
                    <a:pt x="6978" y="7823"/>
                  </a:cubicBezTo>
                  <a:cubicBezTo>
                    <a:pt x="6895" y="7823"/>
                    <a:pt x="6811" y="7895"/>
                    <a:pt x="6811" y="7990"/>
                  </a:cubicBezTo>
                  <a:lnTo>
                    <a:pt x="6811" y="9204"/>
                  </a:lnTo>
                  <a:lnTo>
                    <a:pt x="3751" y="10121"/>
                  </a:lnTo>
                  <a:lnTo>
                    <a:pt x="3751" y="7061"/>
                  </a:lnTo>
                  <a:lnTo>
                    <a:pt x="6811" y="6156"/>
                  </a:lnTo>
                  <a:lnTo>
                    <a:pt x="6811" y="7311"/>
                  </a:lnTo>
                  <a:cubicBezTo>
                    <a:pt x="6811" y="7407"/>
                    <a:pt x="6895" y="7478"/>
                    <a:pt x="6978" y="7478"/>
                  </a:cubicBezTo>
                  <a:cubicBezTo>
                    <a:pt x="7073" y="7478"/>
                    <a:pt x="7145" y="7407"/>
                    <a:pt x="7145" y="7311"/>
                  </a:cubicBezTo>
                  <a:lnTo>
                    <a:pt x="7145" y="6156"/>
                  </a:lnTo>
                  <a:close/>
                  <a:moveTo>
                    <a:pt x="6966" y="1"/>
                  </a:moveTo>
                  <a:cubicBezTo>
                    <a:pt x="5823" y="1"/>
                    <a:pt x="4894" y="918"/>
                    <a:pt x="4894" y="2061"/>
                  </a:cubicBezTo>
                  <a:cubicBezTo>
                    <a:pt x="4894" y="2334"/>
                    <a:pt x="4966" y="2632"/>
                    <a:pt x="5085" y="2930"/>
                  </a:cubicBezTo>
                  <a:lnTo>
                    <a:pt x="3573" y="3370"/>
                  </a:lnTo>
                  <a:lnTo>
                    <a:pt x="215" y="2382"/>
                  </a:lnTo>
                  <a:cubicBezTo>
                    <a:pt x="205" y="2375"/>
                    <a:pt x="192" y="2372"/>
                    <a:pt x="179" y="2372"/>
                  </a:cubicBezTo>
                  <a:cubicBezTo>
                    <a:pt x="146" y="2372"/>
                    <a:pt x="106" y="2389"/>
                    <a:pt x="72" y="2406"/>
                  </a:cubicBezTo>
                  <a:cubicBezTo>
                    <a:pt x="25" y="2442"/>
                    <a:pt x="1" y="2477"/>
                    <a:pt x="1" y="2537"/>
                  </a:cubicBezTo>
                  <a:lnTo>
                    <a:pt x="1" y="5954"/>
                  </a:lnTo>
                  <a:lnTo>
                    <a:pt x="1" y="9335"/>
                  </a:lnTo>
                  <a:cubicBezTo>
                    <a:pt x="1" y="9419"/>
                    <a:pt x="37" y="9478"/>
                    <a:pt x="120" y="9502"/>
                  </a:cubicBezTo>
                  <a:lnTo>
                    <a:pt x="3513" y="10514"/>
                  </a:lnTo>
                  <a:lnTo>
                    <a:pt x="3573" y="10514"/>
                  </a:lnTo>
                  <a:lnTo>
                    <a:pt x="6847" y="9550"/>
                  </a:lnTo>
                  <a:cubicBezTo>
                    <a:pt x="6859" y="9562"/>
                    <a:pt x="6883" y="9562"/>
                    <a:pt x="6918" y="9562"/>
                  </a:cubicBezTo>
                  <a:cubicBezTo>
                    <a:pt x="6942" y="9562"/>
                    <a:pt x="6966" y="9562"/>
                    <a:pt x="6990" y="9550"/>
                  </a:cubicBezTo>
                  <a:lnTo>
                    <a:pt x="10264" y="10514"/>
                  </a:lnTo>
                  <a:lnTo>
                    <a:pt x="10312" y="10514"/>
                  </a:lnTo>
                  <a:cubicBezTo>
                    <a:pt x="10335" y="10514"/>
                    <a:pt x="10383" y="10502"/>
                    <a:pt x="10419" y="10490"/>
                  </a:cubicBezTo>
                  <a:cubicBezTo>
                    <a:pt x="10455" y="10454"/>
                    <a:pt x="10490" y="10407"/>
                    <a:pt x="10490" y="10347"/>
                  </a:cubicBezTo>
                  <a:lnTo>
                    <a:pt x="10538" y="6942"/>
                  </a:lnTo>
                  <a:lnTo>
                    <a:pt x="10538" y="3549"/>
                  </a:lnTo>
                  <a:cubicBezTo>
                    <a:pt x="10538" y="3477"/>
                    <a:pt x="10490" y="3418"/>
                    <a:pt x="10419" y="3394"/>
                  </a:cubicBezTo>
                  <a:lnTo>
                    <a:pt x="8835" y="2930"/>
                  </a:lnTo>
                  <a:cubicBezTo>
                    <a:pt x="8954" y="2632"/>
                    <a:pt x="9038" y="2334"/>
                    <a:pt x="9038" y="2061"/>
                  </a:cubicBezTo>
                  <a:cubicBezTo>
                    <a:pt x="9038" y="918"/>
                    <a:pt x="8109" y="1"/>
                    <a:pt x="6966" y="1"/>
                  </a:cubicBezTo>
                  <a:close/>
                </a:path>
              </a:pathLst>
            </a:custGeom>
            <a:grpFill/>
            <a:ln>
              <a:solidFill>
                <a:srgbClr val="00319F"/>
              </a:solidFill>
            </a:ln>
          </p:spPr>
          <p:txBody>
            <a:bodyPr spcFirstLastPara="1" wrap="square" lIns="82939" tIns="82939" rIns="82939" bIns="82939" anchor="ctr" anchorCtr="0">
              <a:noAutofit/>
            </a:bodyPr>
            <a:lstStyle/>
            <a:p>
              <a:endParaRPr sz="1633"/>
            </a:p>
          </p:txBody>
        </p:sp>
        <p:sp>
          <p:nvSpPr>
            <p:cNvPr id="154" name="Google Shape;10459;p36">
              <a:extLst>
                <a:ext uri="{FF2B5EF4-FFF2-40B4-BE49-F238E27FC236}">
                  <a16:creationId xmlns:a16="http://schemas.microsoft.com/office/drawing/2014/main" id="{C15C25D3-DA4E-90AA-4ED4-BAA730BE816C}"/>
                </a:ext>
              </a:extLst>
            </p:cNvPr>
            <p:cNvSpPr/>
            <p:nvPr/>
          </p:nvSpPr>
          <p:spPr>
            <a:xfrm>
              <a:off x="7613514" y="3251541"/>
              <a:ext cx="74878" cy="74529"/>
            </a:xfrm>
            <a:custGeom>
              <a:avLst/>
              <a:gdLst/>
              <a:ahLst/>
              <a:cxnLst/>
              <a:rect l="l" t="t" r="r" b="b"/>
              <a:pathLst>
                <a:path w="2358" h="2347" extrusionOk="0">
                  <a:moveTo>
                    <a:pt x="1179" y="322"/>
                  </a:moveTo>
                  <a:cubicBezTo>
                    <a:pt x="1643" y="322"/>
                    <a:pt x="2012" y="691"/>
                    <a:pt x="2012" y="1156"/>
                  </a:cubicBezTo>
                  <a:cubicBezTo>
                    <a:pt x="2012" y="1620"/>
                    <a:pt x="1643" y="1989"/>
                    <a:pt x="1179" y="1989"/>
                  </a:cubicBezTo>
                  <a:cubicBezTo>
                    <a:pt x="715" y="1989"/>
                    <a:pt x="345" y="1620"/>
                    <a:pt x="345" y="1156"/>
                  </a:cubicBezTo>
                  <a:cubicBezTo>
                    <a:pt x="334" y="703"/>
                    <a:pt x="715" y="322"/>
                    <a:pt x="1179" y="322"/>
                  </a:cubicBezTo>
                  <a:close/>
                  <a:moveTo>
                    <a:pt x="1179" y="1"/>
                  </a:moveTo>
                  <a:cubicBezTo>
                    <a:pt x="524" y="1"/>
                    <a:pt x="0" y="513"/>
                    <a:pt x="0" y="1168"/>
                  </a:cubicBezTo>
                  <a:cubicBezTo>
                    <a:pt x="0" y="1811"/>
                    <a:pt x="524" y="2346"/>
                    <a:pt x="1179" y="2346"/>
                  </a:cubicBezTo>
                  <a:cubicBezTo>
                    <a:pt x="1834" y="2346"/>
                    <a:pt x="2358" y="1822"/>
                    <a:pt x="2358" y="1168"/>
                  </a:cubicBezTo>
                  <a:cubicBezTo>
                    <a:pt x="2358" y="513"/>
                    <a:pt x="1834" y="1"/>
                    <a:pt x="1179" y="1"/>
                  </a:cubicBezTo>
                  <a:close/>
                </a:path>
              </a:pathLst>
            </a:custGeom>
            <a:grpFill/>
            <a:ln>
              <a:solidFill>
                <a:srgbClr val="00319F"/>
              </a:solidFill>
            </a:ln>
          </p:spPr>
          <p:txBody>
            <a:bodyPr spcFirstLastPara="1" wrap="square" lIns="82939" tIns="82939" rIns="82939" bIns="82939" anchor="ctr" anchorCtr="0">
              <a:noAutofit/>
            </a:bodyPr>
            <a:lstStyle/>
            <a:p>
              <a:endParaRPr sz="1633"/>
            </a:p>
          </p:txBody>
        </p:sp>
      </p:grpSp>
      <p:sp>
        <p:nvSpPr>
          <p:cNvPr id="74" name="矩形 73">
            <a:extLst>
              <a:ext uri="{FF2B5EF4-FFF2-40B4-BE49-F238E27FC236}">
                <a16:creationId xmlns:a16="http://schemas.microsoft.com/office/drawing/2014/main" id="{5938F9C6-2E61-3487-A5CB-2FE54E08B706}"/>
              </a:ext>
            </a:extLst>
          </p:cNvPr>
          <p:cNvSpPr>
            <a:spLocks/>
          </p:cNvSpPr>
          <p:nvPr/>
        </p:nvSpPr>
        <p:spPr>
          <a:xfrm>
            <a:off x="5685438" y="5584050"/>
            <a:ext cx="720000" cy="252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b="1" dirty="0">
                <a:solidFill>
                  <a:schemeClr val="accent2">
                    <a:lumMod val="25000"/>
                  </a:schemeClr>
                </a:solidFill>
                <a:latin typeface="+mn-ea"/>
                <a:cs typeface="+mn-ea"/>
                <a:sym typeface="+mn-lt"/>
              </a:rPr>
              <a:t>&lt;10%</a:t>
            </a:r>
            <a:endParaRPr lang="zh-CN" altLang="en-US" sz="1000" b="1" dirty="0">
              <a:solidFill>
                <a:schemeClr val="accent2">
                  <a:lumMod val="25000"/>
                </a:schemeClr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2BB74F92-F66A-88EB-66E7-8B0C97A0A3ED}"/>
              </a:ext>
            </a:extLst>
          </p:cNvPr>
          <p:cNvSpPr>
            <a:spLocks/>
          </p:cNvSpPr>
          <p:nvPr/>
        </p:nvSpPr>
        <p:spPr>
          <a:xfrm>
            <a:off x="6413636" y="5584050"/>
            <a:ext cx="720000" cy="25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b="1" dirty="0">
                <a:solidFill>
                  <a:schemeClr val="accent2">
                    <a:lumMod val="25000"/>
                  </a:schemeClr>
                </a:solidFill>
                <a:latin typeface="+mn-ea"/>
                <a:cs typeface="+mn-ea"/>
                <a:sym typeface="+mn-lt"/>
              </a:rPr>
              <a:t>10~20%</a:t>
            </a:r>
            <a:endParaRPr lang="zh-CN" altLang="en-US" sz="1000" b="1" dirty="0">
              <a:solidFill>
                <a:schemeClr val="accent2">
                  <a:lumMod val="25000"/>
                </a:schemeClr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36E94595-5419-9329-8AE9-CD32E4ACF9E4}"/>
              </a:ext>
            </a:extLst>
          </p:cNvPr>
          <p:cNvSpPr>
            <a:spLocks/>
          </p:cNvSpPr>
          <p:nvPr/>
        </p:nvSpPr>
        <p:spPr>
          <a:xfrm>
            <a:off x="7141834" y="5584050"/>
            <a:ext cx="720000" cy="25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b="1" dirty="0">
                <a:solidFill>
                  <a:schemeClr val="accent2">
                    <a:lumMod val="25000"/>
                  </a:schemeClr>
                </a:solidFill>
                <a:latin typeface="+mn-ea"/>
                <a:cs typeface="+mn-ea"/>
                <a:sym typeface="+mn-lt"/>
              </a:rPr>
              <a:t>&gt;20%</a:t>
            </a:r>
            <a:endParaRPr lang="zh-CN" altLang="en-US" sz="1000" b="1" dirty="0">
              <a:solidFill>
                <a:schemeClr val="accent2">
                  <a:lumMod val="25000"/>
                </a:schemeClr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2CDB50FE-0126-5544-6956-46207A49A51C}"/>
              </a:ext>
            </a:extLst>
          </p:cNvPr>
          <p:cNvSpPr txBox="1"/>
          <p:nvPr/>
        </p:nvSpPr>
        <p:spPr>
          <a:xfrm>
            <a:off x="5793438" y="5881952"/>
            <a:ext cx="612000" cy="216000"/>
          </a:xfrm>
          <a:prstGeom prst="rect">
            <a:avLst/>
          </a:prstGeom>
          <a:noFill/>
        </p:spPr>
        <p:txBody>
          <a:bodyPr wrap="square" lIns="91440" tIns="0" rIns="91440" bIns="0" rtlCol="0" anchor="ctr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00319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22</a:t>
            </a:r>
            <a:r>
              <a:rPr lang="zh-CN" altLang="en-US" sz="1200" b="1" dirty="0">
                <a:solidFill>
                  <a:srgbClr val="00319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个</a:t>
            </a:r>
          </a:p>
        </p:txBody>
      </p:sp>
      <p:sp>
        <p:nvSpPr>
          <p:cNvPr id="151" name="文本框 150">
            <a:extLst>
              <a:ext uri="{FF2B5EF4-FFF2-40B4-BE49-F238E27FC236}">
                <a16:creationId xmlns:a16="http://schemas.microsoft.com/office/drawing/2014/main" id="{32E48107-E11F-43CF-DD4D-6BB63A1330C3}"/>
              </a:ext>
            </a:extLst>
          </p:cNvPr>
          <p:cNvSpPr txBox="1"/>
          <p:nvPr/>
        </p:nvSpPr>
        <p:spPr>
          <a:xfrm>
            <a:off x="6471578" y="5881952"/>
            <a:ext cx="612000" cy="216000"/>
          </a:xfrm>
          <a:prstGeom prst="rect">
            <a:avLst/>
          </a:prstGeom>
          <a:noFill/>
        </p:spPr>
        <p:txBody>
          <a:bodyPr wrap="square" lIns="0" tIns="0" rIns="12240" bIns="0" rtlCol="0" anchor="ctr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00319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</a:t>
            </a:r>
            <a:r>
              <a:rPr lang="zh-CN" altLang="en-US" sz="1200" b="1" dirty="0">
                <a:solidFill>
                  <a:srgbClr val="00319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个</a:t>
            </a:r>
          </a:p>
        </p:txBody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EA4A4F21-0F80-0F7E-CF8D-E42D00A9911F}"/>
              </a:ext>
            </a:extLst>
          </p:cNvPr>
          <p:cNvSpPr txBox="1"/>
          <p:nvPr/>
        </p:nvSpPr>
        <p:spPr>
          <a:xfrm>
            <a:off x="7177842" y="5883243"/>
            <a:ext cx="612000" cy="216000"/>
          </a:xfrm>
          <a:prstGeom prst="rect">
            <a:avLst/>
          </a:prstGeom>
          <a:noFill/>
        </p:spPr>
        <p:txBody>
          <a:bodyPr wrap="square" lIns="0" tIns="0" rIns="12240" bIns="0" rtlCol="0" anchor="ctr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00319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</a:t>
            </a:r>
            <a:r>
              <a:rPr lang="zh-CN" altLang="en-US" sz="1200" b="1" dirty="0">
                <a:solidFill>
                  <a:srgbClr val="00319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个</a:t>
            </a:r>
          </a:p>
        </p:txBody>
      </p:sp>
      <p:sp>
        <p:nvSpPr>
          <p:cNvPr id="156" name="圆角矩形 36">
            <a:extLst>
              <a:ext uri="{FF2B5EF4-FFF2-40B4-BE49-F238E27FC236}">
                <a16:creationId xmlns:a16="http://schemas.microsoft.com/office/drawing/2014/main" id="{1C961BA3-4A91-99C3-2C25-0DD9AEF117B8}"/>
              </a:ext>
            </a:extLst>
          </p:cNvPr>
          <p:cNvSpPr/>
          <p:nvPr/>
        </p:nvSpPr>
        <p:spPr>
          <a:xfrm>
            <a:off x="8380052" y="4969176"/>
            <a:ext cx="3240000" cy="1332000"/>
          </a:xfrm>
          <a:prstGeom prst="roundRect">
            <a:avLst>
              <a:gd name="adj" fmla="val 10029"/>
            </a:avLst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+mn-ea"/>
            </a:endParaRPr>
          </a:p>
        </p:txBody>
      </p:sp>
      <p:sp>
        <p:nvSpPr>
          <p:cNvPr id="157" name="圆角矩形 36">
            <a:extLst>
              <a:ext uri="{FF2B5EF4-FFF2-40B4-BE49-F238E27FC236}">
                <a16:creationId xmlns:a16="http://schemas.microsoft.com/office/drawing/2014/main" id="{39FFA9E3-1DC5-26A4-405F-99152EBD3D1C}"/>
              </a:ext>
            </a:extLst>
          </p:cNvPr>
          <p:cNvSpPr/>
          <p:nvPr/>
        </p:nvSpPr>
        <p:spPr>
          <a:xfrm>
            <a:off x="8488052" y="4969176"/>
            <a:ext cx="3168000" cy="1332000"/>
          </a:xfrm>
          <a:prstGeom prst="roundRect">
            <a:avLst>
              <a:gd name="adj" fmla="val 8019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+mn-ea"/>
            </a:endParaRPr>
          </a:p>
        </p:txBody>
      </p:sp>
      <p:sp>
        <p:nvSpPr>
          <p:cNvPr id="158" name="文本框 157">
            <a:extLst>
              <a:ext uri="{FF2B5EF4-FFF2-40B4-BE49-F238E27FC236}">
                <a16:creationId xmlns:a16="http://schemas.microsoft.com/office/drawing/2014/main" id="{A772DF18-B13A-7E2B-C97C-C7C73AE3CA8F}"/>
              </a:ext>
            </a:extLst>
          </p:cNvPr>
          <p:cNvSpPr txBox="1"/>
          <p:nvPr/>
        </p:nvSpPr>
        <p:spPr>
          <a:xfrm>
            <a:off x="8915732" y="5512884"/>
            <a:ext cx="21920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600" b="1" dirty="0">
                <a:solidFill>
                  <a:srgbClr val="00319F"/>
                </a:solidFill>
                <a:latin typeface="+mn-ea"/>
                <a:cs typeface="Alibaba PuHuiTi Heavy" pitchFamily="18" charset="-122"/>
              </a:rPr>
              <a:t>&lt;5%</a:t>
            </a:r>
            <a:endParaRPr kumimoji="1" lang="zh-CN" altLang="en-US" sz="3600" b="1" dirty="0">
              <a:solidFill>
                <a:srgbClr val="00319F"/>
              </a:solidFill>
              <a:latin typeface="+mn-ea"/>
              <a:cs typeface="Alibaba PuHuiTi Heavy" pitchFamily="18" charset="-122"/>
            </a:endParaRPr>
          </a:p>
        </p:txBody>
      </p:sp>
      <p:sp>
        <p:nvSpPr>
          <p:cNvPr id="159" name="文本框 158">
            <a:extLst>
              <a:ext uri="{FF2B5EF4-FFF2-40B4-BE49-F238E27FC236}">
                <a16:creationId xmlns:a16="http://schemas.microsoft.com/office/drawing/2014/main" id="{6580CF82-1B0F-CE7C-C5A9-0FE3E6FAD666}"/>
              </a:ext>
            </a:extLst>
          </p:cNvPr>
          <p:cNvSpPr txBox="1"/>
          <p:nvPr/>
        </p:nvSpPr>
        <p:spPr>
          <a:xfrm>
            <a:off x="9064230" y="5057840"/>
            <a:ext cx="2665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solidFill>
                  <a:srgbClr val="00319F"/>
                </a:solidFill>
                <a:latin typeface="+mn-ea"/>
                <a:cs typeface="Alibaba PuHuiTi" pitchFamily="18" charset="-122"/>
              </a:rPr>
              <a:t>全国汇总误差</a:t>
            </a:r>
          </a:p>
        </p:txBody>
      </p:sp>
      <p:sp>
        <p:nvSpPr>
          <p:cNvPr id="160" name="Google Shape;10359;p36">
            <a:extLst>
              <a:ext uri="{FF2B5EF4-FFF2-40B4-BE49-F238E27FC236}">
                <a16:creationId xmlns:a16="http://schemas.microsoft.com/office/drawing/2014/main" id="{C5264201-2688-293B-2414-2ED0AE6A51F4}"/>
              </a:ext>
            </a:extLst>
          </p:cNvPr>
          <p:cNvSpPr/>
          <p:nvPr/>
        </p:nvSpPr>
        <p:spPr>
          <a:xfrm>
            <a:off x="8626316" y="5058945"/>
            <a:ext cx="367351" cy="367121"/>
          </a:xfrm>
          <a:custGeom>
            <a:avLst/>
            <a:gdLst/>
            <a:ahLst/>
            <a:cxnLst/>
            <a:rect l="l" t="t" r="r" b="b"/>
            <a:pathLst>
              <a:path w="10812" h="10811" extrusionOk="0">
                <a:moveTo>
                  <a:pt x="2769" y="2858"/>
                </a:moveTo>
                <a:cubicBezTo>
                  <a:pt x="2830" y="2858"/>
                  <a:pt x="2892" y="2866"/>
                  <a:pt x="2954" y="2881"/>
                </a:cubicBezTo>
                <a:cubicBezTo>
                  <a:pt x="3251" y="2941"/>
                  <a:pt x="3489" y="3191"/>
                  <a:pt x="3549" y="3489"/>
                </a:cubicBezTo>
                <a:cubicBezTo>
                  <a:pt x="3608" y="3774"/>
                  <a:pt x="3501" y="4036"/>
                  <a:pt x="3275" y="4227"/>
                </a:cubicBezTo>
                <a:cubicBezTo>
                  <a:pt x="3132" y="4346"/>
                  <a:pt x="3037" y="4548"/>
                  <a:pt x="3037" y="4739"/>
                </a:cubicBezTo>
                <a:lnTo>
                  <a:pt x="3037" y="5084"/>
                </a:lnTo>
                <a:cubicBezTo>
                  <a:pt x="3037" y="5346"/>
                  <a:pt x="3263" y="5572"/>
                  <a:pt x="3525" y="5572"/>
                </a:cubicBezTo>
                <a:lnTo>
                  <a:pt x="5228" y="5572"/>
                </a:lnTo>
                <a:lnTo>
                  <a:pt x="5228" y="7263"/>
                </a:lnTo>
                <a:cubicBezTo>
                  <a:pt x="5228" y="7370"/>
                  <a:pt x="5156" y="7441"/>
                  <a:pt x="5049" y="7441"/>
                </a:cubicBezTo>
                <a:lnTo>
                  <a:pt x="4704" y="7441"/>
                </a:lnTo>
                <a:cubicBezTo>
                  <a:pt x="4597" y="7441"/>
                  <a:pt x="4513" y="7406"/>
                  <a:pt x="4442" y="7322"/>
                </a:cubicBezTo>
                <a:cubicBezTo>
                  <a:pt x="4225" y="7076"/>
                  <a:pt x="3925" y="6935"/>
                  <a:pt x="3599" y="6935"/>
                </a:cubicBezTo>
                <a:cubicBezTo>
                  <a:pt x="3532" y="6935"/>
                  <a:pt x="3463" y="6941"/>
                  <a:pt x="3394" y="6953"/>
                </a:cubicBezTo>
                <a:cubicBezTo>
                  <a:pt x="2965" y="7025"/>
                  <a:pt x="2620" y="7370"/>
                  <a:pt x="2537" y="7787"/>
                </a:cubicBezTo>
                <a:cubicBezTo>
                  <a:pt x="2453" y="8120"/>
                  <a:pt x="2549" y="8454"/>
                  <a:pt x="2751" y="8715"/>
                </a:cubicBezTo>
                <a:cubicBezTo>
                  <a:pt x="2965" y="8965"/>
                  <a:pt x="3275" y="9108"/>
                  <a:pt x="3608" y="9108"/>
                </a:cubicBezTo>
                <a:cubicBezTo>
                  <a:pt x="3930" y="9108"/>
                  <a:pt x="4227" y="8965"/>
                  <a:pt x="4442" y="8715"/>
                </a:cubicBezTo>
                <a:cubicBezTo>
                  <a:pt x="4501" y="8632"/>
                  <a:pt x="4585" y="8608"/>
                  <a:pt x="4692" y="8608"/>
                </a:cubicBezTo>
                <a:lnTo>
                  <a:pt x="5037" y="8608"/>
                </a:lnTo>
                <a:cubicBezTo>
                  <a:pt x="5132" y="8608"/>
                  <a:pt x="5216" y="8680"/>
                  <a:pt x="5216" y="8787"/>
                </a:cubicBezTo>
                <a:lnTo>
                  <a:pt x="5216" y="10501"/>
                </a:lnTo>
                <a:lnTo>
                  <a:pt x="846" y="10501"/>
                </a:lnTo>
                <a:cubicBezTo>
                  <a:pt x="572" y="10501"/>
                  <a:pt x="334" y="10263"/>
                  <a:pt x="334" y="9977"/>
                </a:cubicBezTo>
                <a:lnTo>
                  <a:pt x="334" y="5572"/>
                </a:lnTo>
                <a:lnTo>
                  <a:pt x="2025" y="5572"/>
                </a:lnTo>
                <a:cubicBezTo>
                  <a:pt x="2299" y="5572"/>
                  <a:pt x="2513" y="5346"/>
                  <a:pt x="2513" y="5084"/>
                </a:cubicBezTo>
                <a:lnTo>
                  <a:pt x="2513" y="4727"/>
                </a:lnTo>
                <a:cubicBezTo>
                  <a:pt x="2513" y="4513"/>
                  <a:pt x="2430" y="4334"/>
                  <a:pt x="2299" y="4215"/>
                </a:cubicBezTo>
                <a:cubicBezTo>
                  <a:pt x="2120" y="4072"/>
                  <a:pt x="2013" y="3858"/>
                  <a:pt x="2013" y="3620"/>
                </a:cubicBezTo>
                <a:cubicBezTo>
                  <a:pt x="2013" y="3381"/>
                  <a:pt x="2120" y="3179"/>
                  <a:pt x="2299" y="3024"/>
                </a:cubicBezTo>
                <a:cubicBezTo>
                  <a:pt x="2431" y="2919"/>
                  <a:pt x="2596" y="2858"/>
                  <a:pt x="2769" y="2858"/>
                </a:cubicBezTo>
                <a:close/>
                <a:moveTo>
                  <a:pt x="10014" y="298"/>
                </a:moveTo>
                <a:cubicBezTo>
                  <a:pt x="10300" y="298"/>
                  <a:pt x="10538" y="536"/>
                  <a:pt x="10538" y="822"/>
                </a:cubicBezTo>
                <a:lnTo>
                  <a:pt x="10538" y="5239"/>
                </a:lnTo>
                <a:lnTo>
                  <a:pt x="10312" y="5239"/>
                </a:lnTo>
                <a:cubicBezTo>
                  <a:pt x="10228" y="5239"/>
                  <a:pt x="10157" y="5322"/>
                  <a:pt x="10157" y="5406"/>
                </a:cubicBezTo>
                <a:cubicBezTo>
                  <a:pt x="10157" y="5501"/>
                  <a:pt x="10228" y="5572"/>
                  <a:pt x="10312" y="5572"/>
                </a:cubicBezTo>
                <a:lnTo>
                  <a:pt x="10490" y="5572"/>
                </a:lnTo>
                <a:lnTo>
                  <a:pt x="10490" y="9977"/>
                </a:lnTo>
                <a:cubicBezTo>
                  <a:pt x="10490" y="10263"/>
                  <a:pt x="10252" y="10501"/>
                  <a:pt x="9978" y="10501"/>
                </a:cubicBezTo>
                <a:lnTo>
                  <a:pt x="5573" y="10501"/>
                </a:lnTo>
                <a:lnTo>
                  <a:pt x="5573" y="8799"/>
                </a:lnTo>
                <a:cubicBezTo>
                  <a:pt x="5573" y="8537"/>
                  <a:pt x="5347" y="8311"/>
                  <a:pt x="5073" y="8311"/>
                </a:cubicBezTo>
                <a:lnTo>
                  <a:pt x="4739" y="8311"/>
                </a:lnTo>
                <a:cubicBezTo>
                  <a:pt x="4525" y="8311"/>
                  <a:pt x="4347" y="8394"/>
                  <a:pt x="4227" y="8537"/>
                </a:cubicBezTo>
                <a:cubicBezTo>
                  <a:pt x="4085" y="8715"/>
                  <a:pt x="3870" y="8811"/>
                  <a:pt x="3632" y="8811"/>
                </a:cubicBezTo>
                <a:cubicBezTo>
                  <a:pt x="3394" y="8811"/>
                  <a:pt x="3192" y="8715"/>
                  <a:pt x="3037" y="8537"/>
                </a:cubicBezTo>
                <a:cubicBezTo>
                  <a:pt x="2894" y="8358"/>
                  <a:pt x="2834" y="8120"/>
                  <a:pt x="2894" y="7882"/>
                </a:cubicBezTo>
                <a:cubicBezTo>
                  <a:pt x="2954" y="7584"/>
                  <a:pt x="3204" y="7346"/>
                  <a:pt x="3501" y="7287"/>
                </a:cubicBezTo>
                <a:cubicBezTo>
                  <a:pt x="3557" y="7275"/>
                  <a:pt x="3612" y="7269"/>
                  <a:pt x="3665" y="7269"/>
                </a:cubicBezTo>
                <a:cubicBezTo>
                  <a:pt x="3887" y="7269"/>
                  <a:pt x="4086" y="7367"/>
                  <a:pt x="4239" y="7549"/>
                </a:cubicBezTo>
                <a:cubicBezTo>
                  <a:pt x="4358" y="7703"/>
                  <a:pt x="4561" y="7787"/>
                  <a:pt x="4751" y="7787"/>
                </a:cubicBezTo>
                <a:lnTo>
                  <a:pt x="5097" y="7787"/>
                </a:lnTo>
                <a:cubicBezTo>
                  <a:pt x="5359" y="7787"/>
                  <a:pt x="5585" y="7561"/>
                  <a:pt x="5585" y="7299"/>
                </a:cubicBezTo>
                <a:lnTo>
                  <a:pt x="5585" y="5596"/>
                </a:lnTo>
                <a:lnTo>
                  <a:pt x="7275" y="5596"/>
                </a:lnTo>
                <a:cubicBezTo>
                  <a:pt x="7383" y="5596"/>
                  <a:pt x="7454" y="5679"/>
                  <a:pt x="7454" y="5775"/>
                </a:cubicBezTo>
                <a:lnTo>
                  <a:pt x="7454" y="6120"/>
                </a:lnTo>
                <a:cubicBezTo>
                  <a:pt x="7454" y="6227"/>
                  <a:pt x="7418" y="6310"/>
                  <a:pt x="7335" y="6394"/>
                </a:cubicBezTo>
                <a:cubicBezTo>
                  <a:pt x="7037" y="6644"/>
                  <a:pt x="6894" y="7025"/>
                  <a:pt x="6966" y="7430"/>
                </a:cubicBezTo>
                <a:cubicBezTo>
                  <a:pt x="7037" y="7858"/>
                  <a:pt x="7383" y="8203"/>
                  <a:pt x="7799" y="8299"/>
                </a:cubicBezTo>
                <a:cubicBezTo>
                  <a:pt x="7871" y="8311"/>
                  <a:pt x="7954" y="8323"/>
                  <a:pt x="8037" y="8323"/>
                </a:cubicBezTo>
                <a:cubicBezTo>
                  <a:pt x="8288" y="8323"/>
                  <a:pt x="8526" y="8239"/>
                  <a:pt x="8728" y="8084"/>
                </a:cubicBezTo>
                <a:cubicBezTo>
                  <a:pt x="8978" y="7882"/>
                  <a:pt x="9121" y="7561"/>
                  <a:pt x="9121" y="7239"/>
                </a:cubicBezTo>
                <a:cubicBezTo>
                  <a:pt x="9121" y="6906"/>
                  <a:pt x="8978" y="6608"/>
                  <a:pt x="8728" y="6406"/>
                </a:cubicBezTo>
                <a:cubicBezTo>
                  <a:pt x="8645" y="6346"/>
                  <a:pt x="8621" y="6251"/>
                  <a:pt x="8621" y="6132"/>
                </a:cubicBezTo>
                <a:lnTo>
                  <a:pt x="8621" y="5798"/>
                </a:lnTo>
                <a:cubicBezTo>
                  <a:pt x="8621" y="5691"/>
                  <a:pt x="8692" y="5620"/>
                  <a:pt x="8799" y="5620"/>
                </a:cubicBezTo>
                <a:lnTo>
                  <a:pt x="9645" y="5620"/>
                </a:lnTo>
                <a:cubicBezTo>
                  <a:pt x="9740" y="5620"/>
                  <a:pt x="9812" y="5536"/>
                  <a:pt x="9812" y="5453"/>
                </a:cubicBezTo>
                <a:cubicBezTo>
                  <a:pt x="9812" y="5358"/>
                  <a:pt x="9740" y="5286"/>
                  <a:pt x="9645" y="5286"/>
                </a:cubicBezTo>
                <a:lnTo>
                  <a:pt x="8799" y="5286"/>
                </a:lnTo>
                <a:cubicBezTo>
                  <a:pt x="8526" y="5286"/>
                  <a:pt x="8311" y="5513"/>
                  <a:pt x="8311" y="5775"/>
                </a:cubicBezTo>
                <a:lnTo>
                  <a:pt x="8311" y="6120"/>
                </a:lnTo>
                <a:cubicBezTo>
                  <a:pt x="8311" y="6334"/>
                  <a:pt x="8395" y="6513"/>
                  <a:pt x="8526" y="6632"/>
                </a:cubicBezTo>
                <a:cubicBezTo>
                  <a:pt x="8704" y="6775"/>
                  <a:pt x="8811" y="6989"/>
                  <a:pt x="8811" y="7227"/>
                </a:cubicBezTo>
                <a:cubicBezTo>
                  <a:pt x="8811" y="7465"/>
                  <a:pt x="8704" y="7668"/>
                  <a:pt x="8526" y="7822"/>
                </a:cubicBezTo>
                <a:cubicBezTo>
                  <a:pt x="8394" y="7928"/>
                  <a:pt x="8229" y="7988"/>
                  <a:pt x="8056" y="7988"/>
                </a:cubicBezTo>
                <a:cubicBezTo>
                  <a:pt x="7995" y="7988"/>
                  <a:pt x="7933" y="7981"/>
                  <a:pt x="7871" y="7965"/>
                </a:cubicBezTo>
                <a:cubicBezTo>
                  <a:pt x="7573" y="7906"/>
                  <a:pt x="7335" y="7656"/>
                  <a:pt x="7275" y="7358"/>
                </a:cubicBezTo>
                <a:cubicBezTo>
                  <a:pt x="7216" y="7072"/>
                  <a:pt x="7323" y="6810"/>
                  <a:pt x="7549" y="6608"/>
                </a:cubicBezTo>
                <a:cubicBezTo>
                  <a:pt x="7692" y="6489"/>
                  <a:pt x="7787" y="6298"/>
                  <a:pt x="7787" y="6108"/>
                </a:cubicBezTo>
                <a:lnTo>
                  <a:pt x="7787" y="5763"/>
                </a:lnTo>
                <a:cubicBezTo>
                  <a:pt x="7787" y="5501"/>
                  <a:pt x="7561" y="5275"/>
                  <a:pt x="7287" y="5275"/>
                </a:cubicBezTo>
                <a:lnTo>
                  <a:pt x="5597" y="5275"/>
                </a:lnTo>
                <a:lnTo>
                  <a:pt x="5597" y="3572"/>
                </a:lnTo>
                <a:cubicBezTo>
                  <a:pt x="5597" y="3477"/>
                  <a:pt x="5668" y="3393"/>
                  <a:pt x="5775" y="3393"/>
                </a:cubicBezTo>
                <a:lnTo>
                  <a:pt x="6121" y="3393"/>
                </a:lnTo>
                <a:cubicBezTo>
                  <a:pt x="6216" y="3393"/>
                  <a:pt x="6311" y="3441"/>
                  <a:pt x="6383" y="3512"/>
                </a:cubicBezTo>
                <a:cubicBezTo>
                  <a:pt x="6592" y="3762"/>
                  <a:pt x="6901" y="3911"/>
                  <a:pt x="7234" y="3911"/>
                </a:cubicBezTo>
                <a:cubicBezTo>
                  <a:pt x="7299" y="3911"/>
                  <a:pt x="7364" y="3905"/>
                  <a:pt x="7430" y="3893"/>
                </a:cubicBezTo>
                <a:cubicBezTo>
                  <a:pt x="7859" y="3810"/>
                  <a:pt x="8204" y="3477"/>
                  <a:pt x="8288" y="3060"/>
                </a:cubicBezTo>
                <a:cubicBezTo>
                  <a:pt x="8359" y="2727"/>
                  <a:pt x="8276" y="2381"/>
                  <a:pt x="8061" y="2131"/>
                </a:cubicBezTo>
                <a:cubicBezTo>
                  <a:pt x="7859" y="1881"/>
                  <a:pt x="7549" y="1726"/>
                  <a:pt x="7216" y="1726"/>
                </a:cubicBezTo>
                <a:cubicBezTo>
                  <a:pt x="6894" y="1726"/>
                  <a:pt x="6597" y="1881"/>
                  <a:pt x="6383" y="2131"/>
                </a:cubicBezTo>
                <a:cubicBezTo>
                  <a:pt x="6323" y="2203"/>
                  <a:pt x="6240" y="2238"/>
                  <a:pt x="6132" y="2238"/>
                </a:cubicBezTo>
                <a:lnTo>
                  <a:pt x="5787" y="2238"/>
                </a:lnTo>
                <a:cubicBezTo>
                  <a:pt x="5680" y="2238"/>
                  <a:pt x="5609" y="2167"/>
                  <a:pt x="5609" y="2060"/>
                </a:cubicBezTo>
                <a:lnTo>
                  <a:pt x="5609" y="1215"/>
                </a:lnTo>
                <a:cubicBezTo>
                  <a:pt x="5609" y="1119"/>
                  <a:pt x="5537" y="1048"/>
                  <a:pt x="5442" y="1048"/>
                </a:cubicBezTo>
                <a:cubicBezTo>
                  <a:pt x="5359" y="1048"/>
                  <a:pt x="5287" y="1119"/>
                  <a:pt x="5287" y="1215"/>
                </a:cubicBezTo>
                <a:lnTo>
                  <a:pt x="5287" y="2060"/>
                </a:lnTo>
                <a:cubicBezTo>
                  <a:pt x="5287" y="2322"/>
                  <a:pt x="5501" y="2548"/>
                  <a:pt x="5775" y="2548"/>
                </a:cubicBezTo>
                <a:lnTo>
                  <a:pt x="6121" y="2548"/>
                </a:lnTo>
                <a:cubicBezTo>
                  <a:pt x="6323" y="2548"/>
                  <a:pt x="6502" y="2465"/>
                  <a:pt x="6621" y="2322"/>
                </a:cubicBezTo>
                <a:cubicBezTo>
                  <a:pt x="6775" y="2143"/>
                  <a:pt x="6978" y="2048"/>
                  <a:pt x="7216" y="2048"/>
                </a:cubicBezTo>
                <a:cubicBezTo>
                  <a:pt x="7454" y="2048"/>
                  <a:pt x="7668" y="2143"/>
                  <a:pt x="7811" y="2322"/>
                </a:cubicBezTo>
                <a:cubicBezTo>
                  <a:pt x="7966" y="2500"/>
                  <a:pt x="8026" y="2739"/>
                  <a:pt x="7966" y="2977"/>
                </a:cubicBezTo>
                <a:cubicBezTo>
                  <a:pt x="7907" y="3274"/>
                  <a:pt x="7656" y="3512"/>
                  <a:pt x="7359" y="3572"/>
                </a:cubicBezTo>
                <a:cubicBezTo>
                  <a:pt x="7303" y="3584"/>
                  <a:pt x="7248" y="3589"/>
                  <a:pt x="7193" y="3589"/>
                </a:cubicBezTo>
                <a:cubicBezTo>
                  <a:pt x="6969" y="3589"/>
                  <a:pt x="6762" y="3492"/>
                  <a:pt x="6609" y="3310"/>
                </a:cubicBezTo>
                <a:cubicBezTo>
                  <a:pt x="6490" y="3155"/>
                  <a:pt x="6299" y="3072"/>
                  <a:pt x="6097" y="3072"/>
                </a:cubicBezTo>
                <a:lnTo>
                  <a:pt x="5763" y="3072"/>
                </a:lnTo>
                <a:cubicBezTo>
                  <a:pt x="5490" y="3072"/>
                  <a:pt x="5275" y="3298"/>
                  <a:pt x="5275" y="3560"/>
                </a:cubicBezTo>
                <a:lnTo>
                  <a:pt x="5275" y="5263"/>
                </a:lnTo>
                <a:lnTo>
                  <a:pt x="3573" y="5263"/>
                </a:lnTo>
                <a:cubicBezTo>
                  <a:pt x="3465" y="5263"/>
                  <a:pt x="3394" y="5179"/>
                  <a:pt x="3394" y="5084"/>
                </a:cubicBezTo>
                <a:lnTo>
                  <a:pt x="3394" y="4727"/>
                </a:lnTo>
                <a:cubicBezTo>
                  <a:pt x="3394" y="4620"/>
                  <a:pt x="3442" y="4524"/>
                  <a:pt x="3513" y="4453"/>
                </a:cubicBezTo>
                <a:cubicBezTo>
                  <a:pt x="3811" y="4203"/>
                  <a:pt x="3954" y="3810"/>
                  <a:pt x="3882" y="3417"/>
                </a:cubicBezTo>
                <a:cubicBezTo>
                  <a:pt x="3811" y="2977"/>
                  <a:pt x="3465" y="2643"/>
                  <a:pt x="3049" y="2548"/>
                </a:cubicBezTo>
                <a:cubicBezTo>
                  <a:pt x="2973" y="2531"/>
                  <a:pt x="2896" y="2523"/>
                  <a:pt x="2820" y="2523"/>
                </a:cubicBezTo>
                <a:cubicBezTo>
                  <a:pt x="2570" y="2523"/>
                  <a:pt x="2323" y="2610"/>
                  <a:pt x="2132" y="2774"/>
                </a:cubicBezTo>
                <a:cubicBezTo>
                  <a:pt x="1870" y="2977"/>
                  <a:pt x="1727" y="3298"/>
                  <a:pt x="1727" y="3620"/>
                </a:cubicBezTo>
                <a:cubicBezTo>
                  <a:pt x="1727" y="3941"/>
                  <a:pt x="1870" y="4239"/>
                  <a:pt x="2132" y="4453"/>
                </a:cubicBezTo>
                <a:cubicBezTo>
                  <a:pt x="2203" y="4513"/>
                  <a:pt x="2227" y="4608"/>
                  <a:pt x="2227" y="4703"/>
                </a:cubicBezTo>
                <a:lnTo>
                  <a:pt x="2227" y="5048"/>
                </a:lnTo>
                <a:cubicBezTo>
                  <a:pt x="2227" y="5155"/>
                  <a:pt x="2156" y="5227"/>
                  <a:pt x="2049" y="5227"/>
                </a:cubicBezTo>
                <a:lnTo>
                  <a:pt x="358" y="5227"/>
                </a:lnTo>
                <a:lnTo>
                  <a:pt x="358" y="822"/>
                </a:lnTo>
                <a:cubicBezTo>
                  <a:pt x="358" y="536"/>
                  <a:pt x="596" y="298"/>
                  <a:pt x="882" y="298"/>
                </a:cubicBezTo>
                <a:lnTo>
                  <a:pt x="5287" y="298"/>
                </a:lnTo>
                <a:lnTo>
                  <a:pt x="5287" y="476"/>
                </a:lnTo>
                <a:cubicBezTo>
                  <a:pt x="5287" y="572"/>
                  <a:pt x="5359" y="643"/>
                  <a:pt x="5442" y="643"/>
                </a:cubicBezTo>
                <a:cubicBezTo>
                  <a:pt x="5537" y="643"/>
                  <a:pt x="5609" y="572"/>
                  <a:pt x="5609" y="476"/>
                </a:cubicBezTo>
                <a:lnTo>
                  <a:pt x="5609" y="298"/>
                </a:lnTo>
                <a:close/>
                <a:moveTo>
                  <a:pt x="834" y="0"/>
                </a:moveTo>
                <a:cubicBezTo>
                  <a:pt x="370" y="0"/>
                  <a:pt x="1" y="381"/>
                  <a:pt x="1" y="834"/>
                </a:cubicBezTo>
                <a:lnTo>
                  <a:pt x="1" y="9977"/>
                </a:lnTo>
                <a:cubicBezTo>
                  <a:pt x="1" y="10442"/>
                  <a:pt x="370" y="10811"/>
                  <a:pt x="834" y="10811"/>
                </a:cubicBezTo>
                <a:lnTo>
                  <a:pt x="9978" y="10811"/>
                </a:lnTo>
                <a:cubicBezTo>
                  <a:pt x="10431" y="10811"/>
                  <a:pt x="10812" y="10442"/>
                  <a:pt x="10812" y="9977"/>
                </a:cubicBezTo>
                <a:lnTo>
                  <a:pt x="10812" y="834"/>
                </a:lnTo>
                <a:cubicBezTo>
                  <a:pt x="10812" y="381"/>
                  <a:pt x="10431" y="0"/>
                  <a:pt x="9978" y="0"/>
                </a:cubicBezTo>
                <a:close/>
              </a:path>
            </a:pathLst>
          </a:custGeom>
          <a:solidFill>
            <a:srgbClr val="00319F"/>
          </a:solidFill>
          <a:ln>
            <a:solidFill>
              <a:srgbClr val="00319F"/>
            </a:solidFill>
          </a:ln>
        </p:spPr>
        <p:txBody>
          <a:bodyPr spcFirstLastPara="1" wrap="square" lIns="82939" tIns="82939" rIns="82939" bIns="82939" anchor="ctr" anchorCtr="0">
            <a:noAutofit/>
          </a:bodyPr>
          <a:lstStyle/>
          <a:p>
            <a:endParaRPr sz="1633"/>
          </a:p>
        </p:txBody>
      </p:sp>
      <p:sp>
        <p:nvSpPr>
          <p:cNvPr id="161" name="object 16">
            <a:extLst>
              <a:ext uri="{FF2B5EF4-FFF2-40B4-BE49-F238E27FC236}">
                <a16:creationId xmlns:a16="http://schemas.microsoft.com/office/drawing/2014/main" id="{CCCF5D2B-ED8C-5BA9-DBF0-AC84A25E6E7C}"/>
              </a:ext>
            </a:extLst>
          </p:cNvPr>
          <p:cNvSpPr/>
          <p:nvPr/>
        </p:nvSpPr>
        <p:spPr>
          <a:xfrm>
            <a:off x="389120" y="1828609"/>
            <a:ext cx="936000" cy="648000"/>
          </a:xfrm>
          <a:custGeom>
            <a:avLst/>
            <a:gdLst/>
            <a:ahLst/>
            <a:cxnLst/>
            <a:rect l="l" t="t" r="r" b="b"/>
            <a:pathLst>
              <a:path w="662940" h="468630">
                <a:moveTo>
                  <a:pt x="546569" y="0"/>
                </a:moveTo>
                <a:lnTo>
                  <a:pt x="0" y="0"/>
                </a:lnTo>
                <a:lnTo>
                  <a:pt x="0" y="468172"/>
                </a:lnTo>
                <a:lnTo>
                  <a:pt x="546569" y="468172"/>
                </a:lnTo>
                <a:lnTo>
                  <a:pt x="591654" y="459071"/>
                </a:lnTo>
                <a:lnTo>
                  <a:pt x="628470" y="434249"/>
                </a:lnTo>
                <a:lnTo>
                  <a:pt x="653292" y="397433"/>
                </a:lnTo>
                <a:lnTo>
                  <a:pt x="662393" y="352348"/>
                </a:lnTo>
                <a:lnTo>
                  <a:pt x="662393" y="115823"/>
                </a:lnTo>
                <a:lnTo>
                  <a:pt x="653292" y="70739"/>
                </a:lnTo>
                <a:lnTo>
                  <a:pt x="628470" y="33923"/>
                </a:lnTo>
                <a:lnTo>
                  <a:pt x="591654" y="9101"/>
                </a:lnTo>
                <a:lnTo>
                  <a:pt x="546569" y="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lIns="0" tIns="0" rIns="0" bIns="0" rtlCol="0" anchor="ctr"/>
          <a:lstStyle/>
          <a:p>
            <a:pPr algn="ctr"/>
            <a:r>
              <a:rPr lang="zh-CN" altLang="en-US" b="1" dirty="0">
                <a:solidFill>
                  <a:schemeClr val="tx2"/>
                </a:solidFill>
              </a:rPr>
              <a:t>目标</a:t>
            </a:r>
            <a:endParaRPr b="1" dirty="0">
              <a:solidFill>
                <a:schemeClr val="tx2"/>
              </a:solidFill>
            </a:endParaRPr>
          </a:p>
        </p:txBody>
      </p:sp>
      <p:sp>
        <p:nvSpPr>
          <p:cNvPr id="162" name="object 34">
            <a:extLst>
              <a:ext uri="{FF2B5EF4-FFF2-40B4-BE49-F238E27FC236}">
                <a16:creationId xmlns:a16="http://schemas.microsoft.com/office/drawing/2014/main" id="{419A697E-AD51-5CD3-14FB-D98F04B2BB66}"/>
              </a:ext>
            </a:extLst>
          </p:cNvPr>
          <p:cNvSpPr/>
          <p:nvPr/>
        </p:nvSpPr>
        <p:spPr>
          <a:xfrm>
            <a:off x="389119" y="4966498"/>
            <a:ext cx="936000" cy="1332000"/>
          </a:xfrm>
          <a:custGeom>
            <a:avLst/>
            <a:gdLst/>
            <a:ahLst/>
            <a:cxnLst/>
            <a:rect l="l" t="t" r="r" b="b"/>
            <a:pathLst>
              <a:path w="835025" h="1896745">
                <a:moveTo>
                  <a:pt x="682371" y="0"/>
                </a:moveTo>
                <a:lnTo>
                  <a:pt x="0" y="0"/>
                </a:lnTo>
                <a:lnTo>
                  <a:pt x="0" y="1896529"/>
                </a:lnTo>
                <a:lnTo>
                  <a:pt x="682371" y="1896529"/>
                </a:lnTo>
                <a:lnTo>
                  <a:pt x="730544" y="1888759"/>
                </a:lnTo>
                <a:lnTo>
                  <a:pt x="772379" y="1867123"/>
                </a:lnTo>
                <a:lnTo>
                  <a:pt x="805368" y="1834132"/>
                </a:lnTo>
                <a:lnTo>
                  <a:pt x="827002" y="1792297"/>
                </a:lnTo>
                <a:lnTo>
                  <a:pt x="834771" y="1744129"/>
                </a:lnTo>
                <a:lnTo>
                  <a:pt x="834771" y="152400"/>
                </a:lnTo>
                <a:lnTo>
                  <a:pt x="827002" y="104231"/>
                </a:lnTo>
                <a:lnTo>
                  <a:pt x="805368" y="62396"/>
                </a:lnTo>
                <a:lnTo>
                  <a:pt x="772379" y="29405"/>
                </a:lnTo>
                <a:lnTo>
                  <a:pt x="730544" y="7769"/>
                </a:lnTo>
                <a:lnTo>
                  <a:pt x="682371" y="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lIns="0" tIns="0" rIns="0" bIns="0" rtlCol="0" anchor="ctr"/>
          <a:lstStyle/>
          <a:p>
            <a:pPr algn="ctr"/>
            <a:r>
              <a:rPr lang="zh-CN" altLang="en-US" b="1" dirty="0">
                <a:solidFill>
                  <a:schemeClr val="tx2"/>
                </a:solidFill>
              </a:rPr>
              <a:t>效果</a:t>
            </a:r>
            <a:endParaRPr b="1" dirty="0">
              <a:solidFill>
                <a:schemeClr val="tx2"/>
              </a:solidFill>
            </a:endParaRPr>
          </a:p>
        </p:txBody>
      </p:sp>
      <p:sp>
        <p:nvSpPr>
          <p:cNvPr id="163" name="object 18">
            <a:extLst>
              <a:ext uri="{FF2B5EF4-FFF2-40B4-BE49-F238E27FC236}">
                <a16:creationId xmlns:a16="http://schemas.microsoft.com/office/drawing/2014/main" id="{A4BD6F91-64CF-DFA4-C106-8762F15A15C2}"/>
              </a:ext>
            </a:extLst>
          </p:cNvPr>
          <p:cNvSpPr/>
          <p:nvPr/>
        </p:nvSpPr>
        <p:spPr>
          <a:xfrm>
            <a:off x="389120" y="2687754"/>
            <a:ext cx="936000" cy="2088000"/>
          </a:xfrm>
          <a:custGeom>
            <a:avLst/>
            <a:gdLst/>
            <a:ahLst/>
            <a:cxnLst/>
            <a:rect l="l" t="t" r="r" b="b"/>
            <a:pathLst>
              <a:path w="662940" h="2455545">
                <a:moveTo>
                  <a:pt x="509993" y="0"/>
                </a:moveTo>
                <a:lnTo>
                  <a:pt x="0" y="0"/>
                </a:lnTo>
                <a:lnTo>
                  <a:pt x="0" y="2455024"/>
                </a:lnTo>
                <a:lnTo>
                  <a:pt x="509993" y="2455024"/>
                </a:lnTo>
                <a:lnTo>
                  <a:pt x="558166" y="2447254"/>
                </a:lnTo>
                <a:lnTo>
                  <a:pt x="600002" y="2425618"/>
                </a:lnTo>
                <a:lnTo>
                  <a:pt x="632991" y="2392627"/>
                </a:lnTo>
                <a:lnTo>
                  <a:pt x="654625" y="2350792"/>
                </a:lnTo>
                <a:lnTo>
                  <a:pt x="662393" y="2302624"/>
                </a:lnTo>
                <a:lnTo>
                  <a:pt x="662393" y="152400"/>
                </a:lnTo>
                <a:lnTo>
                  <a:pt x="654625" y="104231"/>
                </a:lnTo>
                <a:lnTo>
                  <a:pt x="632991" y="62396"/>
                </a:lnTo>
                <a:lnTo>
                  <a:pt x="600002" y="29405"/>
                </a:lnTo>
                <a:lnTo>
                  <a:pt x="558166" y="7769"/>
                </a:lnTo>
                <a:lnTo>
                  <a:pt x="509993" y="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lIns="0" tIns="0" rIns="0" bIns="0" rtlCol="0" anchor="ctr"/>
          <a:lstStyle/>
          <a:p>
            <a:pPr algn="ctr"/>
            <a:r>
              <a:rPr lang="zh-CN" altLang="en-US" b="1" dirty="0">
                <a:solidFill>
                  <a:schemeClr val="tx2"/>
                </a:solidFill>
              </a:rPr>
              <a:t>方法</a:t>
            </a:r>
            <a:endParaRPr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2834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2E0CD-355C-4FDF-0457-D523DB7FD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CF706EE-B546-757C-2D10-18090D790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120" y="289867"/>
            <a:ext cx="9470548" cy="623416"/>
          </a:xfrm>
        </p:spPr>
        <p:txBody>
          <a:bodyPr>
            <a:normAutofit/>
          </a:bodyPr>
          <a:lstStyle/>
          <a:p>
            <a:r>
              <a:rPr kumimoji="1" lang="zh-CN" altLang="en-US" dirty="0">
                <a:solidFill>
                  <a:srgbClr val="00319F"/>
                </a:solidFill>
                <a:sym typeface="+mn-lt"/>
              </a:rPr>
              <a:t>倍通</a:t>
            </a:r>
            <a:r>
              <a:rPr kumimoji="1" lang="en-US" altLang="zh-CN" dirty="0">
                <a:solidFill>
                  <a:srgbClr val="00319F"/>
                </a:solidFill>
                <a:sym typeface="+mn-lt"/>
              </a:rPr>
              <a:t>AI</a:t>
            </a:r>
            <a:r>
              <a:rPr kumimoji="1" lang="zh-CN" altLang="en-US" dirty="0">
                <a:solidFill>
                  <a:srgbClr val="00319F"/>
                </a:solidFill>
                <a:sym typeface="+mn-lt"/>
              </a:rPr>
              <a:t>预测产品线总结</a:t>
            </a:r>
          </a:p>
        </p:txBody>
      </p:sp>
      <p:sp>
        <p:nvSpPr>
          <p:cNvPr id="41" name="rect 1926">
            <a:extLst>
              <a:ext uri="{FF2B5EF4-FFF2-40B4-BE49-F238E27FC236}">
                <a16:creationId xmlns:a16="http://schemas.microsoft.com/office/drawing/2014/main" id="{9C31CF32-2868-01DC-D634-BF9CEF0A5171}"/>
              </a:ext>
            </a:extLst>
          </p:cNvPr>
          <p:cNvSpPr/>
          <p:nvPr/>
        </p:nvSpPr>
        <p:spPr>
          <a:xfrm>
            <a:off x="6760566" y="2"/>
            <a:ext cx="5431435" cy="6857998"/>
          </a:xfrm>
          <a:prstGeom prst="rect">
            <a:avLst/>
          </a:prstGeom>
          <a:solidFill>
            <a:srgbClr val="E0EBF6">
              <a:alpha val="4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7702E5A1-46A4-5E5A-B5CD-8C18F1C9AF71}"/>
              </a:ext>
            </a:extLst>
          </p:cNvPr>
          <p:cNvGrpSpPr>
            <a:grpSpLocks noChangeAspect="1"/>
          </p:cNvGrpSpPr>
          <p:nvPr/>
        </p:nvGrpSpPr>
        <p:grpSpPr>
          <a:xfrm>
            <a:off x="5824229" y="1206684"/>
            <a:ext cx="540000" cy="540000"/>
            <a:chOff x="298570" y="2503468"/>
            <a:chExt cx="715617" cy="715617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C1260BF2-FDAA-5BC9-45EC-76781CA87B06}"/>
                </a:ext>
              </a:extLst>
            </p:cNvPr>
            <p:cNvSpPr/>
            <p:nvPr/>
          </p:nvSpPr>
          <p:spPr>
            <a:xfrm>
              <a:off x="298570" y="2503468"/>
              <a:ext cx="715617" cy="715617"/>
            </a:xfrm>
            <a:prstGeom prst="ellipse">
              <a:avLst/>
            </a:prstGeom>
            <a:solidFill>
              <a:srgbClr val="C00000"/>
            </a:solidFill>
            <a:ln w="254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94320CC0-5CC1-FED6-FA60-1B2AD8AAE3C8}"/>
                </a:ext>
              </a:extLst>
            </p:cNvPr>
            <p:cNvSpPr/>
            <p:nvPr/>
          </p:nvSpPr>
          <p:spPr>
            <a:xfrm>
              <a:off x="520845" y="2749239"/>
              <a:ext cx="68235" cy="68235"/>
            </a:xfrm>
            <a:prstGeom prst="ellipse">
              <a:avLst/>
            </a:prstGeom>
            <a:solidFill>
              <a:schemeClr val="bg1"/>
            </a:solidFill>
            <a:ln w="158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9" name="椭圆 68">
              <a:extLst>
                <a:ext uri="{FF2B5EF4-FFF2-40B4-BE49-F238E27FC236}">
                  <a16:creationId xmlns:a16="http://schemas.microsoft.com/office/drawing/2014/main" id="{65C19FF2-CBCE-7F28-83CD-616E3C79BEC3}"/>
                </a:ext>
              </a:extLst>
            </p:cNvPr>
            <p:cNvSpPr/>
            <p:nvPr/>
          </p:nvSpPr>
          <p:spPr>
            <a:xfrm>
              <a:off x="720544" y="2742304"/>
              <a:ext cx="68235" cy="68235"/>
            </a:xfrm>
            <a:prstGeom prst="ellipse">
              <a:avLst/>
            </a:prstGeom>
            <a:solidFill>
              <a:schemeClr val="bg1"/>
            </a:solidFill>
            <a:ln w="158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5" name="椭圆 46">
              <a:extLst>
                <a:ext uri="{FF2B5EF4-FFF2-40B4-BE49-F238E27FC236}">
                  <a16:creationId xmlns:a16="http://schemas.microsoft.com/office/drawing/2014/main" id="{83E7DD69-BD1C-1A9D-72E2-9AC89B97B1A7}"/>
                </a:ext>
              </a:extLst>
            </p:cNvPr>
            <p:cNvSpPr/>
            <p:nvPr/>
          </p:nvSpPr>
          <p:spPr>
            <a:xfrm rot="10800000">
              <a:off x="508241" y="2958352"/>
              <a:ext cx="305471" cy="57112"/>
            </a:xfrm>
            <a:custGeom>
              <a:avLst/>
              <a:gdLst>
                <a:gd name="connsiteX0" fmla="*/ 0 w 444649"/>
                <a:gd name="connsiteY0" fmla="*/ 222325 h 444649"/>
                <a:gd name="connsiteX1" fmla="*/ 222325 w 444649"/>
                <a:gd name="connsiteY1" fmla="*/ 0 h 444649"/>
                <a:gd name="connsiteX2" fmla="*/ 444650 w 444649"/>
                <a:gd name="connsiteY2" fmla="*/ 222325 h 444649"/>
                <a:gd name="connsiteX3" fmla="*/ 222325 w 444649"/>
                <a:gd name="connsiteY3" fmla="*/ 444650 h 444649"/>
                <a:gd name="connsiteX4" fmla="*/ 0 w 444649"/>
                <a:gd name="connsiteY4" fmla="*/ 222325 h 444649"/>
                <a:gd name="connsiteX0" fmla="*/ 222325 w 444650"/>
                <a:gd name="connsiteY0" fmla="*/ 0 h 444650"/>
                <a:gd name="connsiteX1" fmla="*/ 444650 w 444650"/>
                <a:gd name="connsiteY1" fmla="*/ 222325 h 444650"/>
                <a:gd name="connsiteX2" fmla="*/ 222325 w 444650"/>
                <a:gd name="connsiteY2" fmla="*/ 444650 h 444650"/>
                <a:gd name="connsiteX3" fmla="*/ 0 w 444650"/>
                <a:gd name="connsiteY3" fmla="*/ 222325 h 444650"/>
                <a:gd name="connsiteX4" fmla="*/ 313765 w 444650"/>
                <a:gd name="connsiteY4" fmla="*/ 91440 h 444650"/>
                <a:gd name="connsiteX0" fmla="*/ 444650 w 444650"/>
                <a:gd name="connsiteY0" fmla="*/ 166488 h 388813"/>
                <a:gd name="connsiteX1" fmla="*/ 222325 w 444650"/>
                <a:gd name="connsiteY1" fmla="*/ 388813 h 388813"/>
                <a:gd name="connsiteX2" fmla="*/ 0 w 444650"/>
                <a:gd name="connsiteY2" fmla="*/ 166488 h 388813"/>
                <a:gd name="connsiteX3" fmla="*/ 313765 w 444650"/>
                <a:gd name="connsiteY3" fmla="*/ 35603 h 388813"/>
                <a:gd name="connsiteX0" fmla="*/ 444650 w 444650"/>
                <a:gd name="connsiteY0" fmla="*/ 0 h 222325"/>
                <a:gd name="connsiteX1" fmla="*/ 222325 w 444650"/>
                <a:gd name="connsiteY1" fmla="*/ 222325 h 222325"/>
                <a:gd name="connsiteX2" fmla="*/ 0 w 444650"/>
                <a:gd name="connsiteY2" fmla="*/ 0 h 222325"/>
                <a:gd name="connsiteX0" fmla="*/ 444650 w 444650"/>
                <a:gd name="connsiteY0" fmla="*/ 0 h 228301"/>
                <a:gd name="connsiteX1" fmla="*/ 390860 w 444650"/>
                <a:gd name="connsiteY1" fmla="*/ 150606 h 228301"/>
                <a:gd name="connsiteX2" fmla="*/ 222325 w 444650"/>
                <a:gd name="connsiteY2" fmla="*/ 222325 h 228301"/>
                <a:gd name="connsiteX3" fmla="*/ 0 w 444650"/>
                <a:gd name="connsiteY3" fmla="*/ 0 h 228301"/>
                <a:gd name="connsiteX0" fmla="*/ 444650 w 444650"/>
                <a:gd name="connsiteY0" fmla="*/ 0 h 222621"/>
                <a:gd name="connsiteX1" fmla="*/ 390860 w 444650"/>
                <a:gd name="connsiteY1" fmla="*/ 150606 h 222621"/>
                <a:gd name="connsiteX2" fmla="*/ 222325 w 444650"/>
                <a:gd name="connsiteY2" fmla="*/ 222325 h 222621"/>
                <a:gd name="connsiteX3" fmla="*/ 71716 w 444650"/>
                <a:gd name="connsiteY3" fmla="*/ 168536 h 222621"/>
                <a:gd name="connsiteX4" fmla="*/ 0 w 444650"/>
                <a:gd name="connsiteY4" fmla="*/ 0 h 222621"/>
                <a:gd name="connsiteX0" fmla="*/ 372934 w 372934"/>
                <a:gd name="connsiteY0" fmla="*/ 0 h 222621"/>
                <a:gd name="connsiteX1" fmla="*/ 319144 w 372934"/>
                <a:gd name="connsiteY1" fmla="*/ 150606 h 222621"/>
                <a:gd name="connsiteX2" fmla="*/ 150609 w 372934"/>
                <a:gd name="connsiteY2" fmla="*/ 222325 h 222621"/>
                <a:gd name="connsiteX3" fmla="*/ 0 w 372934"/>
                <a:gd name="connsiteY3" fmla="*/ 168536 h 222621"/>
                <a:gd name="connsiteX0" fmla="*/ 319144 w 319144"/>
                <a:gd name="connsiteY0" fmla="*/ 0 h 72015"/>
                <a:gd name="connsiteX1" fmla="*/ 150609 w 319144"/>
                <a:gd name="connsiteY1" fmla="*/ 71719 h 72015"/>
                <a:gd name="connsiteX2" fmla="*/ 0 w 319144"/>
                <a:gd name="connsiteY2" fmla="*/ 17930 h 72015"/>
                <a:gd name="connsiteX0" fmla="*/ 319144 w 319144"/>
                <a:gd name="connsiteY0" fmla="*/ 0 h 74463"/>
                <a:gd name="connsiteX1" fmla="*/ 183511 w 319144"/>
                <a:gd name="connsiteY1" fmla="*/ 74195 h 74463"/>
                <a:gd name="connsiteX2" fmla="*/ 0 w 319144"/>
                <a:gd name="connsiteY2" fmla="*/ 17930 h 74463"/>
                <a:gd name="connsiteX0" fmla="*/ 319144 w 319144"/>
                <a:gd name="connsiteY0" fmla="*/ 0 h 76915"/>
                <a:gd name="connsiteX1" fmla="*/ 160480 w 319144"/>
                <a:gd name="connsiteY1" fmla="*/ 76671 h 76915"/>
                <a:gd name="connsiteX2" fmla="*/ 0 w 319144"/>
                <a:gd name="connsiteY2" fmla="*/ 17930 h 76915"/>
                <a:gd name="connsiteX0" fmla="*/ 315855 w 315855"/>
                <a:gd name="connsiteY0" fmla="*/ 0 h 59339"/>
                <a:gd name="connsiteX1" fmla="*/ 160480 w 315855"/>
                <a:gd name="connsiteY1" fmla="*/ 59338 h 59339"/>
                <a:gd name="connsiteX2" fmla="*/ 0 w 315855"/>
                <a:gd name="connsiteY2" fmla="*/ 597 h 59339"/>
                <a:gd name="connsiteX0" fmla="*/ 322435 w 322435"/>
                <a:gd name="connsiteY0" fmla="*/ 0 h 74382"/>
                <a:gd name="connsiteX1" fmla="*/ 160480 w 322435"/>
                <a:gd name="connsiteY1" fmla="*/ 74195 h 74382"/>
                <a:gd name="connsiteX2" fmla="*/ 0 w 322435"/>
                <a:gd name="connsiteY2" fmla="*/ 15454 h 74382"/>
                <a:gd name="connsiteX0" fmla="*/ 325725 w 325725"/>
                <a:gd name="connsiteY0" fmla="*/ 0 h 69333"/>
                <a:gd name="connsiteX1" fmla="*/ 160480 w 325725"/>
                <a:gd name="connsiteY1" fmla="*/ 69242 h 69333"/>
                <a:gd name="connsiteX2" fmla="*/ 0 w 325725"/>
                <a:gd name="connsiteY2" fmla="*/ 10501 h 69333"/>
                <a:gd name="connsiteX0" fmla="*/ 325725 w 325725"/>
                <a:gd name="connsiteY0" fmla="*/ 0 h 69253"/>
                <a:gd name="connsiteX1" fmla="*/ 160480 w 325725"/>
                <a:gd name="connsiteY1" fmla="*/ 69242 h 69253"/>
                <a:gd name="connsiteX2" fmla="*/ 0 w 325725"/>
                <a:gd name="connsiteY2" fmla="*/ 10501 h 69253"/>
                <a:gd name="connsiteX0" fmla="*/ 338886 w 338886"/>
                <a:gd name="connsiteY0" fmla="*/ 4356 h 73609"/>
                <a:gd name="connsiteX1" fmla="*/ 173641 w 338886"/>
                <a:gd name="connsiteY1" fmla="*/ 73598 h 73609"/>
                <a:gd name="connsiteX2" fmla="*/ 0 w 338886"/>
                <a:gd name="connsiteY2" fmla="*/ 0 h 73609"/>
                <a:gd name="connsiteX0" fmla="*/ 345466 w 345466"/>
                <a:gd name="connsiteY0" fmla="*/ 0 h 69248"/>
                <a:gd name="connsiteX1" fmla="*/ 180221 w 345466"/>
                <a:gd name="connsiteY1" fmla="*/ 69242 h 69248"/>
                <a:gd name="connsiteX2" fmla="*/ 0 w 345466"/>
                <a:gd name="connsiteY2" fmla="*/ 3072 h 69248"/>
                <a:gd name="connsiteX0" fmla="*/ 345466 w 345466"/>
                <a:gd name="connsiteY0" fmla="*/ 0 h 69248"/>
                <a:gd name="connsiteX1" fmla="*/ 180221 w 345466"/>
                <a:gd name="connsiteY1" fmla="*/ 69242 h 69248"/>
                <a:gd name="connsiteX2" fmla="*/ 0 w 345466"/>
                <a:gd name="connsiteY2" fmla="*/ 3072 h 69248"/>
                <a:gd name="connsiteX0" fmla="*/ 358627 w 358627"/>
                <a:gd name="connsiteY0" fmla="*/ 0 h 71738"/>
                <a:gd name="connsiteX1" fmla="*/ 180221 w 358627"/>
                <a:gd name="connsiteY1" fmla="*/ 71718 h 71738"/>
                <a:gd name="connsiteX2" fmla="*/ 0 w 358627"/>
                <a:gd name="connsiteY2" fmla="*/ 5548 h 71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8627" h="71738">
                  <a:moveTo>
                    <a:pt x="358627" y="0"/>
                  </a:moveTo>
                  <a:cubicBezTo>
                    <a:pt x="321573" y="37054"/>
                    <a:pt x="239992" y="70793"/>
                    <a:pt x="180221" y="71718"/>
                  </a:cubicBezTo>
                  <a:cubicBezTo>
                    <a:pt x="120450" y="72643"/>
                    <a:pt x="37054" y="42602"/>
                    <a:pt x="0" y="5548"/>
                  </a:cubicBezTo>
                </a:path>
              </a:pathLst>
            </a:custGeom>
            <a:noFill/>
            <a:ln w="31750" cap="rnd">
              <a:solidFill>
                <a:schemeClr val="bg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151A572E-76A0-92F7-2855-2A59E584DB99}"/>
              </a:ext>
            </a:extLst>
          </p:cNvPr>
          <p:cNvGrpSpPr>
            <a:grpSpLocks noChangeAspect="1"/>
          </p:cNvGrpSpPr>
          <p:nvPr/>
        </p:nvGrpSpPr>
        <p:grpSpPr>
          <a:xfrm>
            <a:off x="9925553" y="1206684"/>
            <a:ext cx="540000" cy="540000"/>
            <a:chOff x="298570" y="2503468"/>
            <a:chExt cx="715617" cy="715617"/>
          </a:xfrm>
        </p:grpSpPr>
        <p:sp>
          <p:nvSpPr>
            <p:cNvPr id="77" name="椭圆 76">
              <a:extLst>
                <a:ext uri="{FF2B5EF4-FFF2-40B4-BE49-F238E27FC236}">
                  <a16:creationId xmlns:a16="http://schemas.microsoft.com/office/drawing/2014/main" id="{749DADDA-13E9-C395-CD84-32E66C32F662}"/>
                </a:ext>
              </a:extLst>
            </p:cNvPr>
            <p:cNvSpPr/>
            <p:nvPr/>
          </p:nvSpPr>
          <p:spPr>
            <a:xfrm>
              <a:off x="298570" y="2503468"/>
              <a:ext cx="715617" cy="715617"/>
            </a:xfrm>
            <a:prstGeom prst="ellipse">
              <a:avLst/>
            </a:prstGeom>
            <a:solidFill>
              <a:srgbClr val="00B050"/>
            </a:solidFill>
            <a:ln w="254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8" name="椭圆 77">
              <a:extLst>
                <a:ext uri="{FF2B5EF4-FFF2-40B4-BE49-F238E27FC236}">
                  <a16:creationId xmlns:a16="http://schemas.microsoft.com/office/drawing/2014/main" id="{86597052-B8B3-2ADD-2458-516570B61FAE}"/>
                </a:ext>
              </a:extLst>
            </p:cNvPr>
            <p:cNvSpPr/>
            <p:nvPr/>
          </p:nvSpPr>
          <p:spPr>
            <a:xfrm>
              <a:off x="520845" y="2749239"/>
              <a:ext cx="68235" cy="68235"/>
            </a:xfrm>
            <a:prstGeom prst="ellipse">
              <a:avLst/>
            </a:prstGeom>
            <a:solidFill>
              <a:schemeClr val="bg1"/>
            </a:solidFill>
            <a:ln w="158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9" name="椭圆 78">
              <a:extLst>
                <a:ext uri="{FF2B5EF4-FFF2-40B4-BE49-F238E27FC236}">
                  <a16:creationId xmlns:a16="http://schemas.microsoft.com/office/drawing/2014/main" id="{6DAB2030-2277-FC8A-AFB3-094009A370A3}"/>
                </a:ext>
              </a:extLst>
            </p:cNvPr>
            <p:cNvSpPr/>
            <p:nvPr/>
          </p:nvSpPr>
          <p:spPr>
            <a:xfrm>
              <a:off x="720544" y="2742304"/>
              <a:ext cx="68235" cy="68235"/>
            </a:xfrm>
            <a:prstGeom prst="ellipse">
              <a:avLst/>
            </a:prstGeom>
            <a:solidFill>
              <a:schemeClr val="bg1"/>
            </a:solidFill>
            <a:ln w="158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0" name="椭圆 46">
              <a:extLst>
                <a:ext uri="{FF2B5EF4-FFF2-40B4-BE49-F238E27FC236}">
                  <a16:creationId xmlns:a16="http://schemas.microsoft.com/office/drawing/2014/main" id="{A1362E06-D780-886A-77E8-C00A03AE42E2}"/>
                </a:ext>
              </a:extLst>
            </p:cNvPr>
            <p:cNvSpPr/>
            <p:nvPr/>
          </p:nvSpPr>
          <p:spPr>
            <a:xfrm>
              <a:off x="469211" y="2961760"/>
              <a:ext cx="390862" cy="103885"/>
            </a:xfrm>
            <a:custGeom>
              <a:avLst/>
              <a:gdLst>
                <a:gd name="connsiteX0" fmla="*/ 0 w 444649"/>
                <a:gd name="connsiteY0" fmla="*/ 222325 h 444649"/>
                <a:gd name="connsiteX1" fmla="*/ 222325 w 444649"/>
                <a:gd name="connsiteY1" fmla="*/ 0 h 444649"/>
                <a:gd name="connsiteX2" fmla="*/ 444650 w 444649"/>
                <a:gd name="connsiteY2" fmla="*/ 222325 h 444649"/>
                <a:gd name="connsiteX3" fmla="*/ 222325 w 444649"/>
                <a:gd name="connsiteY3" fmla="*/ 444650 h 444649"/>
                <a:gd name="connsiteX4" fmla="*/ 0 w 444649"/>
                <a:gd name="connsiteY4" fmla="*/ 222325 h 444649"/>
                <a:gd name="connsiteX0" fmla="*/ 222325 w 444650"/>
                <a:gd name="connsiteY0" fmla="*/ 0 h 444650"/>
                <a:gd name="connsiteX1" fmla="*/ 444650 w 444650"/>
                <a:gd name="connsiteY1" fmla="*/ 222325 h 444650"/>
                <a:gd name="connsiteX2" fmla="*/ 222325 w 444650"/>
                <a:gd name="connsiteY2" fmla="*/ 444650 h 444650"/>
                <a:gd name="connsiteX3" fmla="*/ 0 w 444650"/>
                <a:gd name="connsiteY3" fmla="*/ 222325 h 444650"/>
                <a:gd name="connsiteX4" fmla="*/ 313765 w 444650"/>
                <a:gd name="connsiteY4" fmla="*/ 91440 h 444650"/>
                <a:gd name="connsiteX0" fmla="*/ 444650 w 444650"/>
                <a:gd name="connsiteY0" fmla="*/ 166488 h 388813"/>
                <a:gd name="connsiteX1" fmla="*/ 222325 w 444650"/>
                <a:gd name="connsiteY1" fmla="*/ 388813 h 388813"/>
                <a:gd name="connsiteX2" fmla="*/ 0 w 444650"/>
                <a:gd name="connsiteY2" fmla="*/ 166488 h 388813"/>
                <a:gd name="connsiteX3" fmla="*/ 313765 w 444650"/>
                <a:gd name="connsiteY3" fmla="*/ 35603 h 388813"/>
                <a:gd name="connsiteX0" fmla="*/ 444650 w 444650"/>
                <a:gd name="connsiteY0" fmla="*/ 0 h 222325"/>
                <a:gd name="connsiteX1" fmla="*/ 222325 w 444650"/>
                <a:gd name="connsiteY1" fmla="*/ 222325 h 222325"/>
                <a:gd name="connsiteX2" fmla="*/ 0 w 444650"/>
                <a:gd name="connsiteY2" fmla="*/ 0 h 222325"/>
                <a:gd name="connsiteX0" fmla="*/ 444650 w 444650"/>
                <a:gd name="connsiteY0" fmla="*/ 0 h 228301"/>
                <a:gd name="connsiteX1" fmla="*/ 390860 w 444650"/>
                <a:gd name="connsiteY1" fmla="*/ 150606 h 228301"/>
                <a:gd name="connsiteX2" fmla="*/ 222325 w 444650"/>
                <a:gd name="connsiteY2" fmla="*/ 222325 h 228301"/>
                <a:gd name="connsiteX3" fmla="*/ 0 w 444650"/>
                <a:gd name="connsiteY3" fmla="*/ 0 h 228301"/>
                <a:gd name="connsiteX0" fmla="*/ 444650 w 444650"/>
                <a:gd name="connsiteY0" fmla="*/ 0 h 222621"/>
                <a:gd name="connsiteX1" fmla="*/ 390860 w 444650"/>
                <a:gd name="connsiteY1" fmla="*/ 150606 h 222621"/>
                <a:gd name="connsiteX2" fmla="*/ 222325 w 444650"/>
                <a:gd name="connsiteY2" fmla="*/ 222325 h 222621"/>
                <a:gd name="connsiteX3" fmla="*/ 71716 w 444650"/>
                <a:gd name="connsiteY3" fmla="*/ 168536 h 222621"/>
                <a:gd name="connsiteX4" fmla="*/ 0 w 444650"/>
                <a:gd name="connsiteY4" fmla="*/ 0 h 222621"/>
                <a:gd name="connsiteX0" fmla="*/ 372934 w 372934"/>
                <a:gd name="connsiteY0" fmla="*/ 0 h 222621"/>
                <a:gd name="connsiteX1" fmla="*/ 319144 w 372934"/>
                <a:gd name="connsiteY1" fmla="*/ 150606 h 222621"/>
                <a:gd name="connsiteX2" fmla="*/ 150609 w 372934"/>
                <a:gd name="connsiteY2" fmla="*/ 222325 h 222621"/>
                <a:gd name="connsiteX3" fmla="*/ 0 w 372934"/>
                <a:gd name="connsiteY3" fmla="*/ 168536 h 222621"/>
                <a:gd name="connsiteX0" fmla="*/ 319144 w 319144"/>
                <a:gd name="connsiteY0" fmla="*/ 0 h 72015"/>
                <a:gd name="connsiteX1" fmla="*/ 150609 w 319144"/>
                <a:gd name="connsiteY1" fmla="*/ 71719 h 72015"/>
                <a:gd name="connsiteX2" fmla="*/ 0 w 319144"/>
                <a:gd name="connsiteY2" fmla="*/ 17930 h 72015"/>
                <a:gd name="connsiteX0" fmla="*/ 319144 w 319144"/>
                <a:gd name="connsiteY0" fmla="*/ 0 h 74463"/>
                <a:gd name="connsiteX1" fmla="*/ 183511 w 319144"/>
                <a:gd name="connsiteY1" fmla="*/ 74195 h 74463"/>
                <a:gd name="connsiteX2" fmla="*/ 0 w 319144"/>
                <a:gd name="connsiteY2" fmla="*/ 17930 h 74463"/>
                <a:gd name="connsiteX0" fmla="*/ 319144 w 319144"/>
                <a:gd name="connsiteY0" fmla="*/ 0 h 76915"/>
                <a:gd name="connsiteX1" fmla="*/ 160480 w 319144"/>
                <a:gd name="connsiteY1" fmla="*/ 76671 h 76915"/>
                <a:gd name="connsiteX2" fmla="*/ 0 w 319144"/>
                <a:gd name="connsiteY2" fmla="*/ 17930 h 76915"/>
                <a:gd name="connsiteX0" fmla="*/ 315855 w 315855"/>
                <a:gd name="connsiteY0" fmla="*/ 0 h 59339"/>
                <a:gd name="connsiteX1" fmla="*/ 160480 w 315855"/>
                <a:gd name="connsiteY1" fmla="*/ 59338 h 59339"/>
                <a:gd name="connsiteX2" fmla="*/ 0 w 315855"/>
                <a:gd name="connsiteY2" fmla="*/ 597 h 59339"/>
                <a:gd name="connsiteX0" fmla="*/ 322435 w 322435"/>
                <a:gd name="connsiteY0" fmla="*/ 0 h 74382"/>
                <a:gd name="connsiteX1" fmla="*/ 160480 w 322435"/>
                <a:gd name="connsiteY1" fmla="*/ 74195 h 74382"/>
                <a:gd name="connsiteX2" fmla="*/ 0 w 322435"/>
                <a:gd name="connsiteY2" fmla="*/ 15454 h 74382"/>
                <a:gd name="connsiteX0" fmla="*/ 325725 w 325725"/>
                <a:gd name="connsiteY0" fmla="*/ 0 h 69333"/>
                <a:gd name="connsiteX1" fmla="*/ 160480 w 325725"/>
                <a:gd name="connsiteY1" fmla="*/ 69242 h 69333"/>
                <a:gd name="connsiteX2" fmla="*/ 0 w 325725"/>
                <a:gd name="connsiteY2" fmla="*/ 10501 h 69333"/>
                <a:gd name="connsiteX0" fmla="*/ 325725 w 325725"/>
                <a:gd name="connsiteY0" fmla="*/ 0 h 69253"/>
                <a:gd name="connsiteX1" fmla="*/ 160480 w 325725"/>
                <a:gd name="connsiteY1" fmla="*/ 69242 h 69253"/>
                <a:gd name="connsiteX2" fmla="*/ 0 w 325725"/>
                <a:gd name="connsiteY2" fmla="*/ 10501 h 69253"/>
                <a:gd name="connsiteX0" fmla="*/ 338886 w 338886"/>
                <a:gd name="connsiteY0" fmla="*/ 4356 h 73609"/>
                <a:gd name="connsiteX1" fmla="*/ 173641 w 338886"/>
                <a:gd name="connsiteY1" fmla="*/ 73598 h 73609"/>
                <a:gd name="connsiteX2" fmla="*/ 0 w 338886"/>
                <a:gd name="connsiteY2" fmla="*/ 0 h 73609"/>
                <a:gd name="connsiteX0" fmla="*/ 345466 w 345466"/>
                <a:gd name="connsiteY0" fmla="*/ 0 h 69248"/>
                <a:gd name="connsiteX1" fmla="*/ 180221 w 345466"/>
                <a:gd name="connsiteY1" fmla="*/ 69242 h 69248"/>
                <a:gd name="connsiteX2" fmla="*/ 0 w 345466"/>
                <a:gd name="connsiteY2" fmla="*/ 3072 h 69248"/>
                <a:gd name="connsiteX0" fmla="*/ 345466 w 345466"/>
                <a:gd name="connsiteY0" fmla="*/ 0 h 69248"/>
                <a:gd name="connsiteX1" fmla="*/ 180221 w 345466"/>
                <a:gd name="connsiteY1" fmla="*/ 69242 h 69248"/>
                <a:gd name="connsiteX2" fmla="*/ 0 w 345466"/>
                <a:gd name="connsiteY2" fmla="*/ 3072 h 69248"/>
                <a:gd name="connsiteX0" fmla="*/ 358627 w 358627"/>
                <a:gd name="connsiteY0" fmla="*/ 0 h 71738"/>
                <a:gd name="connsiteX1" fmla="*/ 180221 w 358627"/>
                <a:gd name="connsiteY1" fmla="*/ 71718 h 71738"/>
                <a:gd name="connsiteX2" fmla="*/ 0 w 358627"/>
                <a:gd name="connsiteY2" fmla="*/ 5548 h 71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8627" h="71738">
                  <a:moveTo>
                    <a:pt x="358627" y="0"/>
                  </a:moveTo>
                  <a:cubicBezTo>
                    <a:pt x="321573" y="37054"/>
                    <a:pt x="239992" y="70793"/>
                    <a:pt x="180221" y="71718"/>
                  </a:cubicBezTo>
                  <a:cubicBezTo>
                    <a:pt x="120450" y="72643"/>
                    <a:pt x="37054" y="42602"/>
                    <a:pt x="0" y="5548"/>
                  </a:cubicBezTo>
                </a:path>
              </a:pathLst>
            </a:custGeom>
            <a:noFill/>
            <a:ln w="31750" cap="rnd">
              <a:solidFill>
                <a:schemeClr val="bg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6A79C648-D3BA-4FCC-9B39-3EDC0B673E75}"/>
              </a:ext>
            </a:extLst>
          </p:cNvPr>
          <p:cNvGrpSpPr/>
          <p:nvPr/>
        </p:nvGrpSpPr>
        <p:grpSpPr>
          <a:xfrm>
            <a:off x="6544566" y="3849805"/>
            <a:ext cx="432000" cy="432000"/>
            <a:chOff x="5869787" y="3275224"/>
            <a:chExt cx="432000" cy="432000"/>
          </a:xfrm>
        </p:grpSpPr>
        <p:sp>
          <p:nvSpPr>
            <p:cNvPr id="82" name="椭圆 81">
              <a:extLst>
                <a:ext uri="{FF2B5EF4-FFF2-40B4-BE49-F238E27FC236}">
                  <a16:creationId xmlns:a16="http://schemas.microsoft.com/office/drawing/2014/main" id="{79543CD2-6490-BF6B-2638-278FA3CDC00D}"/>
                </a:ext>
              </a:extLst>
            </p:cNvPr>
            <p:cNvSpPr/>
            <p:nvPr/>
          </p:nvSpPr>
          <p:spPr>
            <a:xfrm>
              <a:off x="5869787" y="3275224"/>
              <a:ext cx="432000" cy="432000"/>
            </a:xfrm>
            <a:prstGeom prst="ellipse">
              <a:avLst/>
            </a:prstGeom>
            <a:solidFill>
              <a:srgbClr val="00319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Google Shape;1460;p70">
              <a:extLst>
                <a:ext uri="{FF2B5EF4-FFF2-40B4-BE49-F238E27FC236}">
                  <a16:creationId xmlns:a16="http://schemas.microsoft.com/office/drawing/2014/main" id="{DDF7E7F5-1F74-14A2-D0C1-1E2F38B9C8A1}"/>
                </a:ext>
              </a:extLst>
            </p:cNvPr>
            <p:cNvSpPr/>
            <p:nvPr/>
          </p:nvSpPr>
          <p:spPr>
            <a:xfrm>
              <a:off x="6000250" y="3401224"/>
              <a:ext cx="171075" cy="180000"/>
            </a:xfrm>
            <a:custGeom>
              <a:avLst/>
              <a:gdLst/>
              <a:ahLst/>
              <a:cxnLst/>
              <a:rect l="l" t="t" r="r" b="b"/>
              <a:pathLst>
                <a:path w="2626" h="2179" extrusionOk="0">
                  <a:moveTo>
                    <a:pt x="0" y="1"/>
                  </a:moveTo>
                  <a:lnTo>
                    <a:pt x="887" y="1090"/>
                  </a:lnTo>
                  <a:lnTo>
                    <a:pt x="0" y="2179"/>
                  </a:lnTo>
                  <a:lnTo>
                    <a:pt x="1644" y="2179"/>
                  </a:lnTo>
                  <a:lnTo>
                    <a:pt x="2625" y="1090"/>
                  </a:lnTo>
                  <a:lnTo>
                    <a:pt x="1644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</p:grpSp>
      <p:sp>
        <p:nvSpPr>
          <p:cNvPr id="84" name="path 718">
            <a:extLst>
              <a:ext uri="{FF2B5EF4-FFF2-40B4-BE49-F238E27FC236}">
                <a16:creationId xmlns:a16="http://schemas.microsoft.com/office/drawing/2014/main" id="{941400DE-483B-6CCB-07B3-9E67C3595DD9}"/>
              </a:ext>
            </a:extLst>
          </p:cNvPr>
          <p:cNvSpPr/>
          <p:nvPr/>
        </p:nvSpPr>
        <p:spPr>
          <a:xfrm flipV="1">
            <a:off x="2667654" y="3257732"/>
            <a:ext cx="3816000" cy="36000"/>
          </a:xfrm>
          <a:custGeom>
            <a:avLst/>
            <a:gdLst/>
            <a:ahLst/>
            <a:cxnLst/>
            <a:rect l="0" t="0" r="0" b="0"/>
            <a:pathLst>
              <a:path w="8638" h="15">
                <a:moveTo>
                  <a:pt x="7" y="7"/>
                </a:moveTo>
                <a:lnTo>
                  <a:pt x="8631" y="7"/>
                </a:lnTo>
              </a:path>
            </a:pathLst>
          </a:custGeom>
          <a:noFill/>
          <a:ln w="9525" cap="rnd">
            <a:solidFill>
              <a:srgbClr val="9A9A9A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5" name="textbox 54">
            <a:extLst>
              <a:ext uri="{FF2B5EF4-FFF2-40B4-BE49-F238E27FC236}">
                <a16:creationId xmlns:a16="http://schemas.microsoft.com/office/drawing/2014/main" id="{79391C9C-6E07-9E8C-E13D-35B1CEB7F638}"/>
              </a:ext>
            </a:extLst>
          </p:cNvPr>
          <p:cNvSpPr/>
          <p:nvPr/>
        </p:nvSpPr>
        <p:spPr>
          <a:xfrm>
            <a:off x="2332910" y="2023730"/>
            <a:ext cx="72000" cy="1259205"/>
          </a:xfrm>
          <a:prstGeom prst="rect">
            <a:avLst/>
          </a:prstGeom>
          <a:solidFill>
            <a:srgbClr val="00319F"/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  <a:tabLst/>
            </a:pPr>
            <a:endParaRPr sz="1500" dirty="0">
              <a:latin typeface="Segoe UI"/>
              <a:ea typeface="Segoe UI"/>
              <a:cs typeface="Segoe UI"/>
            </a:endParaRP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43B6780F-4D00-90D5-D352-B10F9D1F1F6F}"/>
              </a:ext>
            </a:extLst>
          </p:cNvPr>
          <p:cNvSpPr/>
          <p:nvPr/>
        </p:nvSpPr>
        <p:spPr>
          <a:xfrm>
            <a:off x="389120" y="2023730"/>
            <a:ext cx="1869432" cy="1259205"/>
          </a:xfrm>
          <a:prstGeom prst="rect">
            <a:avLst/>
          </a:prstGeom>
          <a:solidFill>
            <a:srgbClr val="0031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3000"/>
              </a:lnSpc>
            </a:pP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产品中期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ts val="3000"/>
              </a:lnSpc>
            </a:pP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需求预测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textbox 54">
            <a:extLst>
              <a:ext uri="{FF2B5EF4-FFF2-40B4-BE49-F238E27FC236}">
                <a16:creationId xmlns:a16="http://schemas.microsoft.com/office/drawing/2014/main" id="{3045C42C-9FE8-804A-0DD2-849BDBAB694E}"/>
              </a:ext>
            </a:extLst>
          </p:cNvPr>
          <p:cNvSpPr/>
          <p:nvPr/>
        </p:nvSpPr>
        <p:spPr>
          <a:xfrm>
            <a:off x="2332910" y="3436203"/>
            <a:ext cx="72000" cy="1259205"/>
          </a:xfrm>
          <a:prstGeom prst="rect">
            <a:avLst/>
          </a:prstGeom>
          <a:solidFill>
            <a:srgbClr val="00319F"/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  <a:tabLst/>
            </a:pPr>
            <a:endParaRPr sz="1500" dirty="0">
              <a:latin typeface="Segoe UI"/>
              <a:ea typeface="Segoe UI"/>
              <a:cs typeface="Segoe UI"/>
            </a:endParaRP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B4FC6E95-BBD5-FDAB-9E51-0DAA9412D714}"/>
              </a:ext>
            </a:extLst>
          </p:cNvPr>
          <p:cNvSpPr/>
          <p:nvPr/>
        </p:nvSpPr>
        <p:spPr>
          <a:xfrm>
            <a:off x="389120" y="3436203"/>
            <a:ext cx="1869432" cy="1259205"/>
          </a:xfrm>
          <a:prstGeom prst="rect">
            <a:avLst/>
          </a:prstGeom>
          <a:solidFill>
            <a:srgbClr val="0031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30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当月达成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ts val="30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滚动预测</a:t>
            </a:r>
          </a:p>
        </p:txBody>
      </p:sp>
      <p:sp>
        <p:nvSpPr>
          <p:cNvPr id="89" name="textbox 54">
            <a:extLst>
              <a:ext uri="{FF2B5EF4-FFF2-40B4-BE49-F238E27FC236}">
                <a16:creationId xmlns:a16="http://schemas.microsoft.com/office/drawing/2014/main" id="{620F1E4F-F26D-583A-0C17-57E033A6CA56}"/>
              </a:ext>
            </a:extLst>
          </p:cNvPr>
          <p:cNvSpPr/>
          <p:nvPr/>
        </p:nvSpPr>
        <p:spPr>
          <a:xfrm>
            <a:off x="2332910" y="4870285"/>
            <a:ext cx="72000" cy="1259205"/>
          </a:xfrm>
          <a:prstGeom prst="rect">
            <a:avLst/>
          </a:prstGeom>
          <a:solidFill>
            <a:srgbClr val="00319F"/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  <a:tabLst/>
            </a:pPr>
            <a:endParaRPr sz="1500" dirty="0">
              <a:latin typeface="Segoe UI"/>
              <a:ea typeface="Segoe UI"/>
              <a:cs typeface="Segoe UI"/>
            </a:endParaRP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A06D6841-817E-70D1-CF9C-888017FB3C3E}"/>
              </a:ext>
            </a:extLst>
          </p:cNvPr>
          <p:cNvSpPr/>
          <p:nvPr/>
        </p:nvSpPr>
        <p:spPr>
          <a:xfrm>
            <a:off x="389120" y="4870285"/>
            <a:ext cx="1869432" cy="1259205"/>
          </a:xfrm>
          <a:prstGeom prst="rect">
            <a:avLst/>
          </a:prstGeom>
          <a:solidFill>
            <a:srgbClr val="0031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30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医院采购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ts val="30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需求预测</a:t>
            </a: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AFC5A16E-C7AA-960D-0A5D-6674E96EF4B1}"/>
              </a:ext>
            </a:extLst>
          </p:cNvPr>
          <p:cNvSpPr txBox="1"/>
          <p:nvPr/>
        </p:nvSpPr>
        <p:spPr>
          <a:xfrm>
            <a:off x="2676837" y="1015019"/>
            <a:ext cx="288732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5400" b="1" dirty="0">
                <a:solidFill>
                  <a:srgbClr val="00329F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rPr>
              <a:t>BEFORE</a:t>
            </a:r>
            <a:endParaRPr kumimoji="1" lang="zh-CN" altLang="en-US" sz="5400" b="1" dirty="0">
              <a:solidFill>
                <a:srgbClr val="00329F"/>
              </a:solidFill>
              <a:latin typeface="Alibaba PuHuiTi Medium" pitchFamily="18" charset="-122"/>
              <a:ea typeface="Alibaba PuHuiTi Medium" pitchFamily="18" charset="-122"/>
              <a:cs typeface="Alibaba PuHuiTi Medium" pitchFamily="18" charset="-122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A71C767F-C4E2-897B-8E8E-B3EEF710B73A}"/>
              </a:ext>
            </a:extLst>
          </p:cNvPr>
          <p:cNvSpPr txBox="1"/>
          <p:nvPr/>
        </p:nvSpPr>
        <p:spPr>
          <a:xfrm>
            <a:off x="7251881" y="1015019"/>
            <a:ext cx="241360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5400" b="1" dirty="0">
                <a:solidFill>
                  <a:srgbClr val="00329F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rPr>
              <a:t>AFTER</a:t>
            </a:r>
            <a:endParaRPr kumimoji="1" lang="zh-CN" altLang="en-US" sz="5400" b="1" dirty="0">
              <a:solidFill>
                <a:srgbClr val="00329F"/>
              </a:solidFill>
              <a:latin typeface="Alibaba PuHuiTi Medium" pitchFamily="18" charset="-122"/>
              <a:ea typeface="Alibaba PuHuiTi Medium" pitchFamily="18" charset="-122"/>
              <a:cs typeface="Alibaba PuHuiTi Medium" pitchFamily="18" charset="-122"/>
            </a:endParaRPr>
          </a:p>
        </p:txBody>
      </p:sp>
      <p:sp>
        <p:nvSpPr>
          <p:cNvPr id="93" name="path 718">
            <a:extLst>
              <a:ext uri="{FF2B5EF4-FFF2-40B4-BE49-F238E27FC236}">
                <a16:creationId xmlns:a16="http://schemas.microsoft.com/office/drawing/2014/main" id="{A4DC5177-B644-BEE4-D4C2-6C379AB3296F}"/>
              </a:ext>
            </a:extLst>
          </p:cNvPr>
          <p:cNvSpPr/>
          <p:nvPr/>
        </p:nvSpPr>
        <p:spPr>
          <a:xfrm flipV="1">
            <a:off x="2667654" y="4698279"/>
            <a:ext cx="3816000" cy="36000"/>
          </a:xfrm>
          <a:custGeom>
            <a:avLst/>
            <a:gdLst/>
            <a:ahLst/>
            <a:cxnLst/>
            <a:rect l="0" t="0" r="0" b="0"/>
            <a:pathLst>
              <a:path w="8638" h="15">
                <a:moveTo>
                  <a:pt x="7" y="7"/>
                </a:moveTo>
                <a:lnTo>
                  <a:pt x="8631" y="7"/>
                </a:lnTo>
              </a:path>
            </a:pathLst>
          </a:custGeom>
          <a:noFill/>
          <a:ln w="9525" cap="rnd">
            <a:solidFill>
              <a:srgbClr val="9A9A9A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4" name="path 718">
            <a:extLst>
              <a:ext uri="{FF2B5EF4-FFF2-40B4-BE49-F238E27FC236}">
                <a16:creationId xmlns:a16="http://schemas.microsoft.com/office/drawing/2014/main" id="{4DE1F679-9F65-22DF-2346-BA86E78652F6}"/>
              </a:ext>
            </a:extLst>
          </p:cNvPr>
          <p:cNvSpPr/>
          <p:nvPr/>
        </p:nvSpPr>
        <p:spPr>
          <a:xfrm flipV="1">
            <a:off x="7251881" y="3258639"/>
            <a:ext cx="4428000" cy="36000"/>
          </a:xfrm>
          <a:custGeom>
            <a:avLst/>
            <a:gdLst/>
            <a:ahLst/>
            <a:cxnLst/>
            <a:rect l="0" t="0" r="0" b="0"/>
            <a:pathLst>
              <a:path w="8638" h="15">
                <a:moveTo>
                  <a:pt x="7" y="7"/>
                </a:moveTo>
                <a:lnTo>
                  <a:pt x="8631" y="7"/>
                </a:lnTo>
              </a:path>
            </a:pathLst>
          </a:custGeom>
          <a:noFill/>
          <a:ln w="9525" cap="rnd">
            <a:solidFill>
              <a:srgbClr val="9A9A9A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5" name="path 718">
            <a:extLst>
              <a:ext uri="{FF2B5EF4-FFF2-40B4-BE49-F238E27FC236}">
                <a16:creationId xmlns:a16="http://schemas.microsoft.com/office/drawing/2014/main" id="{DB130DDF-EBB1-7F74-FB62-FB7C1932CB53}"/>
              </a:ext>
            </a:extLst>
          </p:cNvPr>
          <p:cNvSpPr/>
          <p:nvPr/>
        </p:nvSpPr>
        <p:spPr>
          <a:xfrm flipV="1">
            <a:off x="7270459" y="4683873"/>
            <a:ext cx="4428000" cy="36000"/>
          </a:xfrm>
          <a:custGeom>
            <a:avLst/>
            <a:gdLst/>
            <a:ahLst/>
            <a:cxnLst/>
            <a:rect l="0" t="0" r="0" b="0"/>
            <a:pathLst>
              <a:path w="8638" h="15">
                <a:moveTo>
                  <a:pt x="7" y="7"/>
                </a:moveTo>
                <a:lnTo>
                  <a:pt x="8631" y="7"/>
                </a:lnTo>
              </a:path>
            </a:pathLst>
          </a:custGeom>
          <a:noFill/>
          <a:ln w="9525" cap="rnd">
            <a:solidFill>
              <a:srgbClr val="9A9A9A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3B1CCDEE-4703-243C-E4D6-91B74C4A5523}"/>
              </a:ext>
            </a:extLst>
          </p:cNvPr>
          <p:cNvSpPr txBox="1"/>
          <p:nvPr/>
        </p:nvSpPr>
        <p:spPr>
          <a:xfrm>
            <a:off x="2767519" y="2282269"/>
            <a:ext cx="3176487" cy="742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600"/>
              </a:lnSpc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ria"/>
                <a:ea typeface="微软雅黑" panose="020B0503020204020204" pitchFamily="34" charset="-122"/>
                <a:cs typeface="Arial" panose="020B0604020202020204" pitchFamily="34" charset="0"/>
              </a:rPr>
              <a:t>每个部门各报各的，</a:t>
            </a:r>
          </a:p>
          <a:p>
            <a:pPr lvl="0">
              <a:lnSpc>
                <a:spcPts val="2600"/>
              </a:lnSpc>
              <a:defRPr/>
            </a:pP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ria"/>
                <a:ea typeface="微软雅黑" panose="020B0503020204020204" pitchFamily="34" charset="-122"/>
                <a:cs typeface="Arial" panose="020B0604020202020204" pitchFamily="34" charset="0"/>
              </a:rPr>
              <a:t>排产计划凭经验、有博弈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Aria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6FD7269C-9F4B-F853-A102-4DD8474110E0}"/>
              </a:ext>
            </a:extLst>
          </p:cNvPr>
          <p:cNvSpPr txBox="1"/>
          <p:nvPr/>
        </p:nvSpPr>
        <p:spPr>
          <a:xfrm>
            <a:off x="7246534" y="2116982"/>
            <a:ext cx="3176487" cy="1068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600"/>
              </a:lnSpc>
              <a:buClrTx/>
              <a:buSzTx/>
              <a:buFontTx/>
              <a:buNone/>
              <a:tabLst/>
              <a:defRPr/>
            </a:pPr>
            <a:r>
              <a:rPr lang="zh-CN" altLang="en-US" b="1" dirty="0">
                <a:solidFill>
                  <a:srgbClr val="00319F"/>
                </a:solidFill>
                <a:latin typeface="Aria"/>
                <a:ea typeface="微软雅黑" panose="020B0503020204020204" pitchFamily="34" charset="-122"/>
                <a:cs typeface="Arial" panose="020B0604020202020204" pitchFamily="34" charset="0"/>
              </a:rPr>
              <a:t>统一需求基线</a:t>
            </a:r>
            <a:endParaRPr lang="en-US" altLang="zh-CN" b="1" dirty="0">
              <a:solidFill>
                <a:srgbClr val="00319F"/>
              </a:solidFill>
              <a:latin typeface="Aria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ts val="2600"/>
              </a:lnSpc>
              <a:buClrTx/>
              <a:buSzTx/>
              <a:buFontTx/>
              <a:buNone/>
              <a:tabLst/>
              <a:defRPr/>
            </a:pPr>
            <a:r>
              <a:rPr lang="zh-CN" altLang="en-US" b="1" dirty="0">
                <a:solidFill>
                  <a:srgbClr val="00319F"/>
                </a:solidFill>
                <a:latin typeface="Aria"/>
                <a:ea typeface="微软雅黑" panose="020B0503020204020204" pitchFamily="34" charset="-122"/>
                <a:cs typeface="Arial" panose="020B0604020202020204" pitchFamily="34" charset="0"/>
              </a:rPr>
              <a:t>（未来</a:t>
            </a:r>
            <a:r>
              <a:rPr lang="en-US" altLang="zh-CN" b="1" dirty="0">
                <a:solidFill>
                  <a:srgbClr val="00319F"/>
                </a:solidFill>
                <a:latin typeface="Aria"/>
                <a:ea typeface="微软雅黑" panose="020B0503020204020204" pitchFamily="34" charset="-122"/>
                <a:cs typeface="Arial" panose="020B0604020202020204" pitchFamily="34" charset="0"/>
              </a:rPr>
              <a:t>6</a:t>
            </a:r>
            <a:r>
              <a:rPr lang="zh-CN" altLang="en-US" b="1" dirty="0">
                <a:solidFill>
                  <a:srgbClr val="00319F"/>
                </a:solidFill>
                <a:latin typeface="Aria"/>
                <a:ea typeface="微软雅黑" panose="020B0503020204020204" pitchFamily="34" charset="-122"/>
                <a:cs typeface="Arial" panose="020B0604020202020204" pitchFamily="34" charset="0"/>
              </a:rPr>
              <a:t>个月需求预测），</a:t>
            </a:r>
            <a:endParaRPr lang="en-US" altLang="zh-CN" b="1" dirty="0">
              <a:solidFill>
                <a:srgbClr val="00319F"/>
              </a:solidFill>
              <a:latin typeface="Aria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ts val="2600"/>
              </a:lnSpc>
              <a:buClrTx/>
              <a:buSzTx/>
              <a:buFontTx/>
              <a:buNone/>
              <a:tabLst/>
              <a:defRPr/>
            </a:pPr>
            <a:r>
              <a:rPr lang="zh-CN" altLang="en-US" b="1" dirty="0">
                <a:solidFill>
                  <a:srgbClr val="00319F"/>
                </a:solidFill>
                <a:latin typeface="Aria"/>
                <a:ea typeface="微软雅黑" panose="020B0503020204020204" pitchFamily="34" charset="-122"/>
                <a:cs typeface="Arial" panose="020B0604020202020204" pitchFamily="34" charset="0"/>
              </a:rPr>
              <a:t>各方在同一套数据上对话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rgbClr val="00319F"/>
              </a:solidFill>
              <a:effectLst/>
              <a:uLnTx/>
              <a:uFillTx/>
              <a:latin typeface="Aria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CEF80962-18FD-B887-398B-A208A2BD96E1}"/>
              </a:ext>
            </a:extLst>
          </p:cNvPr>
          <p:cNvSpPr txBox="1"/>
          <p:nvPr/>
        </p:nvSpPr>
        <p:spPr>
          <a:xfrm>
            <a:off x="2767519" y="3694742"/>
            <a:ext cx="3149945" cy="742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600"/>
              </a:lnSpc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Aria"/>
                <a:ea typeface="微软雅黑" panose="020B0503020204020204" pitchFamily="34" charset="-122"/>
                <a:cs typeface="Arial" panose="020B0604020202020204" pitchFamily="34" charset="0"/>
              </a:rPr>
              <a:t>DDI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ria"/>
                <a:ea typeface="微软雅黑" panose="020B0503020204020204" pitchFamily="34" charset="-122"/>
                <a:cs typeface="Arial" panose="020B0604020202020204" pitchFamily="34" charset="0"/>
              </a:rPr>
              <a:t>进度看得到，但月底能做到多少，全靠销售报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Aria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20117371-FC49-123C-39F8-B63039F4A095}"/>
              </a:ext>
            </a:extLst>
          </p:cNvPr>
          <p:cNvSpPr txBox="1"/>
          <p:nvPr/>
        </p:nvSpPr>
        <p:spPr>
          <a:xfrm>
            <a:off x="7246534" y="3694742"/>
            <a:ext cx="3176487" cy="7354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600"/>
              </a:lnSpc>
              <a:buClrTx/>
              <a:buSzTx/>
              <a:buFontTx/>
              <a:buNone/>
              <a:tabLst/>
              <a:defRPr/>
            </a:pPr>
            <a:r>
              <a:rPr lang="zh-CN" altLang="en-US" b="1" dirty="0">
                <a:solidFill>
                  <a:srgbClr val="00319F"/>
                </a:solidFill>
                <a:latin typeface="Aria"/>
                <a:ea typeface="微软雅黑" panose="020B0503020204020204" pitchFamily="34" charset="-122"/>
                <a:cs typeface="Arial" panose="020B0604020202020204" pitchFamily="34" charset="0"/>
              </a:rPr>
              <a:t>收到</a:t>
            </a:r>
            <a:r>
              <a:rPr lang="en-US" altLang="zh-CN" b="1" dirty="0">
                <a:solidFill>
                  <a:srgbClr val="00319F"/>
                </a:solidFill>
                <a:latin typeface="Aria"/>
                <a:ea typeface="微软雅黑" panose="020B0503020204020204" pitchFamily="34" charset="-122"/>
                <a:cs typeface="Arial" panose="020B0604020202020204" pitchFamily="34" charset="0"/>
              </a:rPr>
              <a:t>DDI</a:t>
            </a:r>
            <a:r>
              <a:rPr lang="zh-CN" altLang="en-US" b="1" dirty="0">
                <a:solidFill>
                  <a:srgbClr val="00319F"/>
                </a:solidFill>
                <a:latin typeface="Aria"/>
                <a:ea typeface="微软雅黑" panose="020B0503020204020204" pitchFamily="34" charset="-122"/>
                <a:cs typeface="Arial" panose="020B0604020202020204" pitchFamily="34" charset="0"/>
              </a:rPr>
              <a:t>日交付的同时，</a:t>
            </a:r>
            <a:endParaRPr lang="en-US" altLang="zh-CN" b="1" dirty="0">
              <a:solidFill>
                <a:srgbClr val="00319F"/>
              </a:solidFill>
              <a:latin typeface="Aria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ts val="2600"/>
              </a:lnSpc>
              <a:buClrTx/>
              <a:buSzTx/>
              <a:buFontTx/>
              <a:buNone/>
              <a:tabLst/>
              <a:defRPr/>
            </a:pPr>
            <a:r>
              <a:rPr lang="zh-CN" altLang="en-US" b="1" dirty="0">
                <a:solidFill>
                  <a:srgbClr val="00319F"/>
                </a:solidFill>
                <a:latin typeface="Aria"/>
                <a:ea typeface="微软雅黑" panose="020B0503020204020204" pitchFamily="34" charset="-122"/>
                <a:cs typeface="Arial" panose="020B0604020202020204" pitchFamily="34" charset="0"/>
              </a:rPr>
              <a:t>也拿到月底达成预估</a:t>
            </a:r>
            <a:endParaRPr lang="en-US" altLang="zh-CN" b="1" dirty="0">
              <a:solidFill>
                <a:srgbClr val="00319F"/>
              </a:solidFill>
              <a:latin typeface="Aria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EAA603D0-599C-E4BA-7391-96D0F5819CDE}"/>
              </a:ext>
            </a:extLst>
          </p:cNvPr>
          <p:cNvSpPr txBox="1"/>
          <p:nvPr/>
        </p:nvSpPr>
        <p:spPr>
          <a:xfrm>
            <a:off x="2767519" y="5128824"/>
            <a:ext cx="3176487" cy="7354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600"/>
              </a:lnSpc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ria"/>
                <a:ea typeface="微软雅黑" panose="020B0503020204020204" pitchFamily="34" charset="-122"/>
                <a:cs typeface="Arial" panose="020B0604020202020204" pitchFamily="34" charset="0"/>
              </a:rPr>
              <a:t>区域有缺口，</a:t>
            </a:r>
          </a:p>
          <a:p>
            <a:pPr marL="0" marR="0" lvl="0" indent="0" algn="l" defTabSz="914400" rtl="0" eaLnBrk="1" fontAlgn="auto" latinLnBrk="0" hangingPunct="1">
              <a:lnSpc>
                <a:spcPts val="2600"/>
              </a:lnSpc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ria"/>
                <a:ea typeface="微软雅黑" panose="020B0503020204020204" pitchFamily="34" charset="-122"/>
                <a:cs typeface="Arial" panose="020B0604020202020204" pitchFamily="34" charset="0"/>
              </a:rPr>
              <a:t>向下拆分全靠经验摸排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Aria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D6F82C1A-AA31-8A04-B0EC-9AD2EF8417D2}"/>
              </a:ext>
            </a:extLst>
          </p:cNvPr>
          <p:cNvSpPr txBox="1"/>
          <p:nvPr/>
        </p:nvSpPr>
        <p:spPr>
          <a:xfrm>
            <a:off x="7246535" y="5128824"/>
            <a:ext cx="2855704" cy="7354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600"/>
              </a:lnSpc>
              <a:buClrTx/>
              <a:buSzTx/>
              <a:buFontTx/>
              <a:buNone/>
              <a:tabLst/>
              <a:defRPr/>
            </a:pPr>
            <a:r>
              <a:rPr lang="zh-CN" altLang="en-US" b="1" dirty="0">
                <a:solidFill>
                  <a:srgbClr val="00319F"/>
                </a:solidFill>
                <a:latin typeface="Aria"/>
                <a:ea typeface="微软雅黑" panose="020B0503020204020204" pitchFamily="34" charset="-122"/>
                <a:cs typeface="Arial" panose="020B0604020202020204" pitchFamily="34" charset="0"/>
              </a:rPr>
              <a:t>缺口归因落到院端，增长发力点清晰可见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rgbClr val="00319F"/>
              </a:solidFill>
              <a:effectLst/>
              <a:uLnTx/>
              <a:uFillTx/>
              <a:latin typeface="Aria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2" name="矩形: 圆角 101">
            <a:extLst>
              <a:ext uri="{FF2B5EF4-FFF2-40B4-BE49-F238E27FC236}">
                <a16:creationId xmlns:a16="http://schemas.microsoft.com/office/drawing/2014/main" id="{B2912B5F-5F3B-C678-9AEE-83B8E17BD211}"/>
              </a:ext>
            </a:extLst>
          </p:cNvPr>
          <p:cNvSpPr/>
          <p:nvPr/>
        </p:nvSpPr>
        <p:spPr>
          <a:xfrm>
            <a:off x="10012698" y="2282269"/>
            <a:ext cx="1728000" cy="720516"/>
          </a:xfrm>
          <a:prstGeom prst="roundRect">
            <a:avLst/>
          </a:prstGeom>
          <a:solidFill>
            <a:schemeClr val="bg1"/>
          </a:solidFill>
          <a:ln>
            <a:solidFill>
              <a:srgbClr val="00319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3" name="Google Shape;5649;p76">
            <a:extLst>
              <a:ext uri="{FF2B5EF4-FFF2-40B4-BE49-F238E27FC236}">
                <a16:creationId xmlns:a16="http://schemas.microsoft.com/office/drawing/2014/main" id="{515D264B-A590-1E3F-DDD5-ADEAFCEFB425}"/>
              </a:ext>
            </a:extLst>
          </p:cNvPr>
          <p:cNvGrpSpPr>
            <a:grpSpLocks noChangeAspect="1"/>
          </p:cNvGrpSpPr>
          <p:nvPr/>
        </p:nvGrpSpPr>
        <p:grpSpPr>
          <a:xfrm>
            <a:off x="10137645" y="2418494"/>
            <a:ext cx="180000" cy="180000"/>
            <a:chOff x="3863900" y="4993625"/>
            <a:chExt cx="482050" cy="478900"/>
          </a:xfrm>
          <a:solidFill>
            <a:srgbClr val="00319F"/>
          </a:solidFill>
        </p:grpSpPr>
        <p:sp>
          <p:nvSpPr>
            <p:cNvPr id="104" name="Google Shape;5650;p76">
              <a:extLst>
                <a:ext uri="{FF2B5EF4-FFF2-40B4-BE49-F238E27FC236}">
                  <a16:creationId xmlns:a16="http://schemas.microsoft.com/office/drawing/2014/main" id="{83A86795-30E3-92D3-D3FF-87B1A41F4690}"/>
                </a:ext>
              </a:extLst>
            </p:cNvPr>
            <p:cNvSpPr/>
            <p:nvPr/>
          </p:nvSpPr>
          <p:spPr>
            <a:xfrm>
              <a:off x="3877525" y="5058825"/>
              <a:ext cx="315450" cy="164750"/>
            </a:xfrm>
            <a:custGeom>
              <a:avLst/>
              <a:gdLst/>
              <a:ahLst/>
              <a:cxnLst/>
              <a:rect l="l" t="t" r="r" b="b"/>
              <a:pathLst>
                <a:path w="12618" h="6590" extrusionOk="0">
                  <a:moveTo>
                    <a:pt x="3647" y="1"/>
                  </a:moveTo>
                  <a:lnTo>
                    <a:pt x="169" y="1846"/>
                  </a:lnTo>
                  <a:cubicBezTo>
                    <a:pt x="109" y="1877"/>
                    <a:pt x="51" y="1913"/>
                    <a:pt x="0" y="1952"/>
                  </a:cubicBezTo>
                  <a:lnTo>
                    <a:pt x="8892" y="6589"/>
                  </a:lnTo>
                  <a:lnTo>
                    <a:pt x="12617" y="4746"/>
                  </a:lnTo>
                  <a:lnTo>
                    <a:pt x="364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sp>
          <p:nvSpPr>
            <p:cNvPr id="105" name="Google Shape;5651;p76">
              <a:extLst>
                <a:ext uri="{FF2B5EF4-FFF2-40B4-BE49-F238E27FC236}">
                  <a16:creationId xmlns:a16="http://schemas.microsoft.com/office/drawing/2014/main" id="{E5D41939-E4EF-4AED-542A-963051E4960D}"/>
                </a:ext>
              </a:extLst>
            </p:cNvPr>
            <p:cNvSpPr/>
            <p:nvPr/>
          </p:nvSpPr>
          <p:spPr>
            <a:xfrm>
              <a:off x="4113750" y="5133350"/>
              <a:ext cx="232200" cy="339175"/>
            </a:xfrm>
            <a:custGeom>
              <a:avLst/>
              <a:gdLst/>
              <a:ahLst/>
              <a:cxnLst/>
              <a:rect l="l" t="t" r="r" b="b"/>
              <a:pathLst>
                <a:path w="9288" h="13567" extrusionOk="0">
                  <a:moveTo>
                    <a:pt x="9284" y="1"/>
                  </a:moveTo>
                  <a:lnTo>
                    <a:pt x="4836" y="2202"/>
                  </a:lnTo>
                  <a:lnTo>
                    <a:pt x="4836" y="4680"/>
                  </a:lnTo>
                  <a:cubicBezTo>
                    <a:pt x="4836" y="4993"/>
                    <a:pt x="4584" y="5246"/>
                    <a:pt x="4270" y="5246"/>
                  </a:cubicBezTo>
                  <a:cubicBezTo>
                    <a:pt x="3957" y="5246"/>
                    <a:pt x="3707" y="4993"/>
                    <a:pt x="3707" y="4680"/>
                  </a:cubicBezTo>
                  <a:lnTo>
                    <a:pt x="3707" y="2762"/>
                  </a:lnTo>
                  <a:lnTo>
                    <a:pt x="0" y="4593"/>
                  </a:lnTo>
                  <a:lnTo>
                    <a:pt x="0" y="13566"/>
                  </a:lnTo>
                  <a:cubicBezTo>
                    <a:pt x="12" y="13560"/>
                    <a:pt x="24" y="13557"/>
                    <a:pt x="37" y="13551"/>
                  </a:cubicBezTo>
                  <a:lnTo>
                    <a:pt x="8552" y="9236"/>
                  </a:lnTo>
                  <a:cubicBezTo>
                    <a:pt x="9004" y="9010"/>
                    <a:pt x="9287" y="8550"/>
                    <a:pt x="9287" y="8047"/>
                  </a:cubicBezTo>
                  <a:lnTo>
                    <a:pt x="9287" y="52"/>
                  </a:lnTo>
                  <a:cubicBezTo>
                    <a:pt x="9287" y="34"/>
                    <a:pt x="9287" y="19"/>
                    <a:pt x="92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sp>
          <p:nvSpPr>
            <p:cNvPr id="106" name="Google Shape;5652;p76">
              <a:extLst>
                <a:ext uri="{FF2B5EF4-FFF2-40B4-BE49-F238E27FC236}">
                  <a16:creationId xmlns:a16="http://schemas.microsoft.com/office/drawing/2014/main" id="{E9748FD3-A75D-E496-F821-438E91BD0B22}"/>
                </a:ext>
              </a:extLst>
            </p:cNvPr>
            <p:cNvSpPr/>
            <p:nvPr/>
          </p:nvSpPr>
          <p:spPr>
            <a:xfrm>
              <a:off x="3998800" y="4993625"/>
              <a:ext cx="334125" cy="168500"/>
            </a:xfrm>
            <a:custGeom>
              <a:avLst/>
              <a:gdLst/>
              <a:ahLst/>
              <a:cxnLst/>
              <a:rect l="l" t="t" r="r" b="b"/>
              <a:pathLst>
                <a:path w="13365" h="6740" extrusionOk="0">
                  <a:moveTo>
                    <a:pt x="4045" y="1"/>
                  </a:moveTo>
                  <a:cubicBezTo>
                    <a:pt x="3833" y="1"/>
                    <a:pt x="3623" y="51"/>
                    <a:pt x="3430" y="151"/>
                  </a:cubicBezTo>
                  <a:lnTo>
                    <a:pt x="0" y="1970"/>
                  </a:lnTo>
                  <a:lnTo>
                    <a:pt x="9013" y="6740"/>
                  </a:lnTo>
                  <a:lnTo>
                    <a:pt x="13364" y="4587"/>
                  </a:lnTo>
                  <a:cubicBezTo>
                    <a:pt x="13298" y="4536"/>
                    <a:pt x="13226" y="4491"/>
                    <a:pt x="13150" y="4454"/>
                  </a:cubicBezTo>
                  <a:lnTo>
                    <a:pt x="4638" y="139"/>
                  </a:lnTo>
                  <a:lnTo>
                    <a:pt x="4635" y="139"/>
                  </a:lnTo>
                  <a:cubicBezTo>
                    <a:pt x="4448" y="47"/>
                    <a:pt x="4246" y="1"/>
                    <a:pt x="404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sp>
          <p:nvSpPr>
            <p:cNvPr id="107" name="Google Shape;5653;p76">
              <a:extLst>
                <a:ext uri="{FF2B5EF4-FFF2-40B4-BE49-F238E27FC236}">
                  <a16:creationId xmlns:a16="http://schemas.microsoft.com/office/drawing/2014/main" id="{A3C5EE94-3FB2-7154-9894-CCB6C5CE3C95}"/>
                </a:ext>
              </a:extLst>
            </p:cNvPr>
            <p:cNvSpPr/>
            <p:nvPr/>
          </p:nvSpPr>
          <p:spPr>
            <a:xfrm>
              <a:off x="3863900" y="5132450"/>
              <a:ext cx="221650" cy="339925"/>
            </a:xfrm>
            <a:custGeom>
              <a:avLst/>
              <a:gdLst/>
              <a:ahLst/>
              <a:cxnLst/>
              <a:rect l="l" t="t" r="r" b="b"/>
              <a:pathLst>
                <a:path w="8866" h="13597" extrusionOk="0">
                  <a:moveTo>
                    <a:pt x="6" y="1"/>
                  </a:moveTo>
                  <a:cubicBezTo>
                    <a:pt x="3" y="25"/>
                    <a:pt x="0" y="52"/>
                    <a:pt x="0" y="76"/>
                  </a:cubicBezTo>
                  <a:lnTo>
                    <a:pt x="0" y="8095"/>
                  </a:lnTo>
                  <a:cubicBezTo>
                    <a:pt x="0" y="8589"/>
                    <a:pt x="274" y="9043"/>
                    <a:pt x="714" y="9269"/>
                  </a:cubicBezTo>
                  <a:lnTo>
                    <a:pt x="8820" y="13572"/>
                  </a:lnTo>
                  <a:lnTo>
                    <a:pt x="8826" y="13575"/>
                  </a:lnTo>
                  <a:lnTo>
                    <a:pt x="8865" y="13596"/>
                  </a:lnTo>
                  <a:lnTo>
                    <a:pt x="8865" y="4620"/>
                  </a:lnTo>
                  <a:lnTo>
                    <a:pt x="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</p:grpSp>
      <p:sp>
        <p:nvSpPr>
          <p:cNvPr id="108" name="文本框 107">
            <a:extLst>
              <a:ext uri="{FF2B5EF4-FFF2-40B4-BE49-F238E27FC236}">
                <a16:creationId xmlns:a16="http://schemas.microsoft.com/office/drawing/2014/main" id="{0EBA281D-CC54-813A-ABC3-D689151E0F34}"/>
              </a:ext>
            </a:extLst>
          </p:cNvPr>
          <p:cNvSpPr txBox="1"/>
          <p:nvPr/>
        </p:nvSpPr>
        <p:spPr>
          <a:xfrm>
            <a:off x="10323311" y="2342699"/>
            <a:ext cx="1297022" cy="3052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latin typeface="Aria"/>
                <a:ea typeface="微软雅黑" panose="020B0503020204020204" pitchFamily="34" charset="-122"/>
                <a:cs typeface="Arial" panose="020B0604020202020204" pitchFamily="34" charset="0"/>
              </a:rPr>
              <a:t>可以拿到什么？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8BE36378-8BAC-6165-50D8-AF2FEF9B0815}"/>
              </a:ext>
            </a:extLst>
          </p:cNvPr>
          <p:cNvSpPr txBox="1"/>
          <p:nvPr/>
        </p:nvSpPr>
        <p:spPr>
          <a:xfrm>
            <a:off x="10069519" y="2645977"/>
            <a:ext cx="1672342" cy="3052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buClrTx/>
              <a:buSzTx/>
              <a:buFontTx/>
              <a:buNone/>
              <a:tabLst/>
              <a:defRPr/>
            </a:pPr>
            <a:r>
              <a:rPr lang="en-US" altLang="zh-CN" sz="1200" dirty="0">
                <a:solidFill>
                  <a:srgbClr val="00319F"/>
                </a:solidFill>
                <a:latin typeface="Aria"/>
                <a:ea typeface="微软雅黑" panose="020B0503020204020204" pitchFamily="34" charset="-122"/>
                <a:cs typeface="Arial" panose="020B0604020202020204" pitchFamily="34" charset="0"/>
              </a:rPr>
              <a:t>By SKU </a:t>
            </a:r>
            <a:r>
              <a:rPr lang="zh-CN" altLang="en-US" sz="1200" dirty="0">
                <a:solidFill>
                  <a:srgbClr val="00319F"/>
                </a:solidFill>
                <a:latin typeface="Aria"/>
                <a:ea typeface="微软雅黑" panose="020B0503020204020204" pitchFamily="34" charset="-122"/>
                <a:cs typeface="Arial" panose="020B0604020202020204" pitchFamily="34" charset="0"/>
              </a:rPr>
              <a:t>未来</a:t>
            </a:r>
            <a:r>
              <a:rPr lang="en-US" altLang="zh-CN" sz="1200" dirty="0">
                <a:solidFill>
                  <a:srgbClr val="00319F"/>
                </a:solidFill>
                <a:latin typeface="Aria"/>
                <a:ea typeface="微软雅黑" panose="020B0503020204020204" pitchFamily="34" charset="-122"/>
                <a:cs typeface="Arial" panose="020B0604020202020204" pitchFamily="34" charset="0"/>
              </a:rPr>
              <a:t>N</a:t>
            </a:r>
            <a:r>
              <a:rPr lang="zh-CN" altLang="en-US" sz="1200" dirty="0">
                <a:solidFill>
                  <a:srgbClr val="00319F"/>
                </a:solidFill>
                <a:latin typeface="Aria"/>
                <a:ea typeface="微软雅黑" panose="020B0503020204020204" pitchFamily="34" charset="-122"/>
                <a:cs typeface="Arial" panose="020B0604020202020204" pitchFamily="34" charset="0"/>
              </a:rPr>
              <a:t>个月预测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19F"/>
              </a:solidFill>
              <a:effectLst/>
              <a:uLnTx/>
              <a:uFillTx/>
              <a:latin typeface="Aria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10" name="矩形: 圆角 109">
            <a:extLst>
              <a:ext uri="{FF2B5EF4-FFF2-40B4-BE49-F238E27FC236}">
                <a16:creationId xmlns:a16="http://schemas.microsoft.com/office/drawing/2014/main" id="{D6762E42-A96A-E10F-C928-8190B214FF13}"/>
              </a:ext>
            </a:extLst>
          </p:cNvPr>
          <p:cNvSpPr/>
          <p:nvPr/>
        </p:nvSpPr>
        <p:spPr>
          <a:xfrm>
            <a:off x="10012698" y="3681121"/>
            <a:ext cx="1728000" cy="720516"/>
          </a:xfrm>
          <a:prstGeom prst="roundRect">
            <a:avLst/>
          </a:prstGeom>
          <a:solidFill>
            <a:schemeClr val="bg1"/>
          </a:solidFill>
          <a:ln>
            <a:solidFill>
              <a:srgbClr val="00319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1" name="Google Shape;5649;p76">
            <a:extLst>
              <a:ext uri="{FF2B5EF4-FFF2-40B4-BE49-F238E27FC236}">
                <a16:creationId xmlns:a16="http://schemas.microsoft.com/office/drawing/2014/main" id="{3F3BD767-3F47-6B51-C1A3-9B2A038EF5E6}"/>
              </a:ext>
            </a:extLst>
          </p:cNvPr>
          <p:cNvGrpSpPr>
            <a:grpSpLocks noChangeAspect="1"/>
          </p:cNvGrpSpPr>
          <p:nvPr/>
        </p:nvGrpSpPr>
        <p:grpSpPr>
          <a:xfrm>
            <a:off x="10137645" y="3817346"/>
            <a:ext cx="180000" cy="180000"/>
            <a:chOff x="3863900" y="4993625"/>
            <a:chExt cx="482050" cy="478900"/>
          </a:xfrm>
          <a:solidFill>
            <a:srgbClr val="00319F"/>
          </a:solidFill>
        </p:grpSpPr>
        <p:sp>
          <p:nvSpPr>
            <p:cNvPr id="112" name="Google Shape;5650;p76">
              <a:extLst>
                <a:ext uri="{FF2B5EF4-FFF2-40B4-BE49-F238E27FC236}">
                  <a16:creationId xmlns:a16="http://schemas.microsoft.com/office/drawing/2014/main" id="{8A8987CC-13D6-4BB4-AFBB-E3D1AA92C22F}"/>
                </a:ext>
              </a:extLst>
            </p:cNvPr>
            <p:cNvSpPr/>
            <p:nvPr/>
          </p:nvSpPr>
          <p:spPr>
            <a:xfrm>
              <a:off x="3877525" y="5058825"/>
              <a:ext cx="315450" cy="164750"/>
            </a:xfrm>
            <a:custGeom>
              <a:avLst/>
              <a:gdLst/>
              <a:ahLst/>
              <a:cxnLst/>
              <a:rect l="l" t="t" r="r" b="b"/>
              <a:pathLst>
                <a:path w="12618" h="6590" extrusionOk="0">
                  <a:moveTo>
                    <a:pt x="3647" y="1"/>
                  </a:moveTo>
                  <a:lnTo>
                    <a:pt x="169" y="1846"/>
                  </a:lnTo>
                  <a:cubicBezTo>
                    <a:pt x="109" y="1877"/>
                    <a:pt x="51" y="1913"/>
                    <a:pt x="0" y="1952"/>
                  </a:cubicBezTo>
                  <a:lnTo>
                    <a:pt x="8892" y="6589"/>
                  </a:lnTo>
                  <a:lnTo>
                    <a:pt x="12617" y="4746"/>
                  </a:lnTo>
                  <a:lnTo>
                    <a:pt x="364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sp>
          <p:nvSpPr>
            <p:cNvPr id="116" name="Google Shape;5651;p76">
              <a:extLst>
                <a:ext uri="{FF2B5EF4-FFF2-40B4-BE49-F238E27FC236}">
                  <a16:creationId xmlns:a16="http://schemas.microsoft.com/office/drawing/2014/main" id="{41D2CB0D-D386-008B-FC8B-2335894C2A38}"/>
                </a:ext>
              </a:extLst>
            </p:cNvPr>
            <p:cNvSpPr/>
            <p:nvPr/>
          </p:nvSpPr>
          <p:spPr>
            <a:xfrm>
              <a:off x="4113750" y="5133350"/>
              <a:ext cx="232200" cy="339175"/>
            </a:xfrm>
            <a:custGeom>
              <a:avLst/>
              <a:gdLst/>
              <a:ahLst/>
              <a:cxnLst/>
              <a:rect l="l" t="t" r="r" b="b"/>
              <a:pathLst>
                <a:path w="9288" h="13567" extrusionOk="0">
                  <a:moveTo>
                    <a:pt x="9284" y="1"/>
                  </a:moveTo>
                  <a:lnTo>
                    <a:pt x="4836" y="2202"/>
                  </a:lnTo>
                  <a:lnTo>
                    <a:pt x="4836" y="4680"/>
                  </a:lnTo>
                  <a:cubicBezTo>
                    <a:pt x="4836" y="4993"/>
                    <a:pt x="4584" y="5246"/>
                    <a:pt x="4270" y="5246"/>
                  </a:cubicBezTo>
                  <a:cubicBezTo>
                    <a:pt x="3957" y="5246"/>
                    <a:pt x="3707" y="4993"/>
                    <a:pt x="3707" y="4680"/>
                  </a:cubicBezTo>
                  <a:lnTo>
                    <a:pt x="3707" y="2762"/>
                  </a:lnTo>
                  <a:lnTo>
                    <a:pt x="0" y="4593"/>
                  </a:lnTo>
                  <a:lnTo>
                    <a:pt x="0" y="13566"/>
                  </a:lnTo>
                  <a:cubicBezTo>
                    <a:pt x="12" y="13560"/>
                    <a:pt x="24" y="13557"/>
                    <a:pt x="37" y="13551"/>
                  </a:cubicBezTo>
                  <a:lnTo>
                    <a:pt x="8552" y="9236"/>
                  </a:lnTo>
                  <a:cubicBezTo>
                    <a:pt x="9004" y="9010"/>
                    <a:pt x="9287" y="8550"/>
                    <a:pt x="9287" y="8047"/>
                  </a:cubicBezTo>
                  <a:lnTo>
                    <a:pt x="9287" y="52"/>
                  </a:lnTo>
                  <a:cubicBezTo>
                    <a:pt x="9287" y="34"/>
                    <a:pt x="9287" y="19"/>
                    <a:pt x="92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sp>
          <p:nvSpPr>
            <p:cNvPr id="117" name="Google Shape;5652;p76">
              <a:extLst>
                <a:ext uri="{FF2B5EF4-FFF2-40B4-BE49-F238E27FC236}">
                  <a16:creationId xmlns:a16="http://schemas.microsoft.com/office/drawing/2014/main" id="{1D389432-C25C-D7C5-6F23-F956BFB13F54}"/>
                </a:ext>
              </a:extLst>
            </p:cNvPr>
            <p:cNvSpPr/>
            <p:nvPr/>
          </p:nvSpPr>
          <p:spPr>
            <a:xfrm>
              <a:off x="3998800" y="4993625"/>
              <a:ext cx="334125" cy="168500"/>
            </a:xfrm>
            <a:custGeom>
              <a:avLst/>
              <a:gdLst/>
              <a:ahLst/>
              <a:cxnLst/>
              <a:rect l="l" t="t" r="r" b="b"/>
              <a:pathLst>
                <a:path w="13365" h="6740" extrusionOk="0">
                  <a:moveTo>
                    <a:pt x="4045" y="1"/>
                  </a:moveTo>
                  <a:cubicBezTo>
                    <a:pt x="3833" y="1"/>
                    <a:pt x="3623" y="51"/>
                    <a:pt x="3430" y="151"/>
                  </a:cubicBezTo>
                  <a:lnTo>
                    <a:pt x="0" y="1970"/>
                  </a:lnTo>
                  <a:lnTo>
                    <a:pt x="9013" y="6740"/>
                  </a:lnTo>
                  <a:lnTo>
                    <a:pt x="13364" y="4587"/>
                  </a:lnTo>
                  <a:cubicBezTo>
                    <a:pt x="13298" y="4536"/>
                    <a:pt x="13226" y="4491"/>
                    <a:pt x="13150" y="4454"/>
                  </a:cubicBezTo>
                  <a:lnTo>
                    <a:pt x="4638" y="139"/>
                  </a:lnTo>
                  <a:lnTo>
                    <a:pt x="4635" y="139"/>
                  </a:lnTo>
                  <a:cubicBezTo>
                    <a:pt x="4448" y="47"/>
                    <a:pt x="4246" y="1"/>
                    <a:pt x="404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sp>
          <p:nvSpPr>
            <p:cNvPr id="118" name="Google Shape;5653;p76">
              <a:extLst>
                <a:ext uri="{FF2B5EF4-FFF2-40B4-BE49-F238E27FC236}">
                  <a16:creationId xmlns:a16="http://schemas.microsoft.com/office/drawing/2014/main" id="{A9E278B7-35FE-DE72-5351-F1F9A58C2FBC}"/>
                </a:ext>
              </a:extLst>
            </p:cNvPr>
            <p:cNvSpPr/>
            <p:nvPr/>
          </p:nvSpPr>
          <p:spPr>
            <a:xfrm>
              <a:off x="3863900" y="5132450"/>
              <a:ext cx="221650" cy="339925"/>
            </a:xfrm>
            <a:custGeom>
              <a:avLst/>
              <a:gdLst/>
              <a:ahLst/>
              <a:cxnLst/>
              <a:rect l="l" t="t" r="r" b="b"/>
              <a:pathLst>
                <a:path w="8866" h="13597" extrusionOk="0">
                  <a:moveTo>
                    <a:pt x="6" y="1"/>
                  </a:moveTo>
                  <a:cubicBezTo>
                    <a:pt x="3" y="25"/>
                    <a:pt x="0" y="52"/>
                    <a:pt x="0" y="76"/>
                  </a:cubicBezTo>
                  <a:lnTo>
                    <a:pt x="0" y="8095"/>
                  </a:lnTo>
                  <a:cubicBezTo>
                    <a:pt x="0" y="8589"/>
                    <a:pt x="274" y="9043"/>
                    <a:pt x="714" y="9269"/>
                  </a:cubicBezTo>
                  <a:lnTo>
                    <a:pt x="8820" y="13572"/>
                  </a:lnTo>
                  <a:lnTo>
                    <a:pt x="8826" y="13575"/>
                  </a:lnTo>
                  <a:lnTo>
                    <a:pt x="8865" y="13596"/>
                  </a:lnTo>
                  <a:lnTo>
                    <a:pt x="8865" y="4620"/>
                  </a:lnTo>
                  <a:lnTo>
                    <a:pt x="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</p:grpSp>
      <p:sp>
        <p:nvSpPr>
          <p:cNvPr id="119" name="文本框 118">
            <a:extLst>
              <a:ext uri="{FF2B5EF4-FFF2-40B4-BE49-F238E27FC236}">
                <a16:creationId xmlns:a16="http://schemas.microsoft.com/office/drawing/2014/main" id="{E076C86D-D743-DE9B-959C-A2D5FF9D56F7}"/>
              </a:ext>
            </a:extLst>
          </p:cNvPr>
          <p:cNvSpPr txBox="1"/>
          <p:nvPr/>
        </p:nvSpPr>
        <p:spPr>
          <a:xfrm>
            <a:off x="10323311" y="3741551"/>
            <a:ext cx="1297022" cy="3052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latin typeface="Aria"/>
                <a:ea typeface="微软雅黑" panose="020B0503020204020204" pitchFamily="34" charset="-122"/>
                <a:cs typeface="Arial" panose="020B0604020202020204" pitchFamily="34" charset="0"/>
              </a:rPr>
              <a:t>可以拿到什么？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78332230-E19F-D482-431B-42C1D122B926}"/>
              </a:ext>
            </a:extLst>
          </p:cNvPr>
          <p:cNvSpPr txBox="1"/>
          <p:nvPr/>
        </p:nvSpPr>
        <p:spPr>
          <a:xfrm>
            <a:off x="10069519" y="4044829"/>
            <a:ext cx="1672342" cy="3052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rgbClr val="00319F"/>
                </a:solidFill>
                <a:latin typeface="Aria"/>
                <a:ea typeface="微软雅黑" panose="020B0503020204020204" pitchFamily="34" charset="-122"/>
                <a:cs typeface="Arial" panose="020B0604020202020204" pitchFamily="34" charset="0"/>
              </a:rPr>
              <a:t>当月剩余日需求预测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19F"/>
              </a:solidFill>
              <a:effectLst/>
              <a:uLnTx/>
              <a:uFillTx/>
              <a:latin typeface="Aria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21" name="矩形: 圆角 120">
            <a:extLst>
              <a:ext uri="{FF2B5EF4-FFF2-40B4-BE49-F238E27FC236}">
                <a16:creationId xmlns:a16="http://schemas.microsoft.com/office/drawing/2014/main" id="{CDE9950C-D7C9-4729-0CE6-2114FA493861}"/>
              </a:ext>
            </a:extLst>
          </p:cNvPr>
          <p:cNvSpPr/>
          <p:nvPr/>
        </p:nvSpPr>
        <p:spPr>
          <a:xfrm>
            <a:off x="10012698" y="5130589"/>
            <a:ext cx="1728000" cy="720516"/>
          </a:xfrm>
          <a:prstGeom prst="roundRect">
            <a:avLst/>
          </a:prstGeom>
          <a:solidFill>
            <a:schemeClr val="bg1"/>
          </a:solidFill>
          <a:ln>
            <a:solidFill>
              <a:srgbClr val="00319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2" name="Google Shape;5649;p76">
            <a:extLst>
              <a:ext uri="{FF2B5EF4-FFF2-40B4-BE49-F238E27FC236}">
                <a16:creationId xmlns:a16="http://schemas.microsoft.com/office/drawing/2014/main" id="{166D0122-9C46-4ACB-61F4-CCA62FD0AC1F}"/>
              </a:ext>
            </a:extLst>
          </p:cNvPr>
          <p:cNvGrpSpPr>
            <a:grpSpLocks noChangeAspect="1"/>
          </p:cNvGrpSpPr>
          <p:nvPr/>
        </p:nvGrpSpPr>
        <p:grpSpPr>
          <a:xfrm>
            <a:off x="10137645" y="5266814"/>
            <a:ext cx="180000" cy="180000"/>
            <a:chOff x="3863900" y="4993625"/>
            <a:chExt cx="482050" cy="478900"/>
          </a:xfrm>
          <a:solidFill>
            <a:srgbClr val="00319F"/>
          </a:solidFill>
        </p:grpSpPr>
        <p:sp>
          <p:nvSpPr>
            <p:cNvPr id="123" name="Google Shape;5650;p76">
              <a:extLst>
                <a:ext uri="{FF2B5EF4-FFF2-40B4-BE49-F238E27FC236}">
                  <a16:creationId xmlns:a16="http://schemas.microsoft.com/office/drawing/2014/main" id="{6AD8427D-835E-4F94-63D0-FDEE21187D63}"/>
                </a:ext>
              </a:extLst>
            </p:cNvPr>
            <p:cNvSpPr/>
            <p:nvPr/>
          </p:nvSpPr>
          <p:spPr>
            <a:xfrm>
              <a:off x="3877525" y="5058825"/>
              <a:ext cx="315450" cy="164750"/>
            </a:xfrm>
            <a:custGeom>
              <a:avLst/>
              <a:gdLst/>
              <a:ahLst/>
              <a:cxnLst/>
              <a:rect l="l" t="t" r="r" b="b"/>
              <a:pathLst>
                <a:path w="12618" h="6590" extrusionOk="0">
                  <a:moveTo>
                    <a:pt x="3647" y="1"/>
                  </a:moveTo>
                  <a:lnTo>
                    <a:pt x="169" y="1846"/>
                  </a:lnTo>
                  <a:cubicBezTo>
                    <a:pt x="109" y="1877"/>
                    <a:pt x="51" y="1913"/>
                    <a:pt x="0" y="1952"/>
                  </a:cubicBezTo>
                  <a:lnTo>
                    <a:pt x="8892" y="6589"/>
                  </a:lnTo>
                  <a:lnTo>
                    <a:pt x="12617" y="4746"/>
                  </a:lnTo>
                  <a:lnTo>
                    <a:pt x="364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sp>
          <p:nvSpPr>
            <p:cNvPr id="124" name="Google Shape;5651;p76">
              <a:extLst>
                <a:ext uri="{FF2B5EF4-FFF2-40B4-BE49-F238E27FC236}">
                  <a16:creationId xmlns:a16="http://schemas.microsoft.com/office/drawing/2014/main" id="{28EEC43A-A38A-C4D8-9A3A-EB6185CA9076}"/>
                </a:ext>
              </a:extLst>
            </p:cNvPr>
            <p:cNvSpPr/>
            <p:nvPr/>
          </p:nvSpPr>
          <p:spPr>
            <a:xfrm>
              <a:off x="4113750" y="5133350"/>
              <a:ext cx="232200" cy="339175"/>
            </a:xfrm>
            <a:custGeom>
              <a:avLst/>
              <a:gdLst/>
              <a:ahLst/>
              <a:cxnLst/>
              <a:rect l="l" t="t" r="r" b="b"/>
              <a:pathLst>
                <a:path w="9288" h="13567" extrusionOk="0">
                  <a:moveTo>
                    <a:pt x="9284" y="1"/>
                  </a:moveTo>
                  <a:lnTo>
                    <a:pt x="4836" y="2202"/>
                  </a:lnTo>
                  <a:lnTo>
                    <a:pt x="4836" y="4680"/>
                  </a:lnTo>
                  <a:cubicBezTo>
                    <a:pt x="4836" y="4993"/>
                    <a:pt x="4584" y="5246"/>
                    <a:pt x="4270" y="5246"/>
                  </a:cubicBezTo>
                  <a:cubicBezTo>
                    <a:pt x="3957" y="5246"/>
                    <a:pt x="3707" y="4993"/>
                    <a:pt x="3707" y="4680"/>
                  </a:cubicBezTo>
                  <a:lnTo>
                    <a:pt x="3707" y="2762"/>
                  </a:lnTo>
                  <a:lnTo>
                    <a:pt x="0" y="4593"/>
                  </a:lnTo>
                  <a:lnTo>
                    <a:pt x="0" y="13566"/>
                  </a:lnTo>
                  <a:cubicBezTo>
                    <a:pt x="12" y="13560"/>
                    <a:pt x="24" y="13557"/>
                    <a:pt x="37" y="13551"/>
                  </a:cubicBezTo>
                  <a:lnTo>
                    <a:pt x="8552" y="9236"/>
                  </a:lnTo>
                  <a:cubicBezTo>
                    <a:pt x="9004" y="9010"/>
                    <a:pt x="9287" y="8550"/>
                    <a:pt x="9287" y="8047"/>
                  </a:cubicBezTo>
                  <a:lnTo>
                    <a:pt x="9287" y="52"/>
                  </a:lnTo>
                  <a:cubicBezTo>
                    <a:pt x="9287" y="34"/>
                    <a:pt x="9287" y="19"/>
                    <a:pt x="92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sp>
          <p:nvSpPr>
            <p:cNvPr id="125" name="Google Shape;5652;p76">
              <a:extLst>
                <a:ext uri="{FF2B5EF4-FFF2-40B4-BE49-F238E27FC236}">
                  <a16:creationId xmlns:a16="http://schemas.microsoft.com/office/drawing/2014/main" id="{25ECD834-F5A4-428C-E43D-165FBDF5118C}"/>
                </a:ext>
              </a:extLst>
            </p:cNvPr>
            <p:cNvSpPr/>
            <p:nvPr/>
          </p:nvSpPr>
          <p:spPr>
            <a:xfrm>
              <a:off x="3998800" y="4993625"/>
              <a:ext cx="334125" cy="168500"/>
            </a:xfrm>
            <a:custGeom>
              <a:avLst/>
              <a:gdLst/>
              <a:ahLst/>
              <a:cxnLst/>
              <a:rect l="l" t="t" r="r" b="b"/>
              <a:pathLst>
                <a:path w="13365" h="6740" extrusionOk="0">
                  <a:moveTo>
                    <a:pt x="4045" y="1"/>
                  </a:moveTo>
                  <a:cubicBezTo>
                    <a:pt x="3833" y="1"/>
                    <a:pt x="3623" y="51"/>
                    <a:pt x="3430" y="151"/>
                  </a:cubicBezTo>
                  <a:lnTo>
                    <a:pt x="0" y="1970"/>
                  </a:lnTo>
                  <a:lnTo>
                    <a:pt x="9013" y="6740"/>
                  </a:lnTo>
                  <a:lnTo>
                    <a:pt x="13364" y="4587"/>
                  </a:lnTo>
                  <a:cubicBezTo>
                    <a:pt x="13298" y="4536"/>
                    <a:pt x="13226" y="4491"/>
                    <a:pt x="13150" y="4454"/>
                  </a:cubicBezTo>
                  <a:lnTo>
                    <a:pt x="4638" y="139"/>
                  </a:lnTo>
                  <a:lnTo>
                    <a:pt x="4635" y="139"/>
                  </a:lnTo>
                  <a:cubicBezTo>
                    <a:pt x="4448" y="47"/>
                    <a:pt x="4246" y="1"/>
                    <a:pt x="404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sp>
          <p:nvSpPr>
            <p:cNvPr id="126" name="Google Shape;5653;p76">
              <a:extLst>
                <a:ext uri="{FF2B5EF4-FFF2-40B4-BE49-F238E27FC236}">
                  <a16:creationId xmlns:a16="http://schemas.microsoft.com/office/drawing/2014/main" id="{1C3A3972-5D0B-F0BD-CFCA-D46C5D54B5BA}"/>
                </a:ext>
              </a:extLst>
            </p:cNvPr>
            <p:cNvSpPr/>
            <p:nvPr/>
          </p:nvSpPr>
          <p:spPr>
            <a:xfrm>
              <a:off x="3863900" y="5132450"/>
              <a:ext cx="221650" cy="339925"/>
            </a:xfrm>
            <a:custGeom>
              <a:avLst/>
              <a:gdLst/>
              <a:ahLst/>
              <a:cxnLst/>
              <a:rect l="l" t="t" r="r" b="b"/>
              <a:pathLst>
                <a:path w="8866" h="13597" extrusionOk="0">
                  <a:moveTo>
                    <a:pt x="6" y="1"/>
                  </a:moveTo>
                  <a:cubicBezTo>
                    <a:pt x="3" y="25"/>
                    <a:pt x="0" y="52"/>
                    <a:pt x="0" y="76"/>
                  </a:cubicBezTo>
                  <a:lnTo>
                    <a:pt x="0" y="8095"/>
                  </a:lnTo>
                  <a:cubicBezTo>
                    <a:pt x="0" y="8589"/>
                    <a:pt x="274" y="9043"/>
                    <a:pt x="714" y="9269"/>
                  </a:cubicBezTo>
                  <a:lnTo>
                    <a:pt x="8820" y="13572"/>
                  </a:lnTo>
                  <a:lnTo>
                    <a:pt x="8826" y="13575"/>
                  </a:lnTo>
                  <a:lnTo>
                    <a:pt x="8865" y="13596"/>
                  </a:lnTo>
                  <a:lnTo>
                    <a:pt x="8865" y="4620"/>
                  </a:lnTo>
                  <a:lnTo>
                    <a:pt x="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</p:grpSp>
      <p:sp>
        <p:nvSpPr>
          <p:cNvPr id="127" name="文本框 126">
            <a:extLst>
              <a:ext uri="{FF2B5EF4-FFF2-40B4-BE49-F238E27FC236}">
                <a16:creationId xmlns:a16="http://schemas.microsoft.com/office/drawing/2014/main" id="{B1AEB567-1E24-8263-E161-1A5303BDC576}"/>
              </a:ext>
            </a:extLst>
          </p:cNvPr>
          <p:cNvSpPr txBox="1"/>
          <p:nvPr/>
        </p:nvSpPr>
        <p:spPr>
          <a:xfrm>
            <a:off x="10323311" y="5191019"/>
            <a:ext cx="1297022" cy="3052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latin typeface="Aria"/>
                <a:ea typeface="微软雅黑" panose="020B0503020204020204" pitchFamily="34" charset="-122"/>
                <a:cs typeface="Arial" panose="020B0604020202020204" pitchFamily="34" charset="0"/>
              </a:rPr>
              <a:t>可以拿到什么？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3F859388-9B5E-9FBB-C790-48431304431E}"/>
              </a:ext>
            </a:extLst>
          </p:cNvPr>
          <p:cNvSpPr txBox="1"/>
          <p:nvPr/>
        </p:nvSpPr>
        <p:spPr>
          <a:xfrm>
            <a:off x="10069519" y="5494297"/>
            <a:ext cx="1672342" cy="3052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buClrTx/>
              <a:buSzTx/>
              <a:buFontTx/>
              <a:buNone/>
              <a:tabLst/>
              <a:defRPr/>
            </a:pPr>
            <a:r>
              <a:rPr lang="en-US" altLang="zh-CN" sz="1200" dirty="0">
                <a:solidFill>
                  <a:srgbClr val="00319F"/>
                </a:solidFill>
                <a:latin typeface="Aria"/>
                <a:ea typeface="微软雅黑" panose="020B0503020204020204" pitchFamily="34" charset="-122"/>
                <a:cs typeface="Arial" panose="020B0604020202020204" pitchFamily="34" charset="0"/>
              </a:rPr>
              <a:t>By </a:t>
            </a:r>
            <a:r>
              <a:rPr lang="zh-CN" altLang="en-US" sz="1200" dirty="0">
                <a:solidFill>
                  <a:srgbClr val="00319F"/>
                </a:solidFill>
                <a:latin typeface="Aria"/>
                <a:ea typeface="微软雅黑" panose="020B0503020204020204" pitchFamily="34" charset="-122"/>
                <a:cs typeface="Arial" panose="020B0604020202020204" pitchFamily="34" charset="0"/>
              </a:rPr>
              <a:t>医院 当月需求预测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319F"/>
              </a:solidFill>
              <a:effectLst/>
              <a:uLnTx/>
              <a:uFillTx/>
              <a:latin typeface="Aria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536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150533" y="1866798"/>
            <a:ext cx="78909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000" b="1" spc="100" dirty="0">
                <a:solidFill>
                  <a:prstClr val="white"/>
                </a:solidFill>
                <a:latin typeface="微软雅黑" panose="020B0503020204020204" pitchFamily="34" charset="-122"/>
              </a:rPr>
              <a:t>医药健康行业领先的数据赋能商</a:t>
            </a:r>
            <a:endParaRPr lang="zh-CN" altLang="en-US" sz="4000" b="1" spc="100" dirty="0">
              <a:solidFill>
                <a:prstClr val="white"/>
              </a:solidFill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824567" y="2931989"/>
            <a:ext cx="8542867" cy="338554"/>
            <a:chOff x="1727803" y="3745079"/>
            <a:chExt cx="8542867" cy="338554"/>
          </a:xfrm>
        </p:grpSpPr>
        <p:sp>
          <p:nvSpPr>
            <p:cNvPr id="5" name="文本框 4"/>
            <p:cNvSpPr txBox="1"/>
            <p:nvPr/>
          </p:nvSpPr>
          <p:spPr>
            <a:xfrm>
              <a:off x="2740171" y="3745079"/>
              <a:ext cx="651813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spc="200" dirty="0">
                  <a:solidFill>
                    <a:prstClr val="white"/>
                  </a:solidFill>
                </a:rPr>
                <a:t>值得客户信赖 </a:t>
              </a:r>
              <a:r>
                <a:rPr lang="en-US" altLang="zh-CN" sz="1600" spc="200" dirty="0">
                  <a:solidFill>
                    <a:prstClr val="white"/>
                  </a:solidFill>
                </a:rPr>
                <a:t>• </a:t>
              </a:r>
              <a:r>
                <a:rPr lang="zh-CN" altLang="en-US" sz="1600" spc="200" dirty="0">
                  <a:solidFill>
                    <a:prstClr val="white"/>
                  </a:solidFill>
                </a:rPr>
                <a:t>持续科技创新 </a:t>
              </a:r>
              <a:r>
                <a:rPr lang="en-US" altLang="zh-CN" sz="1600" spc="200" dirty="0">
                  <a:solidFill>
                    <a:prstClr val="white"/>
                  </a:solidFill>
                </a:rPr>
                <a:t>•</a:t>
              </a:r>
              <a:r>
                <a:rPr lang="zh-CN" altLang="en-US" sz="1600" spc="200" dirty="0">
                  <a:solidFill>
                    <a:prstClr val="white"/>
                  </a:solidFill>
                </a:rPr>
                <a:t> 助力行业发展 </a:t>
              </a:r>
              <a:r>
                <a:rPr lang="en-US" altLang="zh-CN" sz="1600" spc="200" dirty="0">
                  <a:solidFill>
                    <a:prstClr val="white"/>
                  </a:solidFill>
                </a:rPr>
                <a:t>• </a:t>
              </a:r>
              <a:r>
                <a:rPr lang="zh-CN" altLang="en-US" sz="1600" spc="200" dirty="0">
                  <a:solidFill>
                    <a:prstClr val="white"/>
                  </a:solidFill>
                </a:rPr>
                <a:t>实现社会价值</a:t>
              </a:r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1727803" y="3922823"/>
              <a:ext cx="8542867" cy="0"/>
              <a:chOff x="1727803" y="4015956"/>
              <a:chExt cx="8542867" cy="0"/>
            </a:xfrm>
          </p:grpSpPr>
          <p:cxnSp>
            <p:nvCxnSpPr>
              <p:cNvPr id="4" name="直接连接符 3"/>
              <p:cNvCxnSpPr/>
              <p:nvPr/>
            </p:nvCxnSpPr>
            <p:spPr>
              <a:xfrm>
                <a:off x="1727803" y="4015956"/>
                <a:ext cx="973667" cy="0"/>
              </a:xfrm>
              <a:prstGeom prst="line">
                <a:avLst/>
              </a:prstGeom>
              <a:ln w="9525" cap="rnd">
                <a:gradFill>
                  <a:gsLst>
                    <a:gs pos="23000">
                      <a:schemeClr val="bg1">
                        <a:alpha val="0"/>
                      </a:schemeClr>
                    </a:gs>
                    <a:gs pos="100000">
                      <a:schemeClr val="bg1"/>
                    </a:gs>
                  </a:gsLst>
                  <a:lin ang="0" scaled="0"/>
                </a:gra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直接连接符 5"/>
              <p:cNvCxnSpPr/>
              <p:nvPr/>
            </p:nvCxnSpPr>
            <p:spPr>
              <a:xfrm flipH="1">
                <a:off x="9297003" y="4015956"/>
                <a:ext cx="973667" cy="0"/>
              </a:xfrm>
              <a:prstGeom prst="line">
                <a:avLst/>
              </a:prstGeom>
              <a:ln w="9525" cap="rnd">
                <a:gradFill>
                  <a:gsLst>
                    <a:gs pos="23000">
                      <a:schemeClr val="bg1">
                        <a:alpha val="0"/>
                      </a:schemeClr>
                    </a:gs>
                    <a:gs pos="100000">
                      <a:schemeClr val="bg1"/>
                    </a:gs>
                  </a:gsLst>
                  <a:lin ang="0" scaled="0"/>
                </a:gra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" name="组合 11"/>
          <p:cNvGrpSpPr/>
          <p:nvPr/>
        </p:nvGrpSpPr>
        <p:grpSpPr>
          <a:xfrm>
            <a:off x="9673453" y="502421"/>
            <a:ext cx="1874794" cy="740191"/>
            <a:chOff x="10367945" y="398052"/>
            <a:chExt cx="1498753" cy="591724"/>
          </a:xfrm>
        </p:grpSpPr>
        <p:sp>
          <p:nvSpPr>
            <p:cNvPr id="13" name="副标题 2"/>
            <p:cNvSpPr txBox="1"/>
            <p:nvPr userDrawn="1"/>
          </p:nvSpPr>
          <p:spPr>
            <a:xfrm>
              <a:off x="10367945" y="654798"/>
              <a:ext cx="1498753" cy="334978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1400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1400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defRPr>
              </a:lvl2pPr>
              <a:lvl3pPr marL="1143000" indent="-228600" algn="l" defTabSz="914400" rtl="0" eaLnBrk="1" latinLnBrk="0" hangingPunct="1">
                <a:lnSpc>
                  <a:spcPct val="1400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dist">
                <a:buNone/>
              </a:pPr>
              <a:r>
                <a:rPr lang="zh-CN" altLang="en-US" sz="1150" dirty="0">
                  <a:solidFill>
                    <a:schemeClr val="bg1"/>
                  </a:solidFill>
                </a:rPr>
                <a:t>共创健康产业数字智慧</a:t>
              </a:r>
            </a:p>
          </p:txBody>
        </p:sp>
        <p:pic>
          <p:nvPicPr>
            <p:cNvPr id="14" name="图片 13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 contras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423380" y="398052"/>
              <a:ext cx="1411509" cy="283223"/>
            </a:xfrm>
            <a:prstGeom prst="rect">
              <a:avLst/>
            </a:prstGeom>
          </p:spPr>
        </p:pic>
      </p:grpSp>
      <p:sp>
        <p:nvSpPr>
          <p:cNvPr id="15" name="文本框 14"/>
          <p:cNvSpPr txBox="1"/>
          <p:nvPr/>
        </p:nvSpPr>
        <p:spPr>
          <a:xfrm>
            <a:off x="5067514" y="4526644"/>
            <a:ext cx="205697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Pharmeyes Co., Ltd.</a:t>
            </a:r>
          </a:p>
          <a:p>
            <a:pPr algn="ctr">
              <a:lnSpc>
                <a:spcPct val="150000"/>
              </a:lnSpc>
            </a:pPr>
            <a:fld id="{F30588A2-05AB-4BFA-A180-42BA42934282}" type="datetime1">
              <a:rPr lang="zh-CN" altLang="en-US" sz="16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>
                <a:lnSpc>
                  <a:spcPct val="150000"/>
                </a:lnSpc>
              </a:pPr>
              <a:t>2026/6/2</a:t>
            </a:fld>
            <a:endParaRPr lang="en-US" altLang="zh-CN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69877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CH-F835524FEA9B3BFBEF7B3541842B3F4F8A6B14D1A6D7FBB5800756C29DE22AF2" val="[{&quot;GradientColorId&quot;:&quot;&quot;,&quot;IsFree&quot;:true,&quot;IsGradient&quot;:false,&quot;ImagePath&quot;:&quot;&quot;,&quot;GradientColor&quot;:null,&quot;SimpleColor&quot;:&quot;#F2F2F2&quot;}]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3_Office 主题">
  <a:themeElements>
    <a:clrScheme name="自定义 2">
      <a:dk1>
        <a:sysClr val="windowText" lastClr="000000"/>
      </a:dk1>
      <a:lt1>
        <a:sysClr val="window" lastClr="FFFFFF"/>
      </a:lt1>
      <a:dk2>
        <a:srgbClr val="3B568D"/>
      </a:dk2>
      <a:lt2>
        <a:srgbClr val="F2F2F2"/>
      </a:lt2>
      <a:accent1>
        <a:srgbClr val="5173B7"/>
      </a:accent1>
      <a:accent2>
        <a:srgbClr val="C4DBF4"/>
      </a:accent2>
      <a:accent3>
        <a:srgbClr val="A5A5A5"/>
      </a:accent3>
      <a:accent4>
        <a:srgbClr val="38A389"/>
      </a:accent4>
      <a:accent5>
        <a:srgbClr val="517491"/>
      </a:accent5>
      <a:accent6>
        <a:srgbClr val="44546A"/>
      </a:accent6>
      <a:hlink>
        <a:srgbClr val="44546A"/>
      </a:hlink>
      <a:folHlink>
        <a:srgbClr val="3F3F3F"/>
      </a:folHlink>
    </a:clrScheme>
    <a:fontScheme name="字体定义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9_Office 主题">
  <a:themeElements>
    <a:clrScheme name="sinoeyes">
      <a:dk1>
        <a:sysClr val="windowText" lastClr="000000"/>
      </a:dk1>
      <a:lt1>
        <a:sysClr val="window" lastClr="FFFFFF"/>
      </a:lt1>
      <a:dk2>
        <a:srgbClr val="5173B7"/>
      </a:dk2>
      <a:lt2>
        <a:srgbClr val="F2F2F2"/>
      </a:lt2>
      <a:accent1>
        <a:srgbClr val="3B568D"/>
      </a:accent1>
      <a:accent2>
        <a:srgbClr val="C4DBF4"/>
      </a:accent2>
      <a:accent3>
        <a:srgbClr val="A5A5A5"/>
      </a:accent3>
      <a:accent4>
        <a:srgbClr val="38A389"/>
      </a:accent4>
      <a:accent5>
        <a:srgbClr val="5173B7"/>
      </a:accent5>
      <a:accent6>
        <a:srgbClr val="44546A"/>
      </a:accent6>
      <a:hlink>
        <a:srgbClr val="44546A"/>
      </a:hlink>
      <a:folHlink>
        <a:srgbClr val="3F3F3F"/>
      </a:folHlink>
    </a:clrScheme>
    <a:fontScheme name="字体0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26894</TotalTime>
  <Words>569</Words>
  <Application>Microsoft Office PowerPoint</Application>
  <PresentationFormat>宽屏</PresentationFormat>
  <Paragraphs>165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18" baseType="lpstr">
      <vt:lpstr>Alibaba PuHuiTi</vt:lpstr>
      <vt:lpstr>Alibaba PuHuiTi Medium</vt:lpstr>
      <vt:lpstr>Aria</vt:lpstr>
      <vt:lpstr>等线</vt:lpstr>
      <vt:lpstr>楷体</vt:lpstr>
      <vt:lpstr>微软雅黑</vt:lpstr>
      <vt:lpstr>字魂105号-简雅黑</vt:lpstr>
      <vt:lpstr>Arial</vt:lpstr>
      <vt:lpstr>Calibri</vt:lpstr>
      <vt:lpstr>Segoe UI</vt:lpstr>
      <vt:lpstr>3_Office 主题</vt:lpstr>
      <vt:lpstr>19_Office 主题</vt:lpstr>
      <vt:lpstr>PowerPoint 演示文稿</vt:lpstr>
      <vt:lpstr>产品中期需求预测</vt:lpstr>
      <vt:lpstr>当月达成滚动预测</vt:lpstr>
      <vt:lpstr>医院采购需求预测</vt:lpstr>
      <vt:lpstr>倍通AI预测产品线总结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Johnson.zhu</dc:creator>
  <cp:lastModifiedBy>Jenny Wang</cp:lastModifiedBy>
  <cp:revision>251</cp:revision>
  <dcterms:created xsi:type="dcterms:W3CDTF">2025-08-04T02:09:24Z</dcterms:created>
  <dcterms:modified xsi:type="dcterms:W3CDTF">2026-06-02T10:01:46Z</dcterms:modified>
</cp:coreProperties>
</file>